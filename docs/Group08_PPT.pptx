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embeddedFontLst>
    <p:embeddedFont>
      <p:font typeface="Liter"/>
      <p:regular r:id="rId18"/>
    </p:embeddedFont>
    <p:embeddedFont>
      <p:font typeface="Quattrocento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.fntdata"/><Relationship Id="rId11" Type="http://schemas.openxmlformats.org/officeDocument/2006/relationships/slide" Target="slides/slide7.xml"/><Relationship Id="rId22" Type="http://schemas.openxmlformats.org/officeDocument/2006/relationships/font" Target="fonts/QuattrocentoSans-boldItalic.fntdata"/><Relationship Id="rId10" Type="http://schemas.openxmlformats.org/officeDocument/2006/relationships/slide" Target="slides/slide6.xml"/><Relationship Id="rId21" Type="http://schemas.openxmlformats.org/officeDocument/2006/relationships/font" Target="fonts/QuattrocentoSans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QuattrocentoSans-regular.fntdata"/><Relationship Id="rId6" Type="http://schemas.openxmlformats.org/officeDocument/2006/relationships/slide" Target="slides/slide2.xml"/><Relationship Id="rId18" Type="http://schemas.openxmlformats.org/officeDocument/2006/relationships/font" Target="fonts/Liter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bcf55ad06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" name="Google Shape;14;g3bcf55ad06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g3bcf55ad06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6" name="Google Shape;59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450" y="317800"/>
            <a:ext cx="2909875" cy="97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76799" y="372675"/>
            <a:ext cx="2389675" cy="84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/>
          <p:nvPr/>
        </p:nvSpPr>
        <p:spPr>
          <a:xfrm>
            <a:off x="3048033" y="317797"/>
            <a:ext cx="6096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D. Y. Patil Pratishthan's 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Institute for Advanced Computing and Software Development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2093396" y="2199018"/>
            <a:ext cx="8005200" cy="13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Times New Roman"/>
                <a:ea typeface="Times New Roman"/>
                <a:cs typeface="Times New Roman"/>
                <a:sym typeface="Times New Roman"/>
              </a:rPr>
              <a:t>ENTERPRISE NETWORK DEFENCE AND APPLICATION MONITORING</a:t>
            </a:r>
            <a:endParaRPr sz="3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4508284" y="3797750"/>
            <a:ext cx="31755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NO.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KUNJAN SHARMA</a:t>
            </a: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2584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ROHIT GAJRE</a:t>
            </a: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2584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29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80508" y="5521232"/>
            <a:ext cx="6096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RUTUJA KULKARNI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096001" y="5521232"/>
            <a:ext cx="60960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 ANIL SHARMA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CENTRE CO-ORDINATOR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https://kimi-web-img.moonshot.cn/img/www.shutterstock.com/cdd4c499f369ac5d97ba59eb87b7fe70aefc0ebb.jpg" id="29" name="Google Shape;29;p5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0" name="Google Shape;30;p5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4705"/>
                </a:srgbClr>
              </a:gs>
              <a:gs pos="100000">
                <a:srgbClr val="4A6D8C">
                  <a:alpha val="29803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31" name="Google Shape;31;p5"/>
          <p:cNvSpPr/>
          <p:nvPr/>
        </p:nvSpPr>
        <p:spPr>
          <a:xfrm>
            <a:off x="400050" y="1795463"/>
            <a:ext cx="3238500" cy="419100"/>
          </a:xfrm>
          <a:custGeom>
            <a:rect b="b" l="l" r="r" t="t"/>
            <a:pathLst>
              <a:path extrusionOk="0" h="419100" w="3238500">
                <a:moveTo>
                  <a:pt x="0" y="0"/>
                </a:moveTo>
                <a:lnTo>
                  <a:pt x="3238500" y="0"/>
                </a:lnTo>
                <a:lnTo>
                  <a:pt x="32385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20000"/>
            </a:srgbClr>
          </a:solidFill>
          <a:ln>
            <a:noFill/>
          </a:ln>
        </p:spPr>
      </p:sp>
      <p:sp>
        <p:nvSpPr>
          <p:cNvPr id="32" name="Google Shape;32;p5"/>
          <p:cNvSpPr/>
          <p:nvPr/>
        </p:nvSpPr>
        <p:spPr>
          <a:xfrm>
            <a:off x="400050" y="1795463"/>
            <a:ext cx="38100" cy="419100"/>
          </a:xfrm>
          <a:custGeom>
            <a:rect b="b" l="l" r="r" t="t"/>
            <a:pathLst>
              <a:path extrusionOk="0" h="419100" w="38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</p:sp>
      <p:sp>
        <p:nvSpPr>
          <p:cNvPr id="33" name="Google Shape;33;p5"/>
          <p:cNvSpPr/>
          <p:nvPr/>
        </p:nvSpPr>
        <p:spPr>
          <a:xfrm>
            <a:off x="609600" y="1871663"/>
            <a:ext cx="2924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Defense Concepts</a:t>
            </a:r>
            <a:endParaRPr b="0" i="0" sz="1600" u="none" cap="none" strike="noStrike"/>
          </a:p>
        </p:txBody>
      </p:sp>
      <p:sp>
        <p:nvSpPr>
          <p:cNvPr id="34" name="Google Shape;34;p5"/>
          <p:cNvSpPr/>
          <p:nvPr/>
        </p:nvSpPr>
        <p:spPr>
          <a:xfrm>
            <a:off x="381000" y="2519363"/>
            <a:ext cx="117729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Enterprise Network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Defense Implementation</a:t>
            </a:r>
            <a:endParaRPr b="0" i="0" sz="1600" u="none" cap="none" strike="noStrike"/>
          </a:p>
        </p:txBody>
      </p:sp>
      <p:sp>
        <p:nvSpPr>
          <p:cNvPr id="35" name="Google Shape;35;p5"/>
          <p:cNvSpPr/>
          <p:nvPr/>
        </p:nvSpPr>
        <p:spPr>
          <a:xfrm>
            <a:off x="381000" y="4462463"/>
            <a:ext cx="74295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Comprehensive Security Architecture Using DMZ, IDS, and SIEM</a:t>
            </a:r>
            <a:endParaRPr b="0" i="0" sz="1600" u="none" cap="none" strike="noStrike"/>
          </a:p>
        </p:txBody>
      </p:sp>
      <p:sp>
        <p:nvSpPr>
          <p:cNvPr id="36" name="Google Shape;36;p5"/>
          <p:cNvSpPr/>
          <p:nvPr/>
        </p:nvSpPr>
        <p:spPr>
          <a:xfrm>
            <a:off x="404813" y="626745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33425" y="6248400"/>
            <a:ext cx="1285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Defense-in-Depth</a:t>
            </a:r>
            <a:endParaRPr b="0" i="0" sz="1600" u="none" cap="none" strike="noStrike"/>
          </a:p>
        </p:txBody>
      </p:sp>
      <p:sp>
        <p:nvSpPr>
          <p:cNvPr id="38" name="Google Shape;38;p5"/>
          <p:cNvSpPr/>
          <p:nvPr/>
        </p:nvSpPr>
        <p:spPr>
          <a:xfrm>
            <a:off x="2259657" y="6267450"/>
            <a:ext cx="214313" cy="190500"/>
          </a:xfrm>
          <a:custGeom>
            <a:rect b="b" l="l" r="r" t="t"/>
            <a:pathLst>
              <a:path extrusionOk="0" h="190500" w="214313">
                <a:moveTo>
                  <a:pt x="92273" y="32742"/>
                </a:moveTo>
                <a:lnTo>
                  <a:pt x="122039" y="32742"/>
                </a:lnTo>
                <a:lnTo>
                  <a:pt x="122039" y="50602"/>
                </a:lnTo>
                <a:lnTo>
                  <a:pt x="92273" y="50602"/>
                </a:lnTo>
                <a:lnTo>
                  <a:pt x="92273" y="32742"/>
                </a:lnTo>
                <a:close/>
                <a:moveTo>
                  <a:pt x="89297" y="11906"/>
                </a:moveTo>
                <a:cubicBezTo>
                  <a:pt x="79437" y="11906"/>
                  <a:pt x="71438" y="19906"/>
                  <a:pt x="71438" y="29766"/>
                </a:cubicBezTo>
                <a:lnTo>
                  <a:pt x="71438" y="53578"/>
                </a:lnTo>
                <a:cubicBezTo>
                  <a:pt x="71438" y="63438"/>
                  <a:pt x="79437" y="71438"/>
                  <a:pt x="89297" y="71438"/>
                </a:cubicBezTo>
                <a:lnTo>
                  <a:pt x="95250" y="71438"/>
                </a:lnTo>
                <a:lnTo>
                  <a:pt x="95250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47625" y="107156"/>
                </a:lnTo>
                <a:lnTo>
                  <a:pt x="47625" y="119063"/>
                </a:lnTo>
                <a:lnTo>
                  <a:pt x="41672" y="119063"/>
                </a:lnTo>
                <a:cubicBezTo>
                  <a:pt x="31812" y="119063"/>
                  <a:pt x="23812" y="127062"/>
                  <a:pt x="23812" y="136922"/>
                </a:cubicBezTo>
                <a:lnTo>
                  <a:pt x="23812" y="160734"/>
                </a:lnTo>
                <a:cubicBezTo>
                  <a:pt x="23812" y="170594"/>
                  <a:pt x="31812" y="178594"/>
                  <a:pt x="41672" y="178594"/>
                </a:cubicBezTo>
                <a:lnTo>
                  <a:pt x="77391" y="178594"/>
                </a:lnTo>
                <a:cubicBezTo>
                  <a:pt x="87250" y="178594"/>
                  <a:pt x="95250" y="170594"/>
                  <a:pt x="95250" y="160734"/>
                </a:cubicBezTo>
                <a:lnTo>
                  <a:pt x="95250" y="136922"/>
                </a:lnTo>
                <a:cubicBezTo>
                  <a:pt x="95250" y="127062"/>
                  <a:pt x="87250" y="119063"/>
                  <a:pt x="77391" y="119063"/>
                </a:cubicBezTo>
                <a:lnTo>
                  <a:pt x="71438" y="119063"/>
                </a:lnTo>
                <a:lnTo>
                  <a:pt x="71438" y="107156"/>
                </a:lnTo>
                <a:lnTo>
                  <a:pt x="142875" y="107156"/>
                </a:lnTo>
                <a:lnTo>
                  <a:pt x="142875" y="119063"/>
                </a:lnTo>
                <a:lnTo>
                  <a:pt x="136922" y="119063"/>
                </a:lnTo>
                <a:cubicBezTo>
                  <a:pt x="127062" y="119063"/>
                  <a:pt x="119063" y="127062"/>
                  <a:pt x="119063" y="136922"/>
                </a:cubicBezTo>
                <a:lnTo>
                  <a:pt x="119063" y="160734"/>
                </a:lnTo>
                <a:cubicBezTo>
                  <a:pt x="119063" y="170594"/>
                  <a:pt x="127062" y="178594"/>
                  <a:pt x="136922" y="178594"/>
                </a:cubicBezTo>
                <a:lnTo>
                  <a:pt x="172641" y="178594"/>
                </a:lnTo>
                <a:cubicBezTo>
                  <a:pt x="182500" y="178594"/>
                  <a:pt x="190500" y="170594"/>
                  <a:pt x="190500" y="160734"/>
                </a:cubicBezTo>
                <a:lnTo>
                  <a:pt x="190500" y="136922"/>
                </a:lnTo>
                <a:cubicBezTo>
                  <a:pt x="190500" y="127062"/>
                  <a:pt x="182500" y="119063"/>
                  <a:pt x="172641" y="119063"/>
                </a:cubicBezTo>
                <a:lnTo>
                  <a:pt x="166688" y="119063"/>
                </a:lnTo>
                <a:lnTo>
                  <a:pt x="166688" y="107156"/>
                </a:lnTo>
                <a:lnTo>
                  <a:pt x="202406" y="107156"/>
                </a:lnTo>
                <a:cubicBezTo>
                  <a:pt x="208992" y="107156"/>
                  <a:pt x="214313" y="101836"/>
                  <a:pt x="214313" y="95250"/>
                </a:cubicBezTo>
                <a:cubicBezTo>
                  <a:pt x="214313" y="88664"/>
                  <a:pt x="208992" y="83344"/>
                  <a:pt x="202406" y="83344"/>
                </a:cubicBezTo>
                <a:lnTo>
                  <a:pt x="119063" y="83344"/>
                </a:lnTo>
                <a:lnTo>
                  <a:pt x="119063" y="71438"/>
                </a:lnTo>
                <a:lnTo>
                  <a:pt x="125016" y="71438"/>
                </a:lnTo>
                <a:cubicBezTo>
                  <a:pt x="134875" y="71438"/>
                  <a:pt x="142875" y="63438"/>
                  <a:pt x="142875" y="53578"/>
                </a:cubicBezTo>
                <a:lnTo>
                  <a:pt x="142875" y="29766"/>
                </a:lnTo>
                <a:cubicBezTo>
                  <a:pt x="142875" y="19906"/>
                  <a:pt x="134875" y="11906"/>
                  <a:pt x="125016" y="11906"/>
                </a:cubicBezTo>
                <a:lnTo>
                  <a:pt x="89297" y="11906"/>
                </a:lnTo>
                <a:close/>
                <a:moveTo>
                  <a:pt x="166688" y="139898"/>
                </a:moveTo>
                <a:lnTo>
                  <a:pt x="169664" y="139898"/>
                </a:lnTo>
                <a:lnTo>
                  <a:pt x="169664" y="157758"/>
                </a:lnTo>
                <a:lnTo>
                  <a:pt x="139898" y="157758"/>
                </a:lnTo>
                <a:lnTo>
                  <a:pt x="139898" y="139898"/>
                </a:lnTo>
                <a:lnTo>
                  <a:pt x="166688" y="139898"/>
                </a:lnTo>
                <a:close/>
                <a:moveTo>
                  <a:pt x="71438" y="139898"/>
                </a:moveTo>
                <a:lnTo>
                  <a:pt x="74414" y="139898"/>
                </a:lnTo>
                <a:lnTo>
                  <a:pt x="74414" y="157758"/>
                </a:lnTo>
                <a:lnTo>
                  <a:pt x="44648" y="157758"/>
                </a:lnTo>
                <a:lnTo>
                  <a:pt x="44648" y="139898"/>
                </a:lnTo>
                <a:lnTo>
                  <a:pt x="71438" y="139898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2600176" y="6248400"/>
            <a:ext cx="1590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Segmentation</a:t>
            </a:r>
            <a:endParaRPr b="0" i="0" sz="1600" u="none" cap="none" strike="noStrike"/>
          </a:p>
        </p:txBody>
      </p:sp>
      <p:sp>
        <p:nvSpPr>
          <p:cNvPr id="40" name="Google Shape;40;p5"/>
          <p:cNvSpPr/>
          <p:nvPr/>
        </p:nvSpPr>
        <p:spPr>
          <a:xfrm>
            <a:off x="4432697" y="6267450"/>
            <a:ext cx="214313" cy="190500"/>
          </a:xfrm>
          <a:custGeom>
            <a:rect b="b" l="l" r="r" t="t"/>
            <a:pathLst>
              <a:path extrusionOk="0" h="190500" w="214313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4773216" y="6248400"/>
            <a:ext cx="1581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Continuous Monitoring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Navigation</a:t>
            </a:r>
            <a:endParaRPr b="0" i="0" sz="1600" u="none" cap="none" strike="noStrike"/>
          </a:p>
        </p:txBody>
      </p:sp>
      <p:sp>
        <p:nvSpPr>
          <p:cNvPr id="48" name="Google Shape;48;p6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Presentation Overview</a:t>
            </a:r>
            <a:endParaRPr b="0" i="0" sz="1600" u="none" cap="none" strike="noStrike"/>
          </a:p>
        </p:txBody>
      </p:sp>
      <p:sp>
        <p:nvSpPr>
          <p:cNvPr id="49" name="Google Shape;49;p6"/>
          <p:cNvSpPr/>
          <p:nvPr/>
        </p:nvSpPr>
        <p:spPr>
          <a:xfrm>
            <a:off x="400050" y="1485900"/>
            <a:ext cx="5581650" cy="1076325"/>
          </a:xfrm>
          <a:custGeom>
            <a:rect b="b" l="l" r="r" t="t"/>
            <a:pathLst>
              <a:path extrusionOk="0" h="1076325" w="5581650">
                <a:moveTo>
                  <a:pt x="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00121"/>
                </a:lnTo>
                <a:cubicBezTo>
                  <a:pt x="5581650" y="1042207"/>
                  <a:pt x="5547532" y="1076325"/>
                  <a:pt x="5505446" y="1076325"/>
                </a:cubicBez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400050" y="1485900"/>
            <a:ext cx="38100" cy="1076325"/>
          </a:xfrm>
          <a:custGeom>
            <a:rect b="b" l="l" r="r" t="t"/>
            <a:pathLst>
              <a:path extrusionOk="0" h="1076325" w="38100">
                <a:moveTo>
                  <a:pt x="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>
            <a:noFill/>
          </a:ln>
        </p:spPr>
      </p:sp>
      <p:sp>
        <p:nvSpPr>
          <p:cNvPr id="51" name="Google Shape;51;p6"/>
          <p:cNvSpPr/>
          <p:nvPr/>
        </p:nvSpPr>
        <p:spPr>
          <a:xfrm>
            <a:off x="647700" y="17145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6"/>
          <p:cNvSpPr/>
          <p:nvPr/>
        </p:nvSpPr>
        <p:spPr>
          <a:xfrm>
            <a:off x="600075" y="1714500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600" u="none" cap="none" strike="noStrike"/>
          </a:p>
        </p:txBody>
      </p:sp>
      <p:sp>
        <p:nvSpPr>
          <p:cNvPr id="53" name="Google Shape;53;p6"/>
          <p:cNvSpPr/>
          <p:nvPr/>
        </p:nvSpPr>
        <p:spPr>
          <a:xfrm>
            <a:off x="1257300" y="1714500"/>
            <a:ext cx="3314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Introduction &amp; Context</a:t>
            </a:r>
            <a:endParaRPr b="0" i="0" sz="1600" u="none" cap="none" strike="noStrike"/>
          </a:p>
        </p:txBody>
      </p:sp>
      <p:sp>
        <p:nvSpPr>
          <p:cNvPr id="54" name="Google Shape;54;p6"/>
          <p:cNvSpPr/>
          <p:nvPr/>
        </p:nvSpPr>
        <p:spPr>
          <a:xfrm>
            <a:off x="1257300" y="2057400"/>
            <a:ext cx="32956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Modern threat landscape and security challenges</a:t>
            </a:r>
            <a:endParaRPr b="0" i="0" sz="1600" u="none" cap="none" strike="noStrike"/>
          </a:p>
        </p:txBody>
      </p:sp>
      <p:sp>
        <p:nvSpPr>
          <p:cNvPr id="55" name="Google Shape;55;p6"/>
          <p:cNvSpPr/>
          <p:nvPr/>
        </p:nvSpPr>
        <p:spPr>
          <a:xfrm>
            <a:off x="6229350" y="1485900"/>
            <a:ext cx="5581650" cy="1076325"/>
          </a:xfrm>
          <a:custGeom>
            <a:rect b="b" l="l" r="r" t="t"/>
            <a:pathLst>
              <a:path extrusionOk="0" h="1076325" w="5581650">
                <a:moveTo>
                  <a:pt x="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00121"/>
                </a:lnTo>
                <a:cubicBezTo>
                  <a:pt x="5581650" y="1042207"/>
                  <a:pt x="5547532" y="1076325"/>
                  <a:pt x="5505446" y="1076325"/>
                </a:cubicBez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6229350" y="1485900"/>
            <a:ext cx="38100" cy="1076325"/>
          </a:xfrm>
          <a:custGeom>
            <a:rect b="b" l="l" r="r" t="t"/>
            <a:pathLst>
              <a:path extrusionOk="0" h="1076325" w="38100">
                <a:moveTo>
                  <a:pt x="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>
            <a:noFill/>
          </a:ln>
        </p:spPr>
      </p:sp>
      <p:sp>
        <p:nvSpPr>
          <p:cNvPr id="57" name="Google Shape;57;p6"/>
          <p:cNvSpPr/>
          <p:nvPr/>
        </p:nvSpPr>
        <p:spPr>
          <a:xfrm>
            <a:off x="6477000" y="171450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6429375" y="1714500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600" u="none" cap="none" strike="noStrike"/>
          </a:p>
        </p:txBody>
      </p:sp>
      <p:sp>
        <p:nvSpPr>
          <p:cNvPr id="59" name="Google Shape;59;p6"/>
          <p:cNvSpPr/>
          <p:nvPr/>
        </p:nvSpPr>
        <p:spPr>
          <a:xfrm>
            <a:off x="7086600" y="1714500"/>
            <a:ext cx="3124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Methodology</a:t>
            </a:r>
            <a:endParaRPr b="0" i="0" sz="1600" u="none" cap="none" strike="noStrike"/>
          </a:p>
        </p:txBody>
      </p:sp>
      <p:sp>
        <p:nvSpPr>
          <p:cNvPr id="60" name="Google Shape;60;p6"/>
          <p:cNvSpPr/>
          <p:nvPr/>
        </p:nvSpPr>
        <p:spPr>
          <a:xfrm>
            <a:off x="7086600" y="2057400"/>
            <a:ext cx="31051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Layered defense approach and network zones</a:t>
            </a:r>
            <a:endParaRPr b="0" i="0" sz="1600" u="none" cap="none" strike="noStrike"/>
          </a:p>
        </p:txBody>
      </p:sp>
      <p:sp>
        <p:nvSpPr>
          <p:cNvPr id="61" name="Google Shape;61;p6"/>
          <p:cNvSpPr/>
          <p:nvPr/>
        </p:nvSpPr>
        <p:spPr>
          <a:xfrm>
            <a:off x="400050" y="2790825"/>
            <a:ext cx="5581650" cy="1076325"/>
          </a:xfrm>
          <a:custGeom>
            <a:rect b="b" l="l" r="r" t="t"/>
            <a:pathLst>
              <a:path extrusionOk="0" h="1076325" w="5581650">
                <a:moveTo>
                  <a:pt x="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00121"/>
                </a:lnTo>
                <a:cubicBezTo>
                  <a:pt x="5581650" y="1042207"/>
                  <a:pt x="5547532" y="1076325"/>
                  <a:pt x="5505446" y="1076325"/>
                </a:cubicBez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"/>
          <p:cNvSpPr/>
          <p:nvPr/>
        </p:nvSpPr>
        <p:spPr>
          <a:xfrm>
            <a:off x="400050" y="2790825"/>
            <a:ext cx="38100" cy="1076325"/>
          </a:xfrm>
          <a:custGeom>
            <a:rect b="b" l="l" r="r" t="t"/>
            <a:pathLst>
              <a:path extrusionOk="0" h="1076325" w="38100">
                <a:moveTo>
                  <a:pt x="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>
            <a:noFill/>
          </a:ln>
        </p:spPr>
      </p:sp>
      <p:sp>
        <p:nvSpPr>
          <p:cNvPr id="63" name="Google Shape;63;p6"/>
          <p:cNvSpPr/>
          <p:nvPr/>
        </p:nvSpPr>
        <p:spPr>
          <a:xfrm>
            <a:off x="647700" y="301942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6"/>
          <p:cNvSpPr/>
          <p:nvPr/>
        </p:nvSpPr>
        <p:spPr>
          <a:xfrm>
            <a:off x="600075" y="3019425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600" u="none" cap="none" strike="noStrike"/>
          </a:p>
        </p:txBody>
      </p:sp>
      <p:sp>
        <p:nvSpPr>
          <p:cNvPr id="65" name="Google Shape;65;p6"/>
          <p:cNvSpPr/>
          <p:nvPr/>
        </p:nvSpPr>
        <p:spPr>
          <a:xfrm>
            <a:off x="1257300" y="3019425"/>
            <a:ext cx="3362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System Architecture</a:t>
            </a:r>
            <a:endParaRPr b="0" i="0" sz="1600" u="none" cap="none" strike="noStrike"/>
          </a:p>
        </p:txBody>
      </p:sp>
      <p:sp>
        <p:nvSpPr>
          <p:cNvPr id="66" name="Google Shape;66;p6"/>
          <p:cNvSpPr/>
          <p:nvPr/>
        </p:nvSpPr>
        <p:spPr>
          <a:xfrm>
            <a:off x="1257300" y="3362325"/>
            <a:ext cx="33432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Defense-in-depth design with four security zones</a:t>
            </a:r>
            <a:endParaRPr b="0" i="0" sz="1600" u="none" cap="none" strike="noStrike"/>
          </a:p>
        </p:txBody>
      </p:sp>
      <p:sp>
        <p:nvSpPr>
          <p:cNvPr id="67" name="Google Shape;67;p6"/>
          <p:cNvSpPr/>
          <p:nvPr/>
        </p:nvSpPr>
        <p:spPr>
          <a:xfrm>
            <a:off x="6229350" y="2790825"/>
            <a:ext cx="5581650" cy="1076325"/>
          </a:xfrm>
          <a:custGeom>
            <a:rect b="b" l="l" r="r" t="t"/>
            <a:pathLst>
              <a:path extrusionOk="0" h="1076325" w="5581650">
                <a:moveTo>
                  <a:pt x="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00121"/>
                </a:lnTo>
                <a:cubicBezTo>
                  <a:pt x="5581650" y="1042207"/>
                  <a:pt x="5547532" y="1076325"/>
                  <a:pt x="5505446" y="1076325"/>
                </a:cubicBez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6229350" y="2790825"/>
            <a:ext cx="38100" cy="1076325"/>
          </a:xfrm>
          <a:custGeom>
            <a:rect b="b" l="l" r="r" t="t"/>
            <a:pathLst>
              <a:path extrusionOk="0" h="1076325" w="38100">
                <a:moveTo>
                  <a:pt x="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>
            <a:noFill/>
          </a:ln>
        </p:spPr>
      </p:sp>
      <p:sp>
        <p:nvSpPr>
          <p:cNvPr id="69" name="Google Shape;69;p6"/>
          <p:cNvSpPr/>
          <p:nvPr/>
        </p:nvSpPr>
        <p:spPr>
          <a:xfrm>
            <a:off x="6477000" y="301942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6429375" y="3019425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600" u="none" cap="none" strike="noStrike"/>
          </a:p>
        </p:txBody>
      </p:sp>
      <p:sp>
        <p:nvSpPr>
          <p:cNvPr id="71" name="Google Shape;71;p6"/>
          <p:cNvSpPr/>
          <p:nvPr/>
        </p:nvSpPr>
        <p:spPr>
          <a:xfrm>
            <a:off x="7086600" y="3019425"/>
            <a:ext cx="4048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System Working Flow</a:t>
            </a:r>
            <a:endParaRPr b="0" i="0" sz="1600" u="none" cap="none" strike="noStrike"/>
          </a:p>
        </p:txBody>
      </p:sp>
      <p:sp>
        <p:nvSpPr>
          <p:cNvPr id="72" name="Google Shape;72;p6"/>
          <p:cNvSpPr/>
          <p:nvPr/>
        </p:nvSpPr>
        <p:spPr>
          <a:xfrm>
            <a:off x="7086600" y="3362325"/>
            <a:ext cx="40290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Five-phase security lifecycle from normal traffic to response</a:t>
            </a:r>
            <a:endParaRPr b="0" i="0" sz="1600" u="none" cap="none" strike="noStrike"/>
          </a:p>
        </p:txBody>
      </p:sp>
      <p:sp>
        <p:nvSpPr>
          <p:cNvPr id="73" name="Google Shape;73;p6"/>
          <p:cNvSpPr/>
          <p:nvPr/>
        </p:nvSpPr>
        <p:spPr>
          <a:xfrm>
            <a:off x="400050" y="4095750"/>
            <a:ext cx="5581650" cy="1076325"/>
          </a:xfrm>
          <a:custGeom>
            <a:rect b="b" l="l" r="r" t="t"/>
            <a:pathLst>
              <a:path extrusionOk="0" h="1076325" w="5581650">
                <a:moveTo>
                  <a:pt x="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00121"/>
                </a:lnTo>
                <a:cubicBezTo>
                  <a:pt x="5581650" y="1042207"/>
                  <a:pt x="5547532" y="1076325"/>
                  <a:pt x="5505446" y="1076325"/>
                </a:cubicBez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400050" y="4095750"/>
            <a:ext cx="38100" cy="1076325"/>
          </a:xfrm>
          <a:custGeom>
            <a:rect b="b" l="l" r="r" t="t"/>
            <a:pathLst>
              <a:path extrusionOk="0" h="1076325" w="38100">
                <a:moveTo>
                  <a:pt x="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</p:sp>
      <p:sp>
        <p:nvSpPr>
          <p:cNvPr id="75" name="Google Shape;75;p6"/>
          <p:cNvSpPr/>
          <p:nvPr/>
        </p:nvSpPr>
        <p:spPr>
          <a:xfrm>
            <a:off x="647700" y="432435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600075" y="4324350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1600" u="none" cap="none" strike="noStrike"/>
          </a:p>
        </p:txBody>
      </p:sp>
      <p:sp>
        <p:nvSpPr>
          <p:cNvPr id="77" name="Google Shape;77;p6"/>
          <p:cNvSpPr/>
          <p:nvPr/>
        </p:nvSpPr>
        <p:spPr>
          <a:xfrm>
            <a:off x="1257300" y="4324350"/>
            <a:ext cx="38385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Implementation</a:t>
            </a:r>
            <a:endParaRPr b="0" i="0" sz="1600" u="none" cap="none" strike="noStrike"/>
          </a:p>
        </p:txBody>
      </p:sp>
      <p:sp>
        <p:nvSpPr>
          <p:cNvPr id="78" name="Google Shape;78;p6"/>
          <p:cNvSpPr/>
          <p:nvPr/>
        </p:nvSpPr>
        <p:spPr>
          <a:xfrm>
            <a:off x="1257300" y="4667250"/>
            <a:ext cx="3819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infrastructure and security controls deployment</a:t>
            </a:r>
            <a:endParaRPr b="0" i="0" sz="1600" u="none" cap="none" strike="noStrike"/>
          </a:p>
        </p:txBody>
      </p:sp>
      <p:sp>
        <p:nvSpPr>
          <p:cNvPr id="79" name="Google Shape;79;p6"/>
          <p:cNvSpPr/>
          <p:nvPr/>
        </p:nvSpPr>
        <p:spPr>
          <a:xfrm>
            <a:off x="6229350" y="4095750"/>
            <a:ext cx="5581650" cy="1076325"/>
          </a:xfrm>
          <a:custGeom>
            <a:rect b="b" l="l" r="r" t="t"/>
            <a:pathLst>
              <a:path extrusionOk="0" h="1076325" w="5581650">
                <a:moveTo>
                  <a:pt x="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00121"/>
                </a:lnTo>
                <a:cubicBezTo>
                  <a:pt x="5581650" y="1042207"/>
                  <a:pt x="5547532" y="1076325"/>
                  <a:pt x="5505446" y="1076325"/>
                </a:cubicBez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6229350" y="4095750"/>
            <a:ext cx="38100" cy="1076325"/>
          </a:xfrm>
          <a:custGeom>
            <a:rect b="b" l="l" r="r" t="t"/>
            <a:pathLst>
              <a:path extrusionOk="0" h="1076325" w="38100">
                <a:moveTo>
                  <a:pt x="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</p:sp>
      <p:sp>
        <p:nvSpPr>
          <p:cNvPr id="81" name="Google Shape;81;p6"/>
          <p:cNvSpPr/>
          <p:nvPr/>
        </p:nvSpPr>
        <p:spPr>
          <a:xfrm>
            <a:off x="6477000" y="432435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429375" y="4324350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1600" u="none" cap="none" strike="noStrike"/>
          </a:p>
        </p:txBody>
      </p:sp>
      <p:sp>
        <p:nvSpPr>
          <p:cNvPr id="83" name="Google Shape;83;p6"/>
          <p:cNvSpPr/>
          <p:nvPr/>
        </p:nvSpPr>
        <p:spPr>
          <a:xfrm>
            <a:off x="7086600" y="4324350"/>
            <a:ext cx="3714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Applications &amp; Use Cases</a:t>
            </a:r>
            <a:endParaRPr b="0" i="0" sz="1600" u="none" cap="none" strike="noStrike"/>
          </a:p>
        </p:txBody>
      </p:sp>
      <p:sp>
        <p:nvSpPr>
          <p:cNvPr id="84" name="Google Shape;84;p6"/>
          <p:cNvSpPr/>
          <p:nvPr/>
        </p:nvSpPr>
        <p:spPr>
          <a:xfrm>
            <a:off x="7086600" y="4667250"/>
            <a:ext cx="36957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SOC training, incident response, and compliance audits</a:t>
            </a:r>
            <a:endParaRPr b="0" i="0" sz="1600" u="none" cap="none" strike="noStrike"/>
          </a:p>
        </p:txBody>
      </p:sp>
      <p:sp>
        <p:nvSpPr>
          <p:cNvPr id="85" name="Google Shape;85;p6"/>
          <p:cNvSpPr/>
          <p:nvPr/>
        </p:nvSpPr>
        <p:spPr>
          <a:xfrm>
            <a:off x="400050" y="5400675"/>
            <a:ext cx="5581650" cy="1076325"/>
          </a:xfrm>
          <a:custGeom>
            <a:rect b="b" l="l" r="r" t="t"/>
            <a:pathLst>
              <a:path extrusionOk="0" h="1076325" w="5581650">
                <a:moveTo>
                  <a:pt x="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00121"/>
                </a:lnTo>
                <a:cubicBezTo>
                  <a:pt x="5581650" y="1042207"/>
                  <a:pt x="5547532" y="1076325"/>
                  <a:pt x="5505446" y="1076325"/>
                </a:cubicBez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400050" y="5400675"/>
            <a:ext cx="38100" cy="1076325"/>
          </a:xfrm>
          <a:custGeom>
            <a:rect b="b" l="l" r="r" t="t"/>
            <a:pathLst>
              <a:path extrusionOk="0" h="1076325" w="38100">
                <a:moveTo>
                  <a:pt x="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>
            <a:noFill/>
          </a:ln>
        </p:spPr>
      </p:sp>
      <p:sp>
        <p:nvSpPr>
          <p:cNvPr id="87" name="Google Shape;87;p6"/>
          <p:cNvSpPr/>
          <p:nvPr/>
        </p:nvSpPr>
        <p:spPr>
          <a:xfrm>
            <a:off x="647700" y="562927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600075" y="5629275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b="0" i="0" sz="1600" u="none" cap="none" strike="noStrike"/>
          </a:p>
        </p:txBody>
      </p:sp>
      <p:sp>
        <p:nvSpPr>
          <p:cNvPr id="89" name="Google Shape;89;p6"/>
          <p:cNvSpPr/>
          <p:nvPr/>
        </p:nvSpPr>
        <p:spPr>
          <a:xfrm>
            <a:off x="1257300" y="5629275"/>
            <a:ext cx="3514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Advantages &amp; Limitations</a:t>
            </a:r>
            <a:endParaRPr b="0" i="0" sz="1600" u="none" cap="none" strike="noStrike"/>
          </a:p>
        </p:txBody>
      </p:sp>
      <p:sp>
        <p:nvSpPr>
          <p:cNvPr id="90" name="Google Shape;90;p6"/>
          <p:cNvSpPr/>
          <p:nvPr/>
        </p:nvSpPr>
        <p:spPr>
          <a:xfrm>
            <a:off x="1257300" y="5972175"/>
            <a:ext cx="3495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Comprehensive analysis of strengths and challenges</a:t>
            </a:r>
            <a:endParaRPr b="0" i="0" sz="1600" u="none" cap="none" strike="noStrike"/>
          </a:p>
        </p:txBody>
      </p:sp>
      <p:sp>
        <p:nvSpPr>
          <p:cNvPr id="91" name="Google Shape;91;p6"/>
          <p:cNvSpPr/>
          <p:nvPr/>
        </p:nvSpPr>
        <p:spPr>
          <a:xfrm>
            <a:off x="6229350" y="5400675"/>
            <a:ext cx="5581650" cy="1076325"/>
          </a:xfrm>
          <a:custGeom>
            <a:rect b="b" l="l" r="r" t="t"/>
            <a:pathLst>
              <a:path extrusionOk="0" h="1076325" w="5581650">
                <a:moveTo>
                  <a:pt x="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1000121"/>
                </a:lnTo>
                <a:cubicBezTo>
                  <a:pt x="5581650" y="1042207"/>
                  <a:pt x="5547532" y="1076325"/>
                  <a:pt x="5505446" y="1076325"/>
                </a:cubicBez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229350" y="5400675"/>
            <a:ext cx="38100" cy="1076325"/>
          </a:xfrm>
          <a:custGeom>
            <a:rect b="b" l="l" r="r" t="t"/>
            <a:pathLst>
              <a:path extrusionOk="0" h="1076325" w="38100">
                <a:moveTo>
                  <a:pt x="0" y="0"/>
                </a:moveTo>
                <a:lnTo>
                  <a:pt x="38100" y="0"/>
                </a:lnTo>
                <a:lnTo>
                  <a:pt x="3810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>
            <a:noFill/>
          </a:ln>
        </p:spPr>
      </p:sp>
      <p:sp>
        <p:nvSpPr>
          <p:cNvPr id="93" name="Google Shape;93;p6"/>
          <p:cNvSpPr/>
          <p:nvPr/>
        </p:nvSpPr>
        <p:spPr>
          <a:xfrm>
            <a:off x="6477000" y="5629275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6429375" y="5629275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08</a:t>
            </a:r>
            <a:endParaRPr b="0" i="0" sz="1600" u="none" cap="none" strike="noStrike"/>
          </a:p>
        </p:txBody>
      </p:sp>
      <p:sp>
        <p:nvSpPr>
          <p:cNvPr id="95" name="Google Shape;95;p6"/>
          <p:cNvSpPr/>
          <p:nvPr/>
        </p:nvSpPr>
        <p:spPr>
          <a:xfrm>
            <a:off x="7086600" y="5629275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Conclusion &amp; Future Scope</a:t>
            </a:r>
            <a:endParaRPr b="0" i="0" sz="1600" u="none" cap="none" strike="noStrike"/>
          </a:p>
        </p:txBody>
      </p:sp>
      <p:sp>
        <p:nvSpPr>
          <p:cNvPr id="96" name="Google Shape;96;p6"/>
          <p:cNvSpPr/>
          <p:nvPr/>
        </p:nvSpPr>
        <p:spPr>
          <a:xfrm>
            <a:off x="7086600" y="5972175"/>
            <a:ext cx="34099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achievements and enhancement opportunities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Introduction &amp; Context</a:t>
            </a:r>
            <a:endParaRPr b="0" i="0" sz="1600" u="none" cap="none" strike="noStrike"/>
          </a:p>
        </p:txBody>
      </p:sp>
      <p:sp>
        <p:nvSpPr>
          <p:cNvPr id="103" name="Google Shape;103;p7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The Modern Threat Landscape</a:t>
            </a:r>
            <a:endParaRPr b="0" i="0" sz="1600" u="none" cap="none" strike="noStrike"/>
          </a:p>
        </p:txBody>
      </p:sp>
      <p:sp>
        <p:nvSpPr>
          <p:cNvPr id="104" name="Google Shape;104;p7"/>
          <p:cNvSpPr/>
          <p:nvPr/>
        </p:nvSpPr>
        <p:spPr>
          <a:xfrm>
            <a:off x="385763" y="1300163"/>
            <a:ext cx="5591175" cy="1628775"/>
          </a:xfrm>
          <a:custGeom>
            <a:rect b="b" l="l" r="r" t="t"/>
            <a:pathLst>
              <a:path extrusionOk="0" h="1628775" w="5591175">
                <a:moveTo>
                  <a:pt x="76194" y="0"/>
                </a:moveTo>
                <a:lnTo>
                  <a:pt x="5514981" y="0"/>
                </a:lnTo>
                <a:cubicBezTo>
                  <a:pt x="5557062" y="0"/>
                  <a:pt x="5591175" y="34113"/>
                  <a:pt x="5591175" y="76194"/>
                </a:cubicBezTo>
                <a:lnTo>
                  <a:pt x="5591175" y="1552581"/>
                </a:lnTo>
                <a:cubicBezTo>
                  <a:pt x="5591175" y="1594662"/>
                  <a:pt x="5557062" y="1628775"/>
                  <a:pt x="5514981" y="1628775"/>
                </a:cubicBezTo>
                <a:lnTo>
                  <a:pt x="76194" y="1628775"/>
                </a:lnTo>
                <a:cubicBezTo>
                  <a:pt x="34113" y="1628775"/>
                  <a:pt x="0" y="1594662"/>
                  <a:pt x="0" y="155258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4A6D8C">
              <a:alpha val="9803"/>
            </a:srgbClr>
          </a:solidFill>
          <a:ln cap="flat" cmpd="sng" w="12700">
            <a:solidFill>
              <a:srgbClr val="4A6D8C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81025" y="1495425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688181" y="1600200"/>
            <a:ext cx="171450" cy="171450"/>
          </a:xfrm>
          <a:custGeom>
            <a:rect b="b" l="l" r="r" t="t"/>
            <a:pathLst>
              <a:path extrusionOk="0" h="171450" w="171450">
                <a:moveTo>
                  <a:pt x="117838" y="93762"/>
                </a:moveTo>
                <a:lnTo>
                  <a:pt x="53913" y="93762"/>
                </a:lnTo>
                <a:cubicBezTo>
                  <a:pt x="54884" y="115360"/>
                  <a:pt x="59673" y="135251"/>
                  <a:pt x="66470" y="149818"/>
                </a:cubicBezTo>
                <a:cubicBezTo>
                  <a:pt x="70288" y="158022"/>
                  <a:pt x="74407" y="163815"/>
                  <a:pt x="78224" y="167365"/>
                </a:cubicBezTo>
                <a:cubicBezTo>
                  <a:pt x="81975" y="170881"/>
                  <a:pt x="84553" y="171450"/>
                  <a:pt x="85892" y="171450"/>
                </a:cubicBezTo>
                <a:cubicBezTo>
                  <a:pt x="87232" y="171450"/>
                  <a:pt x="89810" y="170881"/>
                  <a:pt x="93561" y="167365"/>
                </a:cubicBezTo>
                <a:cubicBezTo>
                  <a:pt x="97378" y="163815"/>
                  <a:pt x="101497" y="157988"/>
                  <a:pt x="105315" y="149818"/>
                </a:cubicBezTo>
                <a:cubicBezTo>
                  <a:pt x="112112" y="135251"/>
                  <a:pt x="116901" y="115360"/>
                  <a:pt x="117872" y="93762"/>
                </a:cubicBezTo>
                <a:close/>
                <a:moveTo>
                  <a:pt x="53880" y="77688"/>
                </a:moveTo>
                <a:lnTo>
                  <a:pt x="117805" y="77688"/>
                </a:lnTo>
                <a:cubicBezTo>
                  <a:pt x="116867" y="56090"/>
                  <a:pt x="112079" y="36199"/>
                  <a:pt x="105281" y="21632"/>
                </a:cubicBezTo>
                <a:cubicBezTo>
                  <a:pt x="101464" y="13462"/>
                  <a:pt x="97345" y="7635"/>
                  <a:pt x="93527" y="4085"/>
                </a:cubicBezTo>
                <a:cubicBezTo>
                  <a:pt x="89777" y="569"/>
                  <a:pt x="87198" y="0"/>
                  <a:pt x="85859" y="0"/>
                </a:cubicBezTo>
                <a:cubicBezTo>
                  <a:pt x="84519" y="0"/>
                  <a:pt x="81941" y="569"/>
                  <a:pt x="78191" y="4085"/>
                </a:cubicBezTo>
                <a:cubicBezTo>
                  <a:pt x="74373" y="7635"/>
                  <a:pt x="70254" y="13462"/>
                  <a:pt x="66437" y="21632"/>
                </a:cubicBezTo>
                <a:cubicBezTo>
                  <a:pt x="59639" y="36199"/>
                  <a:pt x="54851" y="56090"/>
                  <a:pt x="53880" y="77688"/>
                </a:cubicBezTo>
                <a:close/>
                <a:moveTo>
                  <a:pt x="37806" y="77688"/>
                </a:moveTo>
                <a:cubicBezTo>
                  <a:pt x="38978" y="49024"/>
                  <a:pt x="46379" y="22402"/>
                  <a:pt x="57195" y="4922"/>
                </a:cubicBezTo>
                <a:cubicBezTo>
                  <a:pt x="26354" y="15839"/>
                  <a:pt x="3650" y="43934"/>
                  <a:pt x="502" y="77688"/>
                </a:cubicBezTo>
                <a:lnTo>
                  <a:pt x="37806" y="77688"/>
                </a:lnTo>
                <a:close/>
                <a:moveTo>
                  <a:pt x="502" y="93762"/>
                </a:moveTo>
                <a:cubicBezTo>
                  <a:pt x="3650" y="127516"/>
                  <a:pt x="26354" y="155611"/>
                  <a:pt x="57195" y="166528"/>
                </a:cubicBezTo>
                <a:cubicBezTo>
                  <a:pt x="46379" y="149048"/>
                  <a:pt x="38978" y="122426"/>
                  <a:pt x="37806" y="93762"/>
                </a:cubicBezTo>
                <a:lnTo>
                  <a:pt x="502" y="93762"/>
                </a:lnTo>
                <a:close/>
                <a:moveTo>
                  <a:pt x="133912" y="93762"/>
                </a:moveTo>
                <a:cubicBezTo>
                  <a:pt x="132740" y="122426"/>
                  <a:pt x="125339" y="149048"/>
                  <a:pt x="114523" y="166528"/>
                </a:cubicBezTo>
                <a:cubicBezTo>
                  <a:pt x="145364" y="155577"/>
                  <a:pt x="168068" y="127516"/>
                  <a:pt x="171216" y="93762"/>
                </a:cubicBezTo>
                <a:lnTo>
                  <a:pt x="133912" y="93762"/>
                </a:lnTo>
                <a:close/>
                <a:moveTo>
                  <a:pt x="171216" y="77688"/>
                </a:moveTo>
                <a:cubicBezTo>
                  <a:pt x="168068" y="43934"/>
                  <a:pt x="145364" y="15839"/>
                  <a:pt x="114523" y="4922"/>
                </a:cubicBezTo>
                <a:cubicBezTo>
                  <a:pt x="125339" y="22402"/>
                  <a:pt x="132740" y="49024"/>
                  <a:pt x="133912" y="77688"/>
                </a:cubicBezTo>
                <a:lnTo>
                  <a:pt x="171216" y="776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1076325" y="1552575"/>
            <a:ext cx="1971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Digital Transformation</a:t>
            </a:r>
            <a:endParaRPr b="0" i="0" sz="1600" u="none" cap="none" strike="noStrike"/>
          </a:p>
        </p:txBody>
      </p:sp>
      <p:sp>
        <p:nvSpPr>
          <p:cNvPr id="108" name="Google Shape;108;p7"/>
          <p:cNvSpPr/>
          <p:nvPr/>
        </p:nvSpPr>
        <p:spPr>
          <a:xfrm>
            <a:off x="581025" y="1990725"/>
            <a:ext cx="527685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Enterprises increasingly rely on web applications, cloud platforms, and interconnected digital systems. This transformation expands the attack surface through public-facing services and potential misconfigurations.</a:t>
            </a:r>
            <a:endParaRPr b="0" i="0" sz="1600" u="none" cap="none" strike="noStrike"/>
          </a:p>
        </p:txBody>
      </p:sp>
      <p:sp>
        <p:nvSpPr>
          <p:cNvPr id="109" name="Google Shape;109;p7"/>
          <p:cNvSpPr/>
          <p:nvPr/>
        </p:nvSpPr>
        <p:spPr>
          <a:xfrm>
            <a:off x="385763" y="3128963"/>
            <a:ext cx="5591175" cy="1381125"/>
          </a:xfrm>
          <a:custGeom>
            <a:rect b="b" l="l" r="r" t="t"/>
            <a:pathLst>
              <a:path extrusionOk="0" h="1381125" w="5591175">
                <a:moveTo>
                  <a:pt x="76197" y="0"/>
                </a:moveTo>
                <a:lnTo>
                  <a:pt x="5514978" y="0"/>
                </a:lnTo>
                <a:cubicBezTo>
                  <a:pt x="5557061" y="0"/>
                  <a:pt x="5591175" y="34114"/>
                  <a:pt x="5591175" y="76197"/>
                </a:cubicBezTo>
                <a:lnTo>
                  <a:pt x="5591175" y="1304928"/>
                </a:lnTo>
                <a:cubicBezTo>
                  <a:pt x="5591175" y="1347011"/>
                  <a:pt x="5557061" y="1381125"/>
                  <a:pt x="5514978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5F6B7A">
              <a:alpha val="9803"/>
            </a:srgbClr>
          </a:solidFill>
          <a:ln cap="flat" cmpd="sng" w="12700">
            <a:solidFill>
              <a:srgbClr val="5F6B7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81025" y="3324225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688181" y="3429000"/>
            <a:ext cx="171450" cy="171450"/>
          </a:xfrm>
          <a:custGeom>
            <a:rect b="b" l="l" r="r" t="t"/>
            <a:pathLst>
              <a:path extrusionOk="0" h="171450" w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1076325" y="3381375"/>
            <a:ext cx="24860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Multi-Stage Attack Lifecycle</a:t>
            </a:r>
            <a:endParaRPr b="0" i="0" sz="1600" u="none" cap="none" strike="noStrike"/>
          </a:p>
        </p:txBody>
      </p:sp>
      <p:sp>
        <p:nvSpPr>
          <p:cNvPr id="113" name="Google Shape;113;p7"/>
          <p:cNvSpPr/>
          <p:nvPr/>
        </p:nvSpPr>
        <p:spPr>
          <a:xfrm>
            <a:off x="581025" y="3819525"/>
            <a:ext cx="52768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Modern cyber-attacks follow sophisticated multi-stage lifecycles: </a:t>
            </a:r>
            <a:r>
              <a:rPr b="0" i="0" lang="en-US" sz="1200" u="none" cap="none" strike="noStrike">
                <a:solidFill>
                  <a:srgbClr val="E0E2E5"/>
                </a:solidFill>
                <a:highlight>
                  <a:srgbClr val="C9A86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reconnaissance </a:t>
            </a: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0" i="0" lang="en-US" sz="1200" u="none" cap="none" strike="noStrike">
                <a:solidFill>
                  <a:srgbClr val="E0E2E5"/>
                </a:solidFill>
                <a:highlight>
                  <a:srgbClr val="C9A86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exploitation </a:t>
            </a: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0" i="0" lang="en-US" sz="1200" u="none" cap="none" strike="noStrike">
                <a:solidFill>
                  <a:srgbClr val="E0E2E5"/>
                </a:solidFill>
                <a:highlight>
                  <a:srgbClr val="C9A86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lateral movement </a:t>
            </a: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and </a:t>
            </a:r>
            <a:r>
              <a:rPr b="0" i="0" lang="en-US" sz="1200" u="none" cap="none" strike="noStrike">
                <a:solidFill>
                  <a:srgbClr val="E0E2E5"/>
                </a:solidFill>
                <a:highlight>
                  <a:srgbClr val="C9A86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data exfiltration </a:t>
            </a: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b="0" i="0" sz="1600" u="none" cap="none" strike="noStrike"/>
          </a:p>
        </p:txBody>
      </p:sp>
      <p:sp>
        <p:nvSpPr>
          <p:cNvPr id="114" name="Google Shape;114;p7"/>
          <p:cNvSpPr/>
          <p:nvPr/>
        </p:nvSpPr>
        <p:spPr>
          <a:xfrm>
            <a:off x="385763" y="4710113"/>
            <a:ext cx="5591175" cy="1381125"/>
          </a:xfrm>
          <a:custGeom>
            <a:rect b="b" l="l" r="r" t="t"/>
            <a:pathLst>
              <a:path extrusionOk="0" h="1381125" w="5591175">
                <a:moveTo>
                  <a:pt x="76197" y="0"/>
                </a:moveTo>
                <a:lnTo>
                  <a:pt x="5514978" y="0"/>
                </a:lnTo>
                <a:cubicBezTo>
                  <a:pt x="5557061" y="0"/>
                  <a:pt x="5591175" y="34114"/>
                  <a:pt x="5591175" y="76197"/>
                </a:cubicBezTo>
                <a:lnTo>
                  <a:pt x="5591175" y="1304928"/>
                </a:lnTo>
                <a:cubicBezTo>
                  <a:pt x="5591175" y="1347011"/>
                  <a:pt x="5557061" y="1381125"/>
                  <a:pt x="5514978" y="1381125"/>
                </a:cubicBezTo>
                <a:lnTo>
                  <a:pt x="76197" y="1381125"/>
                </a:lnTo>
                <a:cubicBezTo>
                  <a:pt x="34114" y="1381125"/>
                  <a:pt x="0" y="1347011"/>
                  <a:pt x="0" y="130492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C9A86A">
              <a:alpha val="9803"/>
            </a:srgbClr>
          </a:solidFill>
          <a:ln cap="flat" cmpd="sng" w="12700">
            <a:solidFill>
              <a:srgbClr val="C9A86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581025" y="4905375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688181" y="5010150"/>
            <a:ext cx="171450" cy="171450"/>
          </a:xfrm>
          <a:custGeom>
            <a:rect b="b" l="l" r="r" t="t"/>
            <a:pathLst>
              <a:path extrusionOk="0" h="171450" w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1076325" y="4962525"/>
            <a:ext cx="2628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Perimeter Security Limitations</a:t>
            </a:r>
            <a:endParaRPr b="0" i="0" sz="1600" u="none" cap="none" strike="noStrike"/>
          </a:p>
        </p:txBody>
      </p:sp>
      <p:sp>
        <p:nvSpPr>
          <p:cNvPr id="118" name="Google Shape;118;p7"/>
          <p:cNvSpPr/>
          <p:nvPr/>
        </p:nvSpPr>
        <p:spPr>
          <a:xfrm>
            <a:off x="581025" y="5400675"/>
            <a:ext cx="52768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Traditional perimeter-based security is insufficient against advanced persistent threats that bypass outer defenses and operate within the network.</a:t>
            </a:r>
            <a:endParaRPr b="0" i="0" sz="1600" u="none" cap="none" strike="noStrike"/>
          </a:p>
        </p:txBody>
      </p:sp>
      <p:sp>
        <p:nvSpPr>
          <p:cNvPr id="119" name="Google Shape;119;p7"/>
          <p:cNvSpPr/>
          <p:nvPr/>
        </p:nvSpPr>
        <p:spPr>
          <a:xfrm>
            <a:off x="6219825" y="1304925"/>
            <a:ext cx="5581650" cy="3752850"/>
          </a:xfrm>
          <a:custGeom>
            <a:rect b="b" l="l" r="r" t="t"/>
            <a:pathLst>
              <a:path extrusionOk="0" h="3752850" w="5581650">
                <a:moveTo>
                  <a:pt x="76183" y="0"/>
                </a:moveTo>
                <a:lnTo>
                  <a:pt x="5505467" y="0"/>
                </a:lnTo>
                <a:cubicBezTo>
                  <a:pt x="5547514" y="0"/>
                  <a:pt x="5581650" y="34136"/>
                  <a:pt x="5581650" y="76183"/>
                </a:cubicBezTo>
                <a:lnTo>
                  <a:pt x="5581650" y="3676667"/>
                </a:lnTo>
                <a:cubicBezTo>
                  <a:pt x="5581650" y="3718742"/>
                  <a:pt x="5547542" y="3752850"/>
                  <a:pt x="5505467" y="3752850"/>
                </a:cubicBezTo>
                <a:lnTo>
                  <a:pt x="76183" y="3752850"/>
                </a:lnTo>
                <a:cubicBezTo>
                  <a:pt x="34136" y="3752850"/>
                  <a:pt x="0" y="3718714"/>
                  <a:pt x="0" y="3676667"/>
                </a:cubicBezTo>
                <a:lnTo>
                  <a:pt x="0" y="76183"/>
                </a:lnTo>
                <a:cubicBezTo>
                  <a:pt x="0" y="34136"/>
                  <a:pt x="34136" y="0"/>
                  <a:pt x="76183" y="0"/>
                </a:cubicBezTo>
                <a:close/>
              </a:path>
            </a:pathLst>
          </a:custGeom>
          <a:solidFill>
            <a:srgbClr val="4A6D8C">
              <a:alpha val="14901"/>
            </a:srgbClr>
          </a:solidFill>
          <a:ln cap="flat" cmpd="sng" w="25400">
            <a:solidFill>
              <a:srgbClr val="4A6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6457950" y="154305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591300" y="167640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7029450" y="1619250"/>
            <a:ext cx="28860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Network Defense Concepts</a:t>
            </a:r>
            <a:endParaRPr b="0" i="0" sz="1600" u="none" cap="none" strike="noStrike"/>
          </a:p>
        </p:txBody>
      </p:sp>
      <p:sp>
        <p:nvSpPr>
          <p:cNvPr id="123" name="Google Shape;123;p7"/>
          <p:cNvSpPr/>
          <p:nvPr/>
        </p:nvSpPr>
        <p:spPr>
          <a:xfrm>
            <a:off x="6457950" y="2152650"/>
            <a:ext cx="51911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NDC promotes </a:t>
            </a:r>
            <a:r>
              <a:rPr b="1" i="0" lang="en-US" sz="13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defense-in-depth</a:t>
            </a: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using multiple security layers to protect critical assets and detect threats at various stages.</a:t>
            </a:r>
            <a:endParaRPr b="0" i="0" sz="1600" u="none" cap="none" strike="noStrike"/>
          </a:p>
        </p:txBody>
      </p:sp>
      <p:sp>
        <p:nvSpPr>
          <p:cNvPr id="124" name="Google Shape;124;p7"/>
          <p:cNvSpPr/>
          <p:nvPr/>
        </p:nvSpPr>
        <p:spPr>
          <a:xfrm>
            <a:off x="6457950" y="3031331"/>
            <a:ext cx="2495550" cy="838200"/>
          </a:xfrm>
          <a:custGeom>
            <a:rect b="b" l="l" r="r" t="t"/>
            <a:pathLst>
              <a:path extrusionOk="0" h="838200" w="2495550">
                <a:moveTo>
                  <a:pt x="76201" y="0"/>
                </a:moveTo>
                <a:lnTo>
                  <a:pt x="2419349" y="0"/>
                </a:lnTo>
                <a:cubicBezTo>
                  <a:pt x="2461434" y="0"/>
                  <a:pt x="2495550" y="34116"/>
                  <a:pt x="2495550" y="76201"/>
                </a:cubicBezTo>
                <a:lnTo>
                  <a:pt x="2495550" y="761999"/>
                </a:lnTo>
                <a:cubicBezTo>
                  <a:pt x="2495550" y="804084"/>
                  <a:pt x="2461434" y="838200"/>
                  <a:pt x="24193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7591425" y="3183731"/>
            <a:ext cx="228600" cy="228600"/>
          </a:xfrm>
          <a:custGeom>
            <a:rect b="b" l="l" r="r" t="t"/>
            <a:pathLst>
              <a:path extrusionOk="0" h="228600" w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6572250" y="3488531"/>
            <a:ext cx="2266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Segmentation</a:t>
            </a:r>
            <a:endParaRPr b="0" i="0" sz="1600" u="none" cap="none" strike="noStrike"/>
          </a:p>
        </p:txBody>
      </p:sp>
      <p:sp>
        <p:nvSpPr>
          <p:cNvPr id="127" name="Google Shape;127;p7"/>
          <p:cNvSpPr/>
          <p:nvPr/>
        </p:nvSpPr>
        <p:spPr>
          <a:xfrm>
            <a:off x="9067800" y="3031331"/>
            <a:ext cx="2495550" cy="838200"/>
          </a:xfrm>
          <a:custGeom>
            <a:rect b="b" l="l" r="r" t="t"/>
            <a:pathLst>
              <a:path extrusionOk="0" h="838200" w="2495550">
                <a:moveTo>
                  <a:pt x="76201" y="0"/>
                </a:moveTo>
                <a:lnTo>
                  <a:pt x="2419349" y="0"/>
                </a:lnTo>
                <a:cubicBezTo>
                  <a:pt x="2461434" y="0"/>
                  <a:pt x="2495550" y="34116"/>
                  <a:pt x="2495550" y="76201"/>
                </a:cubicBezTo>
                <a:lnTo>
                  <a:pt x="2495550" y="761999"/>
                </a:lnTo>
                <a:cubicBezTo>
                  <a:pt x="2495550" y="804084"/>
                  <a:pt x="2461434" y="838200"/>
                  <a:pt x="24193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10229850" y="3183731"/>
            <a:ext cx="171450" cy="228600"/>
          </a:xfrm>
          <a:custGeom>
            <a:rect b="b" l="l" r="r" t="t"/>
            <a:pathLst>
              <a:path extrusionOk="0" h="228600" w="171450">
                <a:moveTo>
                  <a:pt x="57150" y="42863"/>
                </a:moveTo>
                <a:lnTo>
                  <a:pt x="57150" y="71438"/>
                </a:lnTo>
                <a:lnTo>
                  <a:pt x="114300" y="71438"/>
                </a:lnTo>
                <a:lnTo>
                  <a:pt x="114300" y="42863"/>
                </a:lnTo>
                <a:cubicBezTo>
                  <a:pt x="114300" y="27102"/>
                  <a:pt x="101486" y="14288"/>
                  <a:pt x="85725" y="14288"/>
                </a:cubicBezTo>
                <a:cubicBezTo>
                  <a:pt x="69964" y="14288"/>
                  <a:pt x="57150" y="27102"/>
                  <a:pt x="57150" y="42863"/>
                </a:cubicBezTo>
                <a:close/>
                <a:moveTo>
                  <a:pt x="28575" y="71438"/>
                </a:moveTo>
                <a:lnTo>
                  <a:pt x="28575" y="42863"/>
                </a:lnTo>
                <a:cubicBezTo>
                  <a:pt x="28575" y="11296"/>
                  <a:pt x="54159" y="-14287"/>
                  <a:pt x="85725" y="-14287"/>
                </a:cubicBezTo>
                <a:cubicBezTo>
                  <a:pt x="117291" y="-14287"/>
                  <a:pt x="142875" y="11296"/>
                  <a:pt x="142875" y="42863"/>
                </a:cubicBezTo>
                <a:lnTo>
                  <a:pt x="142875" y="71438"/>
                </a:lnTo>
                <a:cubicBezTo>
                  <a:pt x="158636" y="71438"/>
                  <a:pt x="171450" y="84252"/>
                  <a:pt x="171450" y="10001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00013"/>
                </a:lnTo>
                <a:cubicBezTo>
                  <a:pt x="0" y="84252"/>
                  <a:pt x="12814" y="71438"/>
                  <a:pt x="28575" y="71438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9182100" y="3488531"/>
            <a:ext cx="2266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Access Control</a:t>
            </a:r>
            <a:endParaRPr b="0" i="0" sz="1600" u="none" cap="none" strike="noStrike"/>
          </a:p>
        </p:txBody>
      </p:sp>
      <p:sp>
        <p:nvSpPr>
          <p:cNvPr id="130" name="Google Shape;130;p7"/>
          <p:cNvSpPr/>
          <p:nvPr/>
        </p:nvSpPr>
        <p:spPr>
          <a:xfrm>
            <a:off x="6457950" y="3983831"/>
            <a:ext cx="2495550" cy="838200"/>
          </a:xfrm>
          <a:custGeom>
            <a:rect b="b" l="l" r="r" t="t"/>
            <a:pathLst>
              <a:path extrusionOk="0" h="838200" w="2495550">
                <a:moveTo>
                  <a:pt x="76201" y="0"/>
                </a:moveTo>
                <a:lnTo>
                  <a:pt x="2419349" y="0"/>
                </a:lnTo>
                <a:cubicBezTo>
                  <a:pt x="2461434" y="0"/>
                  <a:pt x="2495550" y="34116"/>
                  <a:pt x="2495550" y="76201"/>
                </a:cubicBezTo>
                <a:lnTo>
                  <a:pt x="2495550" y="761999"/>
                </a:lnTo>
                <a:cubicBezTo>
                  <a:pt x="2495550" y="804084"/>
                  <a:pt x="2461434" y="838200"/>
                  <a:pt x="24193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7591425" y="4136231"/>
            <a:ext cx="228600" cy="228600"/>
          </a:xfrm>
          <a:custGeom>
            <a:rect b="b" l="l" r="r" t="t"/>
            <a:pathLst>
              <a:path extrusionOk="0" h="228600" w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6572250" y="4441031"/>
            <a:ext cx="2266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IDS</a:t>
            </a:r>
            <a:endParaRPr b="0" i="0" sz="1600" u="none" cap="none" strike="noStrike"/>
          </a:p>
        </p:txBody>
      </p:sp>
      <p:sp>
        <p:nvSpPr>
          <p:cNvPr id="133" name="Google Shape;133;p7"/>
          <p:cNvSpPr/>
          <p:nvPr/>
        </p:nvSpPr>
        <p:spPr>
          <a:xfrm>
            <a:off x="9067800" y="3983831"/>
            <a:ext cx="2495550" cy="838200"/>
          </a:xfrm>
          <a:custGeom>
            <a:rect b="b" l="l" r="r" t="t"/>
            <a:pathLst>
              <a:path extrusionOk="0" h="838200" w="2495550">
                <a:moveTo>
                  <a:pt x="76201" y="0"/>
                </a:moveTo>
                <a:lnTo>
                  <a:pt x="2419349" y="0"/>
                </a:lnTo>
                <a:cubicBezTo>
                  <a:pt x="2461434" y="0"/>
                  <a:pt x="2495550" y="34116"/>
                  <a:pt x="2495550" y="76201"/>
                </a:cubicBezTo>
                <a:lnTo>
                  <a:pt x="2495550" y="761999"/>
                </a:lnTo>
                <a:cubicBezTo>
                  <a:pt x="2495550" y="804084"/>
                  <a:pt x="2461434" y="838200"/>
                  <a:pt x="241934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10201275" y="4136231"/>
            <a:ext cx="228600" cy="228600"/>
          </a:xfrm>
          <a:custGeom>
            <a:rect b="b" l="l" r="r" t="t"/>
            <a:pathLst>
              <a:path extrusionOk="0" h="228600" w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9182100" y="4441031"/>
            <a:ext cx="2266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Monitoring</a:t>
            </a:r>
            <a:endParaRPr b="0" i="0" sz="1600" u="none" cap="none" strike="noStrike"/>
          </a:p>
        </p:txBody>
      </p:sp>
      <p:sp>
        <p:nvSpPr>
          <p:cNvPr id="136" name="Google Shape;136;p7"/>
          <p:cNvSpPr/>
          <p:nvPr/>
        </p:nvSpPr>
        <p:spPr>
          <a:xfrm>
            <a:off x="6229350" y="5260181"/>
            <a:ext cx="5581650" cy="1219200"/>
          </a:xfrm>
          <a:custGeom>
            <a:rect b="b" l="l" r="r" t="t"/>
            <a:pathLst>
              <a:path extrusionOk="0" h="1219200" w="558165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143000"/>
                </a:lnTo>
                <a:cubicBezTo>
                  <a:pt x="5581650" y="1185056"/>
                  <a:pt x="5547506" y="1219200"/>
                  <a:pt x="5505450" y="1219200"/>
                </a:cubicBez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229350" y="5260181"/>
            <a:ext cx="38100" cy="1219200"/>
          </a:xfrm>
          <a:custGeom>
            <a:rect b="b" l="l" r="r" t="t"/>
            <a:pathLst>
              <a:path extrusionOk="0" h="1219200" w="38100">
                <a:moveTo>
                  <a:pt x="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</p:sp>
      <p:sp>
        <p:nvSpPr>
          <p:cNvPr id="138" name="Google Shape;138;p7"/>
          <p:cNvSpPr/>
          <p:nvPr/>
        </p:nvSpPr>
        <p:spPr>
          <a:xfrm>
            <a:off x="6484144" y="5488781"/>
            <a:ext cx="128588" cy="171450"/>
          </a:xfrm>
          <a:custGeom>
            <a:rect b="b" l="l" r="r" t="t"/>
            <a:pathLst>
              <a:path extrusionOk="0" h="171450" w="128588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715125" y="5450681"/>
            <a:ext cx="49911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Goal:</a:t>
            </a: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Implement an enterprise-grade secure network using </a:t>
            </a:r>
            <a:r>
              <a:rPr b="1" i="0" lang="en-US" sz="13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DMZ architecture</a:t>
            </a: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1" i="0" lang="en-US" sz="13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Suricata IDS</a:t>
            </a: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and </a:t>
            </a:r>
            <a:r>
              <a:rPr b="1" i="0" lang="en-US" sz="13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Wazuh SIEM</a:t>
            </a: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comprehensive detection, monitoring, and response.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Methodology</a:t>
            </a:r>
            <a:endParaRPr b="0" i="0" sz="1600" u="none" cap="none" strike="noStrike"/>
          </a:p>
        </p:txBody>
      </p:sp>
      <p:sp>
        <p:nvSpPr>
          <p:cNvPr id="146" name="Google Shape;146;p8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Layered Defense Approach</a:t>
            </a:r>
            <a:endParaRPr b="0" i="0" sz="1600" u="none" cap="none" strike="noStrike"/>
          </a:p>
        </p:txBody>
      </p:sp>
      <p:sp>
        <p:nvSpPr>
          <p:cNvPr id="147" name="Google Shape;147;p8"/>
          <p:cNvSpPr/>
          <p:nvPr/>
        </p:nvSpPr>
        <p:spPr>
          <a:xfrm>
            <a:off x="390525" y="1304925"/>
            <a:ext cx="11410950" cy="1038225"/>
          </a:xfrm>
          <a:custGeom>
            <a:rect b="b" l="l" r="r" t="t"/>
            <a:pathLst>
              <a:path extrusionOk="0" h="1038225" w="11410950">
                <a:moveTo>
                  <a:pt x="76195" y="0"/>
                </a:moveTo>
                <a:lnTo>
                  <a:pt x="11334755" y="0"/>
                </a:lnTo>
                <a:cubicBezTo>
                  <a:pt x="11376836" y="0"/>
                  <a:pt x="11410950" y="34114"/>
                  <a:pt x="11410950" y="76195"/>
                </a:cubicBezTo>
                <a:lnTo>
                  <a:pt x="11410950" y="962030"/>
                </a:lnTo>
                <a:cubicBezTo>
                  <a:pt x="11410950" y="1004111"/>
                  <a:pt x="11376836" y="1038225"/>
                  <a:pt x="11334755" y="1038225"/>
                </a:cubicBezTo>
                <a:lnTo>
                  <a:pt x="76195" y="1038225"/>
                </a:lnTo>
                <a:cubicBezTo>
                  <a:pt x="34114" y="1038225"/>
                  <a:pt x="0" y="1004111"/>
                  <a:pt x="0" y="96203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4A6D8C">
              <a:alpha val="14901"/>
            </a:srgbClr>
          </a:solidFill>
          <a:ln cap="flat" cmpd="sng" w="25400">
            <a:solidFill>
              <a:srgbClr val="4A6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628650" y="1543050"/>
            <a:ext cx="110204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project follows a </a:t>
            </a:r>
            <a:r>
              <a:rPr b="1" i="0" lang="en-US" sz="13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layered defense methodology</a:t>
            </a: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based on Network Defense Concepts (NDC), implementing multiple security controls at different network layers to create a comprehensive protection strategy.</a:t>
            </a:r>
            <a:endParaRPr b="0" i="0" sz="1600" u="none" cap="none" strike="noStrike"/>
          </a:p>
        </p:txBody>
      </p:sp>
      <p:sp>
        <p:nvSpPr>
          <p:cNvPr id="149" name="Google Shape;149;p8"/>
          <p:cNvSpPr/>
          <p:nvPr/>
        </p:nvSpPr>
        <p:spPr>
          <a:xfrm>
            <a:off x="385763" y="2543175"/>
            <a:ext cx="2733675" cy="2619375"/>
          </a:xfrm>
          <a:custGeom>
            <a:rect b="b" l="l" r="r" t="t"/>
            <a:pathLst>
              <a:path extrusionOk="0" h="2619375" w="2733675">
                <a:moveTo>
                  <a:pt x="76198" y="0"/>
                </a:moveTo>
                <a:lnTo>
                  <a:pt x="2657477" y="0"/>
                </a:lnTo>
                <a:cubicBezTo>
                  <a:pt x="2699560" y="0"/>
                  <a:pt x="2733675" y="34115"/>
                  <a:pt x="2733675" y="76198"/>
                </a:cubicBezTo>
                <a:lnTo>
                  <a:pt x="2733675" y="2543177"/>
                </a:lnTo>
                <a:cubicBezTo>
                  <a:pt x="2733675" y="2585260"/>
                  <a:pt x="2699560" y="2619375"/>
                  <a:pt x="2657477" y="2619375"/>
                </a:cubicBezTo>
                <a:lnTo>
                  <a:pt x="76198" y="2619375"/>
                </a:lnTo>
                <a:cubicBezTo>
                  <a:pt x="34115" y="2619375"/>
                  <a:pt x="0" y="2585260"/>
                  <a:pt x="0" y="25431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D8C">
              <a:alpha val="9803"/>
            </a:srgbClr>
          </a:solidFill>
          <a:ln cap="flat" cmpd="sng" w="12700">
            <a:solidFill>
              <a:srgbClr val="4A6D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581025" y="2738438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533400" y="2738438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152" name="Google Shape;152;p8"/>
          <p:cNvSpPr/>
          <p:nvPr/>
        </p:nvSpPr>
        <p:spPr>
          <a:xfrm>
            <a:off x="1152525" y="2833688"/>
            <a:ext cx="1247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External Zone</a:t>
            </a:r>
            <a:endParaRPr b="0" i="0" sz="1600" u="none" cap="none" strike="noStrike"/>
          </a:p>
        </p:txBody>
      </p:sp>
      <p:sp>
        <p:nvSpPr>
          <p:cNvPr id="153" name="Google Shape;153;p8"/>
          <p:cNvSpPr/>
          <p:nvPr/>
        </p:nvSpPr>
        <p:spPr>
          <a:xfrm>
            <a:off x="581025" y="3348038"/>
            <a:ext cx="24193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Internet-facing perimeter where threats originate. Contains untrusted traffic and potential attack sources.</a:t>
            </a:r>
            <a:endParaRPr b="0" i="0" sz="1600" u="none" cap="none" strike="noStrike"/>
          </a:p>
        </p:txBody>
      </p:sp>
      <p:sp>
        <p:nvSpPr>
          <p:cNvPr id="154" name="Google Shape;154;p8"/>
          <p:cNvSpPr/>
          <p:nvPr/>
        </p:nvSpPr>
        <p:spPr>
          <a:xfrm>
            <a:off x="581025" y="4614863"/>
            <a:ext cx="2343150" cy="9525"/>
          </a:xfrm>
          <a:custGeom>
            <a:rect b="b" l="l" r="r" t="t"/>
            <a:pathLst>
              <a:path extrusionOk="0" h="9525" w="2343150">
                <a:moveTo>
                  <a:pt x="0" y="0"/>
                </a:moveTo>
                <a:lnTo>
                  <a:pt x="2343150" y="0"/>
                </a:lnTo>
                <a:lnTo>
                  <a:pt x="23431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9803"/>
            </a:srgbClr>
          </a:solidFill>
          <a:ln>
            <a:noFill/>
          </a:ln>
        </p:spPr>
      </p:sp>
      <p:sp>
        <p:nvSpPr>
          <p:cNvPr id="155" name="Google Shape;155;p8"/>
          <p:cNvSpPr/>
          <p:nvPr/>
        </p:nvSpPr>
        <p:spPr>
          <a:xfrm>
            <a:off x="600075" y="4800600"/>
            <a:ext cx="133350" cy="133350"/>
          </a:xfrm>
          <a:custGeom>
            <a:rect b="b" l="l" r="r" t="t"/>
            <a:pathLst>
              <a:path extrusionOk="0" h="133350" w="133350">
                <a:moveTo>
                  <a:pt x="91652" y="72926"/>
                </a:moveTo>
                <a:lnTo>
                  <a:pt x="41932" y="72926"/>
                </a:lnTo>
                <a:cubicBezTo>
                  <a:pt x="42688" y="89725"/>
                  <a:pt x="46412" y="105195"/>
                  <a:pt x="51699" y="116525"/>
                </a:cubicBezTo>
                <a:cubicBezTo>
                  <a:pt x="54668" y="122906"/>
                  <a:pt x="57872" y="127412"/>
                  <a:pt x="60841" y="130173"/>
                </a:cubicBezTo>
                <a:cubicBezTo>
                  <a:pt x="63758" y="132907"/>
                  <a:pt x="65763" y="133350"/>
                  <a:pt x="66805" y="133350"/>
                </a:cubicBezTo>
                <a:cubicBezTo>
                  <a:pt x="67847" y="133350"/>
                  <a:pt x="69852" y="132907"/>
                  <a:pt x="72770" y="130173"/>
                </a:cubicBezTo>
                <a:cubicBezTo>
                  <a:pt x="75739" y="127412"/>
                  <a:pt x="78942" y="122880"/>
                  <a:pt x="81911" y="116525"/>
                </a:cubicBezTo>
                <a:cubicBezTo>
                  <a:pt x="87198" y="105195"/>
                  <a:pt x="90923" y="89725"/>
                  <a:pt x="91678" y="72926"/>
                </a:cubicBezTo>
                <a:close/>
                <a:moveTo>
                  <a:pt x="41906" y="60424"/>
                </a:moveTo>
                <a:lnTo>
                  <a:pt x="91626" y="60424"/>
                </a:lnTo>
                <a:cubicBezTo>
                  <a:pt x="90897" y="43625"/>
                  <a:pt x="87172" y="28155"/>
                  <a:pt x="81885" y="16825"/>
                </a:cubicBezTo>
                <a:cubicBezTo>
                  <a:pt x="78916" y="10470"/>
                  <a:pt x="75713" y="5938"/>
                  <a:pt x="72743" y="3177"/>
                </a:cubicBezTo>
                <a:cubicBezTo>
                  <a:pt x="69826" y="443"/>
                  <a:pt x="67821" y="0"/>
                  <a:pt x="66779" y="0"/>
                </a:cubicBezTo>
                <a:cubicBezTo>
                  <a:pt x="65737" y="0"/>
                  <a:pt x="63732" y="443"/>
                  <a:pt x="60815" y="3177"/>
                </a:cubicBezTo>
                <a:cubicBezTo>
                  <a:pt x="57846" y="5938"/>
                  <a:pt x="54642" y="10470"/>
                  <a:pt x="51673" y="16825"/>
                </a:cubicBezTo>
                <a:cubicBezTo>
                  <a:pt x="46386" y="28155"/>
                  <a:pt x="42662" y="43625"/>
                  <a:pt x="41906" y="60424"/>
                </a:cubicBezTo>
                <a:close/>
                <a:moveTo>
                  <a:pt x="29405" y="60424"/>
                </a:moveTo>
                <a:cubicBezTo>
                  <a:pt x="30316" y="38130"/>
                  <a:pt x="36072" y="17424"/>
                  <a:pt x="44485" y="3829"/>
                </a:cubicBezTo>
                <a:cubicBezTo>
                  <a:pt x="20497" y="12319"/>
                  <a:pt x="2839" y="34171"/>
                  <a:pt x="391" y="60424"/>
                </a:cubicBezTo>
                <a:lnTo>
                  <a:pt x="29405" y="60424"/>
                </a:lnTo>
                <a:close/>
                <a:moveTo>
                  <a:pt x="391" y="72926"/>
                </a:moveTo>
                <a:cubicBezTo>
                  <a:pt x="2839" y="99179"/>
                  <a:pt x="20497" y="121031"/>
                  <a:pt x="44485" y="129521"/>
                </a:cubicBezTo>
                <a:cubicBezTo>
                  <a:pt x="36072" y="115926"/>
                  <a:pt x="30316" y="95220"/>
                  <a:pt x="29405" y="72926"/>
                </a:cubicBezTo>
                <a:lnTo>
                  <a:pt x="391" y="72926"/>
                </a:lnTo>
                <a:close/>
                <a:moveTo>
                  <a:pt x="104154" y="72926"/>
                </a:moveTo>
                <a:cubicBezTo>
                  <a:pt x="103242" y="95220"/>
                  <a:pt x="97486" y="115926"/>
                  <a:pt x="89074" y="129521"/>
                </a:cubicBezTo>
                <a:cubicBezTo>
                  <a:pt x="113061" y="121005"/>
                  <a:pt x="130719" y="99179"/>
                  <a:pt x="133168" y="72926"/>
                </a:cubicBezTo>
                <a:lnTo>
                  <a:pt x="104154" y="72926"/>
                </a:lnTo>
                <a:close/>
                <a:moveTo>
                  <a:pt x="133168" y="60424"/>
                </a:moveTo>
                <a:cubicBezTo>
                  <a:pt x="130719" y="34171"/>
                  <a:pt x="113061" y="12319"/>
                  <a:pt x="89074" y="3829"/>
                </a:cubicBezTo>
                <a:cubicBezTo>
                  <a:pt x="97486" y="17424"/>
                  <a:pt x="103242" y="38130"/>
                  <a:pt x="104154" y="60424"/>
                </a:cubicBezTo>
                <a:lnTo>
                  <a:pt x="133168" y="60424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809625" y="4772025"/>
            <a:ext cx="2181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Untrusted Network</a:t>
            </a:r>
            <a:endParaRPr b="0" i="0" sz="1600" u="none" cap="none" strike="noStrike"/>
          </a:p>
        </p:txBody>
      </p:sp>
      <p:sp>
        <p:nvSpPr>
          <p:cNvPr id="157" name="Google Shape;157;p8"/>
          <p:cNvSpPr/>
          <p:nvPr/>
        </p:nvSpPr>
        <p:spPr>
          <a:xfrm>
            <a:off x="3281363" y="2543175"/>
            <a:ext cx="2733675" cy="2619375"/>
          </a:xfrm>
          <a:custGeom>
            <a:rect b="b" l="l" r="r" t="t"/>
            <a:pathLst>
              <a:path extrusionOk="0" h="2619375" w="2733675">
                <a:moveTo>
                  <a:pt x="76198" y="0"/>
                </a:moveTo>
                <a:lnTo>
                  <a:pt x="2657477" y="0"/>
                </a:lnTo>
                <a:cubicBezTo>
                  <a:pt x="2699560" y="0"/>
                  <a:pt x="2733675" y="34115"/>
                  <a:pt x="2733675" y="76198"/>
                </a:cubicBezTo>
                <a:lnTo>
                  <a:pt x="2733675" y="2543177"/>
                </a:lnTo>
                <a:cubicBezTo>
                  <a:pt x="2733675" y="2585260"/>
                  <a:pt x="2699560" y="2619375"/>
                  <a:pt x="2657477" y="2619375"/>
                </a:cubicBezTo>
                <a:lnTo>
                  <a:pt x="76198" y="2619375"/>
                </a:lnTo>
                <a:cubicBezTo>
                  <a:pt x="34115" y="2619375"/>
                  <a:pt x="0" y="2585260"/>
                  <a:pt x="0" y="25431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5F6B7A">
              <a:alpha val="9803"/>
            </a:srgbClr>
          </a:solidFill>
          <a:ln cap="flat" cmpd="sng" w="12700">
            <a:solidFill>
              <a:srgbClr val="5F6B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3476625" y="2738438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3429000" y="2738438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160" name="Google Shape;160;p8"/>
          <p:cNvSpPr/>
          <p:nvPr/>
        </p:nvSpPr>
        <p:spPr>
          <a:xfrm>
            <a:off x="4048125" y="2833688"/>
            <a:ext cx="1266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DMZ Network</a:t>
            </a:r>
            <a:endParaRPr b="0" i="0" sz="1600" u="none" cap="none" strike="noStrike"/>
          </a:p>
        </p:txBody>
      </p:sp>
      <p:sp>
        <p:nvSpPr>
          <p:cNvPr id="161" name="Google Shape;161;p8"/>
          <p:cNvSpPr/>
          <p:nvPr/>
        </p:nvSpPr>
        <p:spPr>
          <a:xfrm>
            <a:off x="3476625" y="3348038"/>
            <a:ext cx="24193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Demilitarized Zone hosting public-facing web services. Acts as a buffer between external and internal networks.</a:t>
            </a:r>
            <a:endParaRPr b="0" i="0" sz="1600" u="none" cap="none" strike="noStrike"/>
          </a:p>
        </p:txBody>
      </p:sp>
      <p:sp>
        <p:nvSpPr>
          <p:cNvPr id="162" name="Google Shape;162;p8"/>
          <p:cNvSpPr/>
          <p:nvPr/>
        </p:nvSpPr>
        <p:spPr>
          <a:xfrm>
            <a:off x="3476625" y="4614863"/>
            <a:ext cx="2343150" cy="9525"/>
          </a:xfrm>
          <a:custGeom>
            <a:rect b="b" l="l" r="r" t="t"/>
            <a:pathLst>
              <a:path extrusionOk="0" h="9525" w="2343150">
                <a:moveTo>
                  <a:pt x="0" y="0"/>
                </a:moveTo>
                <a:lnTo>
                  <a:pt x="2343150" y="0"/>
                </a:lnTo>
                <a:lnTo>
                  <a:pt x="23431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29803"/>
            </a:srgbClr>
          </a:solidFill>
          <a:ln>
            <a:noFill/>
          </a:ln>
        </p:spPr>
      </p:sp>
      <p:sp>
        <p:nvSpPr>
          <p:cNvPr id="163" name="Google Shape;163;p8"/>
          <p:cNvSpPr/>
          <p:nvPr/>
        </p:nvSpPr>
        <p:spPr>
          <a:xfrm>
            <a:off x="3504009" y="4800600"/>
            <a:ext cx="116681" cy="133350"/>
          </a:xfrm>
          <a:custGeom>
            <a:rect b="b" l="l" r="r" t="t"/>
            <a:pathLst>
              <a:path extrusionOk="0" h="133350" w="116681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41672"/>
                </a:lnTo>
                <a:cubicBezTo>
                  <a:pt x="0" y="50866"/>
                  <a:pt x="7475" y="58341"/>
                  <a:pt x="16669" y="58341"/>
                </a:cubicBezTo>
                <a:lnTo>
                  <a:pt x="100013" y="58341"/>
                </a:lnTo>
                <a:cubicBezTo>
                  <a:pt x="109206" y="58341"/>
                  <a:pt x="116681" y="50866"/>
                  <a:pt x="116681" y="41672"/>
                </a:cubicBezTo>
                <a:lnTo>
                  <a:pt x="116681" y="25003"/>
                </a:lnTo>
                <a:cubicBezTo>
                  <a:pt x="116681" y="15809"/>
                  <a:pt x="109206" y="8334"/>
                  <a:pt x="100013" y="8334"/>
                </a:cubicBezTo>
                <a:lnTo>
                  <a:pt x="16669" y="8334"/>
                </a:lnTo>
                <a:close/>
                <a:moveTo>
                  <a:pt x="72926" y="27087"/>
                </a:moveTo>
                <a:cubicBezTo>
                  <a:pt x="76376" y="27087"/>
                  <a:pt x="79177" y="29888"/>
                  <a:pt x="79177" y="33337"/>
                </a:cubicBezTo>
                <a:cubicBezTo>
                  <a:pt x="79177" y="36787"/>
                  <a:pt x="76376" y="39588"/>
                  <a:pt x="72926" y="39588"/>
                </a:cubicBezTo>
                <a:cubicBezTo>
                  <a:pt x="69476" y="39588"/>
                  <a:pt x="66675" y="36787"/>
                  <a:pt x="66675" y="33337"/>
                </a:cubicBezTo>
                <a:cubicBezTo>
                  <a:pt x="66675" y="29888"/>
                  <a:pt x="69476" y="27087"/>
                  <a:pt x="72926" y="27087"/>
                </a:cubicBezTo>
                <a:close/>
                <a:moveTo>
                  <a:pt x="87511" y="33337"/>
                </a:moveTo>
                <a:cubicBezTo>
                  <a:pt x="87511" y="29888"/>
                  <a:pt x="90312" y="27087"/>
                  <a:pt x="93762" y="27087"/>
                </a:cubicBezTo>
                <a:cubicBezTo>
                  <a:pt x="97212" y="27087"/>
                  <a:pt x="100013" y="29888"/>
                  <a:pt x="100013" y="33337"/>
                </a:cubicBezTo>
                <a:cubicBezTo>
                  <a:pt x="100013" y="36787"/>
                  <a:pt x="97212" y="39588"/>
                  <a:pt x="93762" y="39588"/>
                </a:cubicBezTo>
                <a:cubicBezTo>
                  <a:pt x="90312" y="39588"/>
                  <a:pt x="87511" y="36787"/>
                  <a:pt x="87511" y="33337"/>
                </a:cubicBezTo>
                <a:close/>
                <a:moveTo>
                  <a:pt x="16669" y="75009"/>
                </a:moveTo>
                <a:cubicBezTo>
                  <a:pt x="7475" y="75009"/>
                  <a:pt x="0" y="82484"/>
                  <a:pt x="0" y="91678"/>
                </a:cubicBezTo>
                <a:lnTo>
                  <a:pt x="0" y="108347"/>
                </a:lnTo>
                <a:cubicBezTo>
                  <a:pt x="0" y="117541"/>
                  <a:pt x="7475" y="125016"/>
                  <a:pt x="16669" y="125016"/>
                </a:cubicBezTo>
                <a:lnTo>
                  <a:pt x="100013" y="125016"/>
                </a:lnTo>
                <a:cubicBezTo>
                  <a:pt x="109206" y="125016"/>
                  <a:pt x="116681" y="117541"/>
                  <a:pt x="116681" y="108347"/>
                </a:cubicBezTo>
                <a:lnTo>
                  <a:pt x="116681" y="91678"/>
                </a:lnTo>
                <a:cubicBezTo>
                  <a:pt x="116681" y="82484"/>
                  <a:pt x="109206" y="75009"/>
                  <a:pt x="100013" y="75009"/>
                </a:cubicBezTo>
                <a:lnTo>
                  <a:pt x="16669" y="75009"/>
                </a:lnTo>
                <a:close/>
                <a:moveTo>
                  <a:pt x="72926" y="93762"/>
                </a:moveTo>
                <a:cubicBezTo>
                  <a:pt x="76376" y="93762"/>
                  <a:pt x="79177" y="96563"/>
                  <a:pt x="79177" y="100013"/>
                </a:cubicBezTo>
                <a:cubicBezTo>
                  <a:pt x="79177" y="103462"/>
                  <a:pt x="76376" y="106263"/>
                  <a:pt x="72926" y="106263"/>
                </a:cubicBezTo>
                <a:cubicBezTo>
                  <a:pt x="69476" y="106263"/>
                  <a:pt x="66675" y="103462"/>
                  <a:pt x="66675" y="100013"/>
                </a:cubicBezTo>
                <a:cubicBezTo>
                  <a:pt x="66675" y="96563"/>
                  <a:pt x="69476" y="93762"/>
                  <a:pt x="72926" y="93762"/>
                </a:cubicBezTo>
                <a:close/>
                <a:moveTo>
                  <a:pt x="87511" y="100013"/>
                </a:moveTo>
                <a:cubicBezTo>
                  <a:pt x="87511" y="96563"/>
                  <a:pt x="90312" y="93762"/>
                  <a:pt x="93762" y="93762"/>
                </a:cubicBezTo>
                <a:cubicBezTo>
                  <a:pt x="97212" y="93762"/>
                  <a:pt x="100013" y="96563"/>
                  <a:pt x="100013" y="100013"/>
                </a:cubicBezTo>
                <a:cubicBezTo>
                  <a:pt x="100013" y="103462"/>
                  <a:pt x="97212" y="106263"/>
                  <a:pt x="93762" y="106263"/>
                </a:cubicBezTo>
                <a:cubicBezTo>
                  <a:pt x="90312" y="106263"/>
                  <a:pt x="87511" y="103462"/>
                  <a:pt x="87511" y="100013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3705225" y="4772025"/>
            <a:ext cx="2181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 Frontend</a:t>
            </a:r>
            <a:endParaRPr b="0" i="0" sz="1600" u="none" cap="none" strike="noStrike"/>
          </a:p>
        </p:txBody>
      </p:sp>
      <p:sp>
        <p:nvSpPr>
          <p:cNvPr id="165" name="Google Shape;165;p8"/>
          <p:cNvSpPr/>
          <p:nvPr/>
        </p:nvSpPr>
        <p:spPr>
          <a:xfrm>
            <a:off x="6176963" y="2543175"/>
            <a:ext cx="2733675" cy="2619375"/>
          </a:xfrm>
          <a:custGeom>
            <a:rect b="b" l="l" r="r" t="t"/>
            <a:pathLst>
              <a:path extrusionOk="0" h="2619375" w="2733675">
                <a:moveTo>
                  <a:pt x="76198" y="0"/>
                </a:moveTo>
                <a:lnTo>
                  <a:pt x="2657477" y="0"/>
                </a:lnTo>
                <a:cubicBezTo>
                  <a:pt x="2699560" y="0"/>
                  <a:pt x="2733675" y="34115"/>
                  <a:pt x="2733675" y="76198"/>
                </a:cubicBezTo>
                <a:lnTo>
                  <a:pt x="2733675" y="2543177"/>
                </a:lnTo>
                <a:cubicBezTo>
                  <a:pt x="2733675" y="2585260"/>
                  <a:pt x="2699560" y="2619375"/>
                  <a:pt x="2657477" y="2619375"/>
                </a:cubicBezTo>
                <a:lnTo>
                  <a:pt x="76198" y="2619375"/>
                </a:lnTo>
                <a:cubicBezTo>
                  <a:pt x="34115" y="2619375"/>
                  <a:pt x="0" y="2585260"/>
                  <a:pt x="0" y="25431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9A86A">
              <a:alpha val="9803"/>
            </a:srgbClr>
          </a:solidFill>
          <a:ln cap="flat" cmpd="sng" w="12700">
            <a:solidFill>
              <a:srgbClr val="C9A86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6372225" y="2738438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6324600" y="2738438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168" name="Google Shape;168;p8"/>
          <p:cNvSpPr/>
          <p:nvPr/>
        </p:nvSpPr>
        <p:spPr>
          <a:xfrm>
            <a:off x="6943725" y="2833688"/>
            <a:ext cx="1485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Internal Network</a:t>
            </a:r>
            <a:endParaRPr b="0" i="0" sz="1600" u="none" cap="none" strike="noStrike"/>
          </a:p>
        </p:txBody>
      </p:sp>
      <p:sp>
        <p:nvSpPr>
          <p:cNvPr id="169" name="Google Shape;169;p8"/>
          <p:cNvSpPr/>
          <p:nvPr/>
        </p:nvSpPr>
        <p:spPr>
          <a:xfrm>
            <a:off x="6372225" y="3348038"/>
            <a:ext cx="24193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Protected zone containing sensitive data and critical assets. No direct internet access allowed.</a:t>
            </a:r>
            <a:endParaRPr b="0" i="0" sz="1600" u="none" cap="none" strike="noStrike"/>
          </a:p>
        </p:txBody>
      </p:sp>
      <p:sp>
        <p:nvSpPr>
          <p:cNvPr id="170" name="Google Shape;170;p8"/>
          <p:cNvSpPr/>
          <p:nvPr/>
        </p:nvSpPr>
        <p:spPr>
          <a:xfrm>
            <a:off x="6372225" y="4614863"/>
            <a:ext cx="2343150" cy="9525"/>
          </a:xfrm>
          <a:custGeom>
            <a:rect b="b" l="l" r="r" t="t"/>
            <a:pathLst>
              <a:path extrusionOk="0" h="9525" w="2343150">
                <a:moveTo>
                  <a:pt x="0" y="0"/>
                </a:moveTo>
                <a:lnTo>
                  <a:pt x="2343150" y="0"/>
                </a:lnTo>
                <a:lnTo>
                  <a:pt x="23431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29803"/>
            </a:srgbClr>
          </a:solidFill>
          <a:ln>
            <a:noFill/>
          </a:ln>
        </p:spPr>
      </p:sp>
      <p:sp>
        <p:nvSpPr>
          <p:cNvPr id="171" name="Google Shape;171;p8"/>
          <p:cNvSpPr/>
          <p:nvPr/>
        </p:nvSpPr>
        <p:spPr>
          <a:xfrm>
            <a:off x="6399609" y="4800600"/>
            <a:ext cx="116681" cy="133350"/>
          </a:xfrm>
          <a:custGeom>
            <a:rect b="b" l="l" r="r" t="t"/>
            <a:pathLst>
              <a:path extrusionOk="0" h="133350" w="116681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600825" y="4772025"/>
            <a:ext cx="2181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Database Server</a:t>
            </a:r>
            <a:endParaRPr b="0" i="0" sz="1600" u="none" cap="none" strike="noStrike"/>
          </a:p>
        </p:txBody>
      </p:sp>
      <p:sp>
        <p:nvSpPr>
          <p:cNvPr id="173" name="Google Shape;173;p8"/>
          <p:cNvSpPr/>
          <p:nvPr/>
        </p:nvSpPr>
        <p:spPr>
          <a:xfrm>
            <a:off x="9072563" y="2543175"/>
            <a:ext cx="2733675" cy="2619375"/>
          </a:xfrm>
          <a:custGeom>
            <a:rect b="b" l="l" r="r" t="t"/>
            <a:pathLst>
              <a:path extrusionOk="0" h="2619375" w="2733675">
                <a:moveTo>
                  <a:pt x="76198" y="0"/>
                </a:moveTo>
                <a:lnTo>
                  <a:pt x="2657477" y="0"/>
                </a:lnTo>
                <a:cubicBezTo>
                  <a:pt x="2699560" y="0"/>
                  <a:pt x="2733675" y="34115"/>
                  <a:pt x="2733675" y="76198"/>
                </a:cubicBezTo>
                <a:lnTo>
                  <a:pt x="2733675" y="2543177"/>
                </a:lnTo>
                <a:cubicBezTo>
                  <a:pt x="2733675" y="2585260"/>
                  <a:pt x="2699560" y="2619375"/>
                  <a:pt x="2657477" y="2619375"/>
                </a:cubicBezTo>
                <a:lnTo>
                  <a:pt x="76198" y="2619375"/>
                </a:lnTo>
                <a:cubicBezTo>
                  <a:pt x="34115" y="2619375"/>
                  <a:pt x="0" y="2585260"/>
                  <a:pt x="0" y="25431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4A6D8C">
              <a:alpha val="9803"/>
            </a:srgbClr>
          </a:solidFill>
          <a:ln cap="flat" cmpd="sng" w="12700">
            <a:solidFill>
              <a:srgbClr val="4A6D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9267825" y="2738438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9220200" y="2738438"/>
            <a:ext cx="552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176" name="Google Shape;176;p8"/>
          <p:cNvSpPr/>
          <p:nvPr/>
        </p:nvSpPr>
        <p:spPr>
          <a:xfrm>
            <a:off x="9839325" y="2833688"/>
            <a:ext cx="1257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Security Zone</a:t>
            </a:r>
            <a:endParaRPr b="0" i="0" sz="1600" u="none" cap="none" strike="noStrike"/>
          </a:p>
        </p:txBody>
      </p:sp>
      <p:sp>
        <p:nvSpPr>
          <p:cNvPr id="177" name="Google Shape;177;p8"/>
          <p:cNvSpPr/>
          <p:nvPr/>
        </p:nvSpPr>
        <p:spPr>
          <a:xfrm>
            <a:off x="9267825" y="3348038"/>
            <a:ext cx="241935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Dedicated monitoring infrastructure housing IDS sensors and SIEM platform for centralized security analysis.</a:t>
            </a:r>
            <a:endParaRPr b="0" i="0" sz="1600" u="none" cap="none" strike="noStrike"/>
          </a:p>
        </p:txBody>
      </p:sp>
      <p:sp>
        <p:nvSpPr>
          <p:cNvPr id="178" name="Google Shape;178;p8"/>
          <p:cNvSpPr/>
          <p:nvPr/>
        </p:nvSpPr>
        <p:spPr>
          <a:xfrm>
            <a:off x="9267825" y="4614863"/>
            <a:ext cx="2343150" cy="9525"/>
          </a:xfrm>
          <a:custGeom>
            <a:rect b="b" l="l" r="r" t="t"/>
            <a:pathLst>
              <a:path extrusionOk="0" h="9525" w="2343150">
                <a:moveTo>
                  <a:pt x="0" y="0"/>
                </a:moveTo>
                <a:lnTo>
                  <a:pt x="2343150" y="0"/>
                </a:lnTo>
                <a:lnTo>
                  <a:pt x="23431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9803"/>
            </a:srgbClr>
          </a:solidFill>
          <a:ln>
            <a:noFill/>
          </a:ln>
        </p:spPr>
      </p:sp>
      <p:sp>
        <p:nvSpPr>
          <p:cNvPr id="179" name="Google Shape;179;p8"/>
          <p:cNvSpPr/>
          <p:nvPr/>
        </p:nvSpPr>
        <p:spPr>
          <a:xfrm>
            <a:off x="9278541" y="4800600"/>
            <a:ext cx="150019" cy="133350"/>
          </a:xfrm>
          <a:custGeom>
            <a:rect b="b" l="l" r="r" t="t"/>
            <a:pathLst>
              <a:path extrusionOk="0" h="133350" w="150019">
                <a:moveTo>
                  <a:pt x="75009" y="8334"/>
                </a:moveTo>
                <a:cubicBezTo>
                  <a:pt x="53965" y="8334"/>
                  <a:pt x="37114" y="17919"/>
                  <a:pt x="24847" y="29327"/>
                </a:cubicBezTo>
                <a:cubicBezTo>
                  <a:pt x="12658" y="40656"/>
                  <a:pt x="4506" y="54173"/>
                  <a:pt x="625" y="63471"/>
                </a:cubicBezTo>
                <a:cubicBezTo>
                  <a:pt x="-234" y="65529"/>
                  <a:pt x="-234" y="67821"/>
                  <a:pt x="625" y="69879"/>
                </a:cubicBezTo>
                <a:cubicBezTo>
                  <a:pt x="4506" y="79177"/>
                  <a:pt x="12658" y="92720"/>
                  <a:pt x="24847" y="104023"/>
                </a:cubicBezTo>
                <a:cubicBezTo>
                  <a:pt x="37114" y="115405"/>
                  <a:pt x="53965" y="125016"/>
                  <a:pt x="75009" y="125016"/>
                </a:cubicBezTo>
                <a:cubicBezTo>
                  <a:pt x="96054" y="125016"/>
                  <a:pt x="112905" y="115431"/>
                  <a:pt x="125172" y="104023"/>
                </a:cubicBezTo>
                <a:cubicBezTo>
                  <a:pt x="137361" y="92694"/>
                  <a:pt x="145513" y="79177"/>
                  <a:pt x="149394" y="69879"/>
                </a:cubicBezTo>
                <a:cubicBezTo>
                  <a:pt x="150253" y="67821"/>
                  <a:pt x="150253" y="65529"/>
                  <a:pt x="149394" y="63471"/>
                </a:cubicBezTo>
                <a:cubicBezTo>
                  <a:pt x="145513" y="54173"/>
                  <a:pt x="137361" y="40630"/>
                  <a:pt x="125172" y="29327"/>
                </a:cubicBezTo>
                <a:cubicBezTo>
                  <a:pt x="112905" y="17945"/>
                  <a:pt x="96054" y="8334"/>
                  <a:pt x="75009" y="8334"/>
                </a:cubicBezTo>
                <a:close/>
                <a:moveTo>
                  <a:pt x="37505" y="66675"/>
                </a:moveTo>
                <a:cubicBezTo>
                  <a:pt x="37505" y="45976"/>
                  <a:pt x="54310" y="29170"/>
                  <a:pt x="75009" y="29170"/>
                </a:cubicBezTo>
                <a:cubicBezTo>
                  <a:pt x="95709" y="29170"/>
                  <a:pt x="112514" y="45976"/>
                  <a:pt x="112514" y="66675"/>
                </a:cubicBezTo>
                <a:cubicBezTo>
                  <a:pt x="112514" y="87374"/>
                  <a:pt x="95709" y="104180"/>
                  <a:pt x="75009" y="104180"/>
                </a:cubicBezTo>
                <a:cubicBezTo>
                  <a:pt x="54310" y="104180"/>
                  <a:pt x="37505" y="87374"/>
                  <a:pt x="37505" y="66675"/>
                </a:cubicBezTo>
                <a:close/>
                <a:moveTo>
                  <a:pt x="75009" y="50006"/>
                </a:moveTo>
                <a:cubicBezTo>
                  <a:pt x="75009" y="59200"/>
                  <a:pt x="67534" y="66675"/>
                  <a:pt x="58341" y="66675"/>
                </a:cubicBezTo>
                <a:cubicBezTo>
                  <a:pt x="55345" y="66675"/>
                  <a:pt x="52533" y="65894"/>
                  <a:pt x="50084" y="64487"/>
                </a:cubicBezTo>
                <a:cubicBezTo>
                  <a:pt x="49824" y="67326"/>
                  <a:pt x="50058" y="70243"/>
                  <a:pt x="50840" y="73134"/>
                </a:cubicBezTo>
                <a:cubicBezTo>
                  <a:pt x="54408" y="86469"/>
                  <a:pt x="68134" y="94387"/>
                  <a:pt x="81469" y="90819"/>
                </a:cubicBezTo>
                <a:cubicBezTo>
                  <a:pt x="94804" y="87250"/>
                  <a:pt x="102721" y="73525"/>
                  <a:pt x="99153" y="60190"/>
                </a:cubicBezTo>
                <a:cubicBezTo>
                  <a:pt x="95976" y="48287"/>
                  <a:pt x="84698" y="40708"/>
                  <a:pt x="72822" y="41750"/>
                </a:cubicBezTo>
                <a:cubicBezTo>
                  <a:pt x="74202" y="44172"/>
                  <a:pt x="75009" y="46985"/>
                  <a:pt x="75009" y="50006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9496425" y="4772025"/>
            <a:ext cx="21812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IDS &amp; SIEM</a:t>
            </a:r>
            <a:endParaRPr b="0" i="0" sz="1600" u="none" cap="none" strike="noStrike"/>
          </a:p>
        </p:txBody>
      </p:sp>
      <p:sp>
        <p:nvSpPr>
          <p:cNvPr id="181" name="Google Shape;181;p8"/>
          <p:cNvSpPr/>
          <p:nvPr/>
        </p:nvSpPr>
        <p:spPr>
          <a:xfrm>
            <a:off x="385763" y="5357813"/>
            <a:ext cx="3695700" cy="1114425"/>
          </a:xfrm>
          <a:custGeom>
            <a:rect b="b" l="l" r="r" t="t"/>
            <a:pathLst>
              <a:path extrusionOk="0" h="1114425" w="3695700">
                <a:moveTo>
                  <a:pt x="76204" y="0"/>
                </a:moveTo>
                <a:lnTo>
                  <a:pt x="3619496" y="0"/>
                </a:lnTo>
                <a:cubicBezTo>
                  <a:pt x="3661582" y="0"/>
                  <a:pt x="3695700" y="34118"/>
                  <a:pt x="3695700" y="76204"/>
                </a:cubicBezTo>
                <a:lnTo>
                  <a:pt x="3695700" y="1038221"/>
                </a:lnTo>
                <a:cubicBezTo>
                  <a:pt x="3695700" y="1080307"/>
                  <a:pt x="3661582" y="1114425"/>
                  <a:pt x="3619496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5F6B7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566738" y="5553075"/>
            <a:ext cx="190500" cy="190500"/>
          </a:xfrm>
          <a:custGeom>
            <a:rect b="b" l="l" r="r" t="t"/>
            <a:pathLst>
              <a:path extrusionOk="0" h="190500" w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895350" y="5514975"/>
            <a:ext cx="1828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Network Segmentation</a:t>
            </a:r>
            <a:endParaRPr b="0" i="0" sz="1600" u="none" cap="none" strike="noStrike"/>
          </a:p>
        </p:txBody>
      </p:sp>
      <p:sp>
        <p:nvSpPr>
          <p:cNvPr id="184" name="Google Shape;184;p8"/>
          <p:cNvSpPr/>
          <p:nvPr/>
        </p:nvSpPr>
        <p:spPr>
          <a:xfrm>
            <a:off x="542925" y="5857875"/>
            <a:ext cx="3457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Isolates public-facing services and limits lateral movement of threats</a:t>
            </a:r>
            <a:endParaRPr b="0" i="0" sz="1600" u="none" cap="none" strike="noStrike"/>
          </a:p>
        </p:txBody>
      </p:sp>
      <p:sp>
        <p:nvSpPr>
          <p:cNvPr id="185" name="Google Shape;185;p8"/>
          <p:cNvSpPr/>
          <p:nvPr/>
        </p:nvSpPr>
        <p:spPr>
          <a:xfrm>
            <a:off x="4246513" y="5357813"/>
            <a:ext cx="3695700" cy="1114425"/>
          </a:xfrm>
          <a:custGeom>
            <a:rect b="b" l="l" r="r" t="t"/>
            <a:pathLst>
              <a:path extrusionOk="0" h="1114425" w="3695700">
                <a:moveTo>
                  <a:pt x="76204" y="0"/>
                </a:moveTo>
                <a:lnTo>
                  <a:pt x="3619496" y="0"/>
                </a:lnTo>
                <a:cubicBezTo>
                  <a:pt x="3661582" y="0"/>
                  <a:pt x="3695700" y="34118"/>
                  <a:pt x="3695700" y="76204"/>
                </a:cubicBezTo>
                <a:lnTo>
                  <a:pt x="3695700" y="1038221"/>
                </a:lnTo>
                <a:cubicBezTo>
                  <a:pt x="3695700" y="1080307"/>
                  <a:pt x="3661582" y="1114425"/>
                  <a:pt x="3619496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5F6B7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4427488" y="5553075"/>
            <a:ext cx="190500" cy="190500"/>
          </a:xfrm>
          <a:custGeom>
            <a:rect b="b" l="l" r="r" t="t"/>
            <a:pathLst>
              <a:path extrusionOk="0" h="190500" w="190500">
                <a:moveTo>
                  <a:pt x="154781" y="77391"/>
                </a:moveTo>
                <a:cubicBezTo>
                  <a:pt x="154781" y="94469"/>
                  <a:pt x="149237" y="110244"/>
                  <a:pt x="139898" y="123044"/>
                </a:cubicBezTo>
                <a:lnTo>
                  <a:pt x="187003" y="170185"/>
                </a:lnTo>
                <a:cubicBezTo>
                  <a:pt x="191653" y="174836"/>
                  <a:pt x="191653" y="182389"/>
                  <a:pt x="187003" y="187040"/>
                </a:cubicBezTo>
                <a:cubicBezTo>
                  <a:pt x="182352" y="191691"/>
                  <a:pt x="174799" y="191691"/>
                  <a:pt x="170148" y="187040"/>
                </a:cubicBezTo>
                <a:lnTo>
                  <a:pt x="123044" y="139898"/>
                </a:lnTo>
                <a:cubicBezTo>
                  <a:pt x="110244" y="149237"/>
                  <a:pt x="94469" y="154781"/>
                  <a:pt x="77391" y="154781"/>
                </a:cubicBezTo>
                <a:cubicBezTo>
                  <a:pt x="34640" y="154781"/>
                  <a:pt x="0" y="120142"/>
                  <a:pt x="0" y="77391"/>
                </a:cubicBezTo>
                <a:cubicBezTo>
                  <a:pt x="0" y="34640"/>
                  <a:pt x="34640" y="0"/>
                  <a:pt x="77391" y="0"/>
                </a:cubicBezTo>
                <a:cubicBezTo>
                  <a:pt x="120142" y="0"/>
                  <a:pt x="154781" y="34640"/>
                  <a:pt x="154781" y="77391"/>
                </a:cubicBezTo>
                <a:close/>
                <a:moveTo>
                  <a:pt x="77391" y="130969"/>
                </a:moveTo>
                <a:cubicBezTo>
                  <a:pt x="106961" y="130969"/>
                  <a:pt x="130969" y="106961"/>
                  <a:pt x="130969" y="77391"/>
                </a:cubicBezTo>
                <a:cubicBezTo>
                  <a:pt x="130969" y="47820"/>
                  <a:pt x="106961" y="23812"/>
                  <a:pt x="77391" y="23812"/>
                </a:cubicBezTo>
                <a:cubicBezTo>
                  <a:pt x="47820" y="23812"/>
                  <a:pt x="23813" y="47820"/>
                  <a:pt x="23812" y="77391"/>
                </a:cubicBezTo>
                <a:cubicBezTo>
                  <a:pt x="23812" y="106961"/>
                  <a:pt x="47820" y="130969"/>
                  <a:pt x="77391" y="130969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756100" y="5514975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IDS Monitoring</a:t>
            </a:r>
            <a:endParaRPr b="0" i="0" sz="1600" u="none" cap="none" strike="noStrike"/>
          </a:p>
        </p:txBody>
      </p:sp>
      <p:sp>
        <p:nvSpPr>
          <p:cNvPr id="188" name="Google Shape;188;p8"/>
          <p:cNvSpPr/>
          <p:nvPr/>
        </p:nvSpPr>
        <p:spPr>
          <a:xfrm>
            <a:off x="4403675" y="5857875"/>
            <a:ext cx="3457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Monitors inter-zone traffic for scans, DoS, and application-layer attacks</a:t>
            </a:r>
            <a:endParaRPr b="0" i="0" sz="1600" u="none" cap="none" strike="noStrike"/>
          </a:p>
        </p:txBody>
      </p:sp>
      <p:sp>
        <p:nvSpPr>
          <p:cNvPr id="189" name="Google Shape;189;p8"/>
          <p:cNvSpPr/>
          <p:nvPr/>
        </p:nvSpPr>
        <p:spPr>
          <a:xfrm>
            <a:off x="8107263" y="5357813"/>
            <a:ext cx="3695700" cy="1114425"/>
          </a:xfrm>
          <a:custGeom>
            <a:rect b="b" l="l" r="r" t="t"/>
            <a:pathLst>
              <a:path extrusionOk="0" h="1114425" w="3695700">
                <a:moveTo>
                  <a:pt x="76204" y="0"/>
                </a:moveTo>
                <a:lnTo>
                  <a:pt x="3619496" y="0"/>
                </a:lnTo>
                <a:cubicBezTo>
                  <a:pt x="3661582" y="0"/>
                  <a:pt x="3695700" y="34118"/>
                  <a:pt x="3695700" y="76204"/>
                </a:cubicBezTo>
                <a:lnTo>
                  <a:pt x="3695700" y="1038221"/>
                </a:lnTo>
                <a:cubicBezTo>
                  <a:pt x="3695700" y="1080307"/>
                  <a:pt x="3661582" y="1114425"/>
                  <a:pt x="3619496" y="1114425"/>
                </a:cubicBezTo>
                <a:lnTo>
                  <a:pt x="76204" y="1114425"/>
                </a:lnTo>
                <a:cubicBezTo>
                  <a:pt x="34118" y="1114425"/>
                  <a:pt x="0" y="1080307"/>
                  <a:pt x="0" y="10382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5F6B7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8288238" y="5553075"/>
            <a:ext cx="190500" cy="190500"/>
          </a:xfrm>
          <a:custGeom>
            <a:rect b="b" l="l" r="r" t="t"/>
            <a:pathLst>
              <a:path extrusionOk="0" h="190500" w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8616851" y="5514975"/>
            <a:ext cx="1362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SIEM Correlation</a:t>
            </a:r>
            <a:endParaRPr b="0" i="0" sz="1600" u="none" cap="none" strike="noStrike"/>
          </a:p>
        </p:txBody>
      </p:sp>
      <p:sp>
        <p:nvSpPr>
          <p:cNvPr id="192" name="Google Shape;192;p8"/>
          <p:cNvSpPr/>
          <p:nvPr/>
        </p:nvSpPr>
        <p:spPr>
          <a:xfrm>
            <a:off x="8264426" y="5857875"/>
            <a:ext cx="34575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Centrally collects and correlates system, application, and security logs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Architecture</a:t>
            </a:r>
            <a:endParaRPr b="0" i="0" sz="1600" u="none" cap="none" strike="noStrike"/>
          </a:p>
        </p:txBody>
      </p:sp>
      <p:sp>
        <p:nvSpPr>
          <p:cNvPr id="199" name="Google Shape;199;p9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Defense-in-Depth Design</a:t>
            </a:r>
            <a:endParaRPr b="0" i="0" sz="1600" u="none" cap="none" strike="noStrike"/>
          </a:p>
        </p:txBody>
      </p:sp>
      <p:sp>
        <p:nvSpPr>
          <p:cNvPr id="200" name="Google Shape;200;p9"/>
          <p:cNvSpPr/>
          <p:nvPr/>
        </p:nvSpPr>
        <p:spPr>
          <a:xfrm>
            <a:off x="390525" y="1304925"/>
            <a:ext cx="6705600" cy="962025"/>
          </a:xfrm>
          <a:custGeom>
            <a:rect b="b" l="l" r="r" t="t"/>
            <a:pathLst>
              <a:path extrusionOk="0" h="962025" w="6705600">
                <a:moveTo>
                  <a:pt x="76202" y="0"/>
                </a:moveTo>
                <a:lnTo>
                  <a:pt x="6629398" y="0"/>
                </a:lnTo>
                <a:cubicBezTo>
                  <a:pt x="6671455" y="0"/>
                  <a:pt x="6705600" y="34145"/>
                  <a:pt x="6705600" y="76202"/>
                </a:cubicBezTo>
                <a:lnTo>
                  <a:pt x="6705600" y="885823"/>
                </a:lnTo>
                <a:cubicBezTo>
                  <a:pt x="6705600" y="927880"/>
                  <a:pt x="6671455" y="962025"/>
                  <a:pt x="6629398" y="962025"/>
                </a:cubicBezTo>
                <a:lnTo>
                  <a:pt x="76202" y="962025"/>
                </a:lnTo>
                <a:cubicBezTo>
                  <a:pt x="34145" y="962025"/>
                  <a:pt x="0" y="927880"/>
                  <a:pt x="0" y="885823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>
              <a:alpha val="14901"/>
            </a:srgbClr>
          </a:solidFill>
          <a:ln cap="flat" cmpd="sng" w="25400">
            <a:solidFill>
              <a:srgbClr val="4A6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590550" y="1504950"/>
            <a:ext cx="639127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architecture implements </a:t>
            </a:r>
            <a:r>
              <a:rPr b="1" i="0" lang="en-US" sz="13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defense-in-depth</a:t>
            </a: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</a:t>
            </a:r>
            <a:r>
              <a:rPr b="1" i="0" lang="en-US" sz="13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isolation</a:t>
            </a: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principles through strategic zoning and traffic control mechanisms.</a:t>
            </a:r>
            <a:endParaRPr b="0" i="0" sz="1600" u="none" cap="none" strike="noStrike"/>
          </a:p>
        </p:txBody>
      </p:sp>
      <p:sp>
        <p:nvSpPr>
          <p:cNvPr id="202" name="Google Shape;202;p9"/>
          <p:cNvSpPr/>
          <p:nvPr/>
        </p:nvSpPr>
        <p:spPr>
          <a:xfrm>
            <a:off x="385763" y="2428875"/>
            <a:ext cx="6715125" cy="4086225"/>
          </a:xfrm>
          <a:custGeom>
            <a:rect b="b" l="l" r="r" t="t"/>
            <a:pathLst>
              <a:path extrusionOk="0" h="4086225" w="6715125">
                <a:moveTo>
                  <a:pt x="76208" y="0"/>
                </a:moveTo>
                <a:lnTo>
                  <a:pt x="6638917" y="0"/>
                </a:lnTo>
                <a:cubicBezTo>
                  <a:pt x="6681005" y="0"/>
                  <a:pt x="6715125" y="34120"/>
                  <a:pt x="6715125" y="76208"/>
                </a:cubicBezTo>
                <a:lnTo>
                  <a:pt x="6715125" y="4010017"/>
                </a:lnTo>
                <a:cubicBezTo>
                  <a:pt x="6715125" y="4052105"/>
                  <a:pt x="6681005" y="4086225"/>
                  <a:pt x="6638917" y="4086225"/>
                </a:cubicBezTo>
                <a:lnTo>
                  <a:pt x="76208" y="4086225"/>
                </a:lnTo>
                <a:cubicBezTo>
                  <a:pt x="34120" y="4086225"/>
                  <a:pt x="0" y="4052105"/>
                  <a:pt x="0" y="4010017"/>
                </a:cubicBezTo>
                <a:lnTo>
                  <a:pt x="0" y="76208"/>
                </a:lnTo>
                <a:cubicBezTo>
                  <a:pt x="0" y="34120"/>
                  <a:pt x="34120" y="0"/>
                  <a:pt x="76208" y="0"/>
                </a:cubicBezTo>
                <a:close/>
              </a:path>
            </a:pathLst>
          </a:custGeom>
          <a:solidFill>
            <a:srgbClr val="1A1D21"/>
          </a:solidFill>
          <a:ln cap="flat" cmpd="sng" w="12700">
            <a:solidFill>
              <a:srgbClr val="5F6B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https://kimi-img.moonshot.cn/pub/slides/26-02-04-18:54:11-d61iakp40tj94kf4ure0.png" id="203" name="Google Shape;20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2624138"/>
            <a:ext cx="6324600" cy="36957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04" name="Google Shape;204;p9"/>
          <p:cNvSpPr/>
          <p:nvPr/>
        </p:nvSpPr>
        <p:spPr>
          <a:xfrm>
            <a:off x="7353300" y="1295400"/>
            <a:ext cx="4457700" cy="1104900"/>
          </a:xfrm>
          <a:custGeom>
            <a:rect b="b" l="l" r="r" t="t"/>
            <a:pathLst>
              <a:path extrusionOk="0" h="1104900" w="4457700">
                <a:moveTo>
                  <a:pt x="0" y="0"/>
                </a:moveTo>
                <a:lnTo>
                  <a:pt x="4381495" y="0"/>
                </a:lnTo>
                <a:cubicBezTo>
                  <a:pt x="4423582" y="0"/>
                  <a:pt x="4457700" y="34118"/>
                  <a:pt x="4457700" y="76205"/>
                </a:cubicBezTo>
                <a:lnTo>
                  <a:pt x="4457700" y="1028695"/>
                </a:lnTo>
                <a:cubicBezTo>
                  <a:pt x="4457700" y="1070782"/>
                  <a:pt x="4423582" y="1104900"/>
                  <a:pt x="4381495" y="1104900"/>
                </a:cubicBez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7353300" y="1295400"/>
            <a:ext cx="38100" cy="1104900"/>
          </a:xfrm>
          <a:custGeom>
            <a:rect b="b" l="l" r="r" t="t"/>
            <a:pathLst>
              <a:path extrusionOk="0" h="1104900" w="38100">
                <a:moveTo>
                  <a:pt x="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0" y="11049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>
            <a:noFill/>
          </a:ln>
        </p:spPr>
      </p:sp>
      <p:sp>
        <p:nvSpPr>
          <p:cNvPr id="206" name="Google Shape;206;p9"/>
          <p:cNvSpPr/>
          <p:nvPr/>
        </p:nvSpPr>
        <p:spPr>
          <a:xfrm>
            <a:off x="7559278" y="1495425"/>
            <a:ext cx="150019" cy="171450"/>
          </a:xfrm>
          <a:custGeom>
            <a:rect b="b" l="l" r="r" t="t"/>
            <a:pathLst>
              <a:path extrusionOk="0" h="171450" w="150019">
                <a:moveTo>
                  <a:pt x="53746" y="-8840"/>
                </a:moveTo>
                <a:cubicBezTo>
                  <a:pt x="56860" y="-11452"/>
                  <a:pt x="61447" y="-11352"/>
                  <a:pt x="64428" y="-8539"/>
                </a:cubicBezTo>
                <a:cubicBezTo>
                  <a:pt x="68547" y="-4655"/>
                  <a:pt x="72230" y="-368"/>
                  <a:pt x="75780" y="3985"/>
                </a:cubicBezTo>
                <a:cubicBezTo>
                  <a:pt x="80300" y="9510"/>
                  <a:pt x="85725" y="16810"/>
                  <a:pt x="90949" y="25483"/>
                </a:cubicBezTo>
                <a:cubicBezTo>
                  <a:pt x="92690" y="23206"/>
                  <a:pt x="94298" y="21197"/>
                  <a:pt x="95704" y="19489"/>
                </a:cubicBezTo>
                <a:cubicBezTo>
                  <a:pt x="96072" y="19054"/>
                  <a:pt x="96441" y="18585"/>
                  <a:pt x="96809" y="18116"/>
                </a:cubicBezTo>
                <a:cubicBezTo>
                  <a:pt x="99454" y="14834"/>
                  <a:pt x="102736" y="10716"/>
                  <a:pt x="107123" y="10716"/>
                </a:cubicBezTo>
                <a:cubicBezTo>
                  <a:pt x="111610" y="10716"/>
                  <a:pt x="114758" y="14700"/>
                  <a:pt x="117437" y="18116"/>
                </a:cubicBezTo>
                <a:cubicBezTo>
                  <a:pt x="117872" y="18685"/>
                  <a:pt x="118307" y="19221"/>
                  <a:pt x="118743" y="19723"/>
                </a:cubicBezTo>
                <a:cubicBezTo>
                  <a:pt x="122192" y="23876"/>
                  <a:pt x="126779" y="29870"/>
                  <a:pt x="131367" y="37270"/>
                </a:cubicBezTo>
                <a:cubicBezTo>
                  <a:pt x="140475" y="51971"/>
                  <a:pt x="149985" y="72900"/>
                  <a:pt x="149985" y="96407"/>
                </a:cubicBezTo>
                <a:cubicBezTo>
                  <a:pt x="149985" y="137830"/>
                  <a:pt x="116398" y="171417"/>
                  <a:pt x="74976" y="171417"/>
                </a:cubicBezTo>
                <a:cubicBezTo>
                  <a:pt x="33553" y="171417"/>
                  <a:pt x="0" y="137863"/>
                  <a:pt x="0" y="96441"/>
                </a:cubicBezTo>
                <a:cubicBezTo>
                  <a:pt x="0" y="65935"/>
                  <a:pt x="13763" y="39514"/>
                  <a:pt x="26956" y="21096"/>
                </a:cubicBezTo>
                <a:cubicBezTo>
                  <a:pt x="33620" y="11821"/>
                  <a:pt x="40251" y="4387"/>
                  <a:pt x="45240" y="-703"/>
                </a:cubicBezTo>
                <a:cubicBezTo>
                  <a:pt x="47986" y="-3516"/>
                  <a:pt x="50765" y="-6295"/>
                  <a:pt x="53779" y="-8807"/>
                </a:cubicBezTo>
                <a:close/>
                <a:moveTo>
                  <a:pt x="75579" y="139303"/>
                </a:moveTo>
                <a:cubicBezTo>
                  <a:pt x="84051" y="139303"/>
                  <a:pt x="91552" y="136959"/>
                  <a:pt x="98617" y="132271"/>
                </a:cubicBezTo>
                <a:cubicBezTo>
                  <a:pt x="112715" y="122426"/>
                  <a:pt x="116499" y="102736"/>
                  <a:pt x="108027" y="87265"/>
                </a:cubicBezTo>
                <a:cubicBezTo>
                  <a:pt x="106520" y="84252"/>
                  <a:pt x="102669" y="84051"/>
                  <a:pt x="100492" y="86596"/>
                </a:cubicBezTo>
                <a:lnTo>
                  <a:pt x="92054" y="96407"/>
                </a:lnTo>
                <a:cubicBezTo>
                  <a:pt x="89844" y="98952"/>
                  <a:pt x="85859" y="98885"/>
                  <a:pt x="83783" y="96240"/>
                </a:cubicBezTo>
                <a:cubicBezTo>
                  <a:pt x="77990" y="88839"/>
                  <a:pt x="67341" y="75344"/>
                  <a:pt x="61916" y="68446"/>
                </a:cubicBezTo>
                <a:cubicBezTo>
                  <a:pt x="60108" y="66135"/>
                  <a:pt x="56826" y="65767"/>
                  <a:pt x="54717" y="67810"/>
                </a:cubicBezTo>
                <a:cubicBezTo>
                  <a:pt x="48589" y="73770"/>
                  <a:pt x="37471" y="86830"/>
                  <a:pt x="37471" y="102736"/>
                </a:cubicBezTo>
                <a:cubicBezTo>
                  <a:pt x="37471" y="125708"/>
                  <a:pt x="54415" y="139303"/>
                  <a:pt x="75545" y="139303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7853362" y="1447800"/>
            <a:ext cx="1685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Firewall Enforcement</a:t>
            </a:r>
            <a:endParaRPr b="0" i="0" sz="1600" u="none" cap="none" strike="noStrike"/>
          </a:p>
        </p:txBody>
      </p:sp>
      <p:sp>
        <p:nvSpPr>
          <p:cNvPr id="208" name="Google Shape;208;p9"/>
          <p:cNvSpPr/>
          <p:nvPr/>
        </p:nvSpPr>
        <p:spPr>
          <a:xfrm>
            <a:off x="7524750" y="1790700"/>
            <a:ext cx="42100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Strict allow-list rules with </a:t>
            </a:r>
            <a:r>
              <a:rPr b="0" i="0" lang="en-US" sz="1200" u="none" cap="none" strike="noStrike">
                <a:solidFill>
                  <a:srgbClr val="E0E2E5"/>
                </a:solidFill>
                <a:highlight>
                  <a:srgbClr val="C9A86A"/>
                </a:highlight>
                <a:latin typeface="Quattrocento Sans"/>
                <a:ea typeface="Quattrocento Sans"/>
                <a:cs typeface="Quattrocento Sans"/>
                <a:sym typeface="Quattrocento Sans"/>
              </a:rPr>
              <a:t>default-deny </a:t>
            </a: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policy between all zones</a:t>
            </a:r>
            <a:endParaRPr b="0" i="0" sz="1600" u="none" cap="none" strike="noStrike"/>
          </a:p>
        </p:txBody>
      </p:sp>
      <p:sp>
        <p:nvSpPr>
          <p:cNvPr id="209" name="Google Shape;209;p9"/>
          <p:cNvSpPr/>
          <p:nvPr/>
        </p:nvSpPr>
        <p:spPr>
          <a:xfrm>
            <a:off x="7353300" y="2552700"/>
            <a:ext cx="4457700" cy="876300"/>
          </a:xfrm>
          <a:custGeom>
            <a:rect b="b" l="l" r="r" t="t"/>
            <a:pathLst>
              <a:path extrusionOk="0" h="876300" w="4457700">
                <a:moveTo>
                  <a:pt x="0" y="0"/>
                </a:moveTo>
                <a:lnTo>
                  <a:pt x="4381497" y="0"/>
                </a:lnTo>
                <a:cubicBezTo>
                  <a:pt x="4423583" y="0"/>
                  <a:pt x="4457700" y="34117"/>
                  <a:pt x="4457700" y="76203"/>
                </a:cubicBezTo>
                <a:lnTo>
                  <a:pt x="4457700" y="800097"/>
                </a:lnTo>
                <a:cubicBezTo>
                  <a:pt x="4457700" y="842183"/>
                  <a:pt x="4423583" y="876300"/>
                  <a:pt x="4381497" y="876300"/>
                </a:cubicBez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7353300" y="2552700"/>
            <a:ext cx="38100" cy="876300"/>
          </a:xfrm>
          <a:custGeom>
            <a:rect b="b" l="l" r="r" t="t"/>
            <a:pathLst>
              <a:path extrusionOk="0" h="876300" w="381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>
            <a:noFill/>
          </a:ln>
        </p:spPr>
      </p:sp>
      <p:sp>
        <p:nvSpPr>
          <p:cNvPr id="211" name="Google Shape;211;p9"/>
          <p:cNvSpPr/>
          <p:nvPr/>
        </p:nvSpPr>
        <p:spPr>
          <a:xfrm>
            <a:off x="7548563" y="2752725"/>
            <a:ext cx="171450" cy="171450"/>
          </a:xfrm>
          <a:custGeom>
            <a:rect b="b" l="l" r="r" t="t"/>
            <a:pathLst>
              <a:path extrusionOk="0" h="171450" w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7853362" y="2705100"/>
            <a:ext cx="14478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Authorized Traffic</a:t>
            </a:r>
            <a:endParaRPr b="0" i="0" sz="1600" u="none" cap="none" strike="noStrike"/>
          </a:p>
        </p:txBody>
      </p:sp>
      <p:sp>
        <p:nvSpPr>
          <p:cNvPr id="213" name="Google Shape;213;p9"/>
          <p:cNvSpPr/>
          <p:nvPr/>
        </p:nvSpPr>
        <p:spPr>
          <a:xfrm>
            <a:off x="7524750" y="3048000"/>
            <a:ext cx="421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HTTP/HTTPS to DMZ, database access from DMZ only</a:t>
            </a:r>
            <a:endParaRPr b="0" i="0" sz="1600" u="none" cap="none" strike="noStrike"/>
          </a:p>
        </p:txBody>
      </p:sp>
      <p:sp>
        <p:nvSpPr>
          <p:cNvPr id="214" name="Google Shape;214;p9"/>
          <p:cNvSpPr/>
          <p:nvPr/>
        </p:nvSpPr>
        <p:spPr>
          <a:xfrm>
            <a:off x="7353300" y="3581400"/>
            <a:ext cx="4457700" cy="876300"/>
          </a:xfrm>
          <a:custGeom>
            <a:rect b="b" l="l" r="r" t="t"/>
            <a:pathLst>
              <a:path extrusionOk="0" h="876300" w="4457700">
                <a:moveTo>
                  <a:pt x="0" y="0"/>
                </a:moveTo>
                <a:lnTo>
                  <a:pt x="4381497" y="0"/>
                </a:lnTo>
                <a:cubicBezTo>
                  <a:pt x="4423583" y="0"/>
                  <a:pt x="4457700" y="34117"/>
                  <a:pt x="4457700" y="76203"/>
                </a:cubicBezTo>
                <a:lnTo>
                  <a:pt x="4457700" y="800097"/>
                </a:lnTo>
                <a:cubicBezTo>
                  <a:pt x="4457700" y="842183"/>
                  <a:pt x="4423583" y="876300"/>
                  <a:pt x="4381497" y="876300"/>
                </a:cubicBez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7353300" y="3581400"/>
            <a:ext cx="38100" cy="876300"/>
          </a:xfrm>
          <a:custGeom>
            <a:rect b="b" l="l" r="r" t="t"/>
            <a:pathLst>
              <a:path extrusionOk="0" h="876300" w="381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</p:sp>
      <p:sp>
        <p:nvSpPr>
          <p:cNvPr id="216" name="Google Shape;216;p9"/>
          <p:cNvSpPr/>
          <p:nvPr/>
        </p:nvSpPr>
        <p:spPr>
          <a:xfrm>
            <a:off x="7548563" y="3781425"/>
            <a:ext cx="171450" cy="171450"/>
          </a:xfrm>
          <a:custGeom>
            <a:rect b="b" l="l" r="r" t="t"/>
            <a:pathLst>
              <a:path extrusionOk="0" h="171450" w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7853362" y="3733800"/>
            <a:ext cx="1219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IDS Monitoring</a:t>
            </a:r>
            <a:endParaRPr b="0" i="0" sz="1600" u="none" cap="none" strike="noStrike"/>
          </a:p>
        </p:txBody>
      </p:sp>
      <p:sp>
        <p:nvSpPr>
          <p:cNvPr id="218" name="Google Shape;218;p9"/>
          <p:cNvSpPr/>
          <p:nvPr/>
        </p:nvSpPr>
        <p:spPr>
          <a:xfrm>
            <a:off x="7524750" y="4076700"/>
            <a:ext cx="421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Suricata passively monitors inter-zone traffic for threats</a:t>
            </a:r>
            <a:endParaRPr b="0" i="0" sz="1600" u="none" cap="none" strike="noStrike"/>
          </a:p>
        </p:txBody>
      </p:sp>
      <p:sp>
        <p:nvSpPr>
          <p:cNvPr id="219" name="Google Shape;219;p9"/>
          <p:cNvSpPr/>
          <p:nvPr/>
        </p:nvSpPr>
        <p:spPr>
          <a:xfrm>
            <a:off x="7353300" y="4610100"/>
            <a:ext cx="4457700" cy="876300"/>
          </a:xfrm>
          <a:custGeom>
            <a:rect b="b" l="l" r="r" t="t"/>
            <a:pathLst>
              <a:path extrusionOk="0" h="876300" w="4457700">
                <a:moveTo>
                  <a:pt x="0" y="0"/>
                </a:moveTo>
                <a:lnTo>
                  <a:pt x="4381497" y="0"/>
                </a:lnTo>
                <a:cubicBezTo>
                  <a:pt x="4423583" y="0"/>
                  <a:pt x="4457700" y="34117"/>
                  <a:pt x="4457700" y="76203"/>
                </a:cubicBezTo>
                <a:lnTo>
                  <a:pt x="4457700" y="800097"/>
                </a:lnTo>
                <a:cubicBezTo>
                  <a:pt x="4457700" y="842183"/>
                  <a:pt x="4423583" y="876300"/>
                  <a:pt x="4381497" y="876300"/>
                </a:cubicBez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7353300" y="4610100"/>
            <a:ext cx="38100" cy="876300"/>
          </a:xfrm>
          <a:custGeom>
            <a:rect b="b" l="l" r="r" t="t"/>
            <a:pathLst>
              <a:path extrusionOk="0" h="876300" w="381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>
            <a:noFill/>
          </a:ln>
        </p:spPr>
      </p:sp>
      <p:sp>
        <p:nvSpPr>
          <p:cNvPr id="221" name="Google Shape;221;p9"/>
          <p:cNvSpPr/>
          <p:nvPr/>
        </p:nvSpPr>
        <p:spPr>
          <a:xfrm>
            <a:off x="7548563" y="4810125"/>
            <a:ext cx="171450" cy="171450"/>
          </a:xfrm>
          <a:custGeom>
            <a:rect b="b" l="l" r="r" t="t"/>
            <a:pathLst>
              <a:path extrusionOk="0" h="171450" w="171450">
                <a:moveTo>
                  <a:pt x="10716" y="10716"/>
                </a:moveTo>
                <a:cubicBezTo>
                  <a:pt x="16643" y="10716"/>
                  <a:pt x="21431" y="15504"/>
                  <a:pt x="21431" y="21431"/>
                </a:cubicBez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160734" y="139303"/>
                </a:lnTo>
                <a:cubicBezTo>
                  <a:pt x="166661" y="139303"/>
                  <a:pt x="171450" y="144092"/>
                  <a:pt x="171450" y="150019"/>
                </a:cubicBezTo>
                <a:cubicBezTo>
                  <a:pt x="171450" y="155946"/>
                  <a:pt x="166661" y="160734"/>
                  <a:pt x="160734" y="160734"/>
                </a:cubicBezTo>
                <a:lnTo>
                  <a:pt x="26789" y="160734"/>
                </a:lnTo>
                <a:cubicBezTo>
                  <a:pt x="11988" y="160734"/>
                  <a:pt x="0" y="148746"/>
                  <a:pt x="0" y="133945"/>
                </a:cubicBezTo>
                <a:lnTo>
                  <a:pt x="0" y="21431"/>
                </a:lnTo>
                <a:cubicBezTo>
                  <a:pt x="0" y="15504"/>
                  <a:pt x="4789" y="10716"/>
                  <a:pt x="10716" y="10716"/>
                </a:cubicBezTo>
                <a:close/>
                <a:moveTo>
                  <a:pt x="42863" y="32147"/>
                </a:moveTo>
                <a:cubicBezTo>
                  <a:pt x="42863" y="26220"/>
                  <a:pt x="47651" y="21431"/>
                  <a:pt x="53578" y="21431"/>
                </a:cubicBezTo>
                <a:lnTo>
                  <a:pt x="117872" y="21431"/>
                </a:lnTo>
                <a:cubicBezTo>
                  <a:pt x="123799" y="21431"/>
                  <a:pt x="128588" y="26220"/>
                  <a:pt x="128588" y="32147"/>
                </a:cubicBezTo>
                <a:cubicBezTo>
                  <a:pt x="128588" y="38074"/>
                  <a:pt x="123799" y="42863"/>
                  <a:pt x="117872" y="42863"/>
                </a:cubicBezTo>
                <a:lnTo>
                  <a:pt x="53578" y="42863"/>
                </a:lnTo>
                <a:cubicBezTo>
                  <a:pt x="47651" y="42863"/>
                  <a:pt x="42863" y="38074"/>
                  <a:pt x="42863" y="32147"/>
                </a:cubicBezTo>
                <a:close/>
                <a:moveTo>
                  <a:pt x="53578" y="58936"/>
                </a:moveTo>
                <a:lnTo>
                  <a:pt x="96441" y="58936"/>
                </a:lnTo>
                <a:cubicBezTo>
                  <a:pt x="102368" y="58936"/>
                  <a:pt x="107156" y="63724"/>
                  <a:pt x="107156" y="69652"/>
                </a:cubicBezTo>
                <a:cubicBezTo>
                  <a:pt x="107156" y="75579"/>
                  <a:pt x="102368" y="80367"/>
                  <a:pt x="96441" y="80367"/>
                </a:cubicBezTo>
                <a:lnTo>
                  <a:pt x="53578" y="80367"/>
                </a:lnTo>
                <a:cubicBezTo>
                  <a:pt x="47651" y="80367"/>
                  <a:pt x="42863" y="75579"/>
                  <a:pt x="42863" y="69652"/>
                </a:cubicBezTo>
                <a:cubicBezTo>
                  <a:pt x="42863" y="63724"/>
                  <a:pt x="47651" y="58936"/>
                  <a:pt x="53578" y="58936"/>
                </a:cubicBezTo>
                <a:close/>
                <a:moveTo>
                  <a:pt x="53578" y="96441"/>
                </a:moveTo>
                <a:lnTo>
                  <a:pt x="139303" y="96441"/>
                </a:lnTo>
                <a:cubicBezTo>
                  <a:pt x="145230" y="96441"/>
                  <a:pt x="150019" y="101229"/>
                  <a:pt x="150019" y="107156"/>
                </a:cubicBezTo>
                <a:cubicBezTo>
                  <a:pt x="150019" y="113083"/>
                  <a:pt x="145230" y="117872"/>
                  <a:pt x="139303" y="117872"/>
                </a:cubicBezTo>
                <a:lnTo>
                  <a:pt x="53578" y="117872"/>
                </a:lnTo>
                <a:cubicBezTo>
                  <a:pt x="47651" y="117872"/>
                  <a:pt x="42863" y="113083"/>
                  <a:pt x="42863" y="107156"/>
                </a:cubicBezTo>
                <a:cubicBezTo>
                  <a:pt x="42863" y="101229"/>
                  <a:pt x="47651" y="96441"/>
                  <a:pt x="53578" y="96441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7853362" y="4762500"/>
            <a:ext cx="1362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SIEM Correlation</a:t>
            </a:r>
            <a:endParaRPr b="0" i="0" sz="1600" u="none" cap="none" strike="noStrike"/>
          </a:p>
        </p:txBody>
      </p:sp>
      <p:sp>
        <p:nvSpPr>
          <p:cNvPr id="223" name="Google Shape;223;p9"/>
          <p:cNvSpPr/>
          <p:nvPr/>
        </p:nvSpPr>
        <p:spPr>
          <a:xfrm>
            <a:off x="7524750" y="5105400"/>
            <a:ext cx="421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Wazuh collects and correlates logs from all components</a:t>
            </a:r>
            <a:endParaRPr b="0" i="0" sz="1600" u="none" cap="none" strike="noStrike"/>
          </a:p>
        </p:txBody>
      </p:sp>
      <p:sp>
        <p:nvSpPr>
          <p:cNvPr id="224" name="Google Shape;224;p9"/>
          <p:cNvSpPr/>
          <p:nvPr/>
        </p:nvSpPr>
        <p:spPr>
          <a:xfrm>
            <a:off x="7353300" y="5638800"/>
            <a:ext cx="4457700" cy="876300"/>
          </a:xfrm>
          <a:custGeom>
            <a:rect b="b" l="l" r="r" t="t"/>
            <a:pathLst>
              <a:path extrusionOk="0" h="876300" w="4457700">
                <a:moveTo>
                  <a:pt x="0" y="0"/>
                </a:moveTo>
                <a:lnTo>
                  <a:pt x="4381497" y="0"/>
                </a:lnTo>
                <a:cubicBezTo>
                  <a:pt x="4423583" y="0"/>
                  <a:pt x="4457700" y="34117"/>
                  <a:pt x="4457700" y="76203"/>
                </a:cubicBezTo>
                <a:lnTo>
                  <a:pt x="4457700" y="800097"/>
                </a:lnTo>
                <a:cubicBezTo>
                  <a:pt x="4457700" y="842183"/>
                  <a:pt x="4423583" y="876300"/>
                  <a:pt x="4381497" y="876300"/>
                </a:cubicBez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7353300" y="5638800"/>
            <a:ext cx="38100" cy="876300"/>
          </a:xfrm>
          <a:custGeom>
            <a:rect b="b" l="l" r="r" t="t"/>
            <a:pathLst>
              <a:path extrusionOk="0" h="876300" w="381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5F6B7A"/>
          </a:solidFill>
          <a:ln>
            <a:noFill/>
          </a:ln>
        </p:spPr>
      </p:sp>
      <p:sp>
        <p:nvSpPr>
          <p:cNvPr id="226" name="Google Shape;226;p9"/>
          <p:cNvSpPr/>
          <p:nvPr/>
        </p:nvSpPr>
        <p:spPr>
          <a:xfrm>
            <a:off x="7569994" y="5838825"/>
            <a:ext cx="128588" cy="171450"/>
          </a:xfrm>
          <a:custGeom>
            <a:rect b="b" l="l" r="r" t="t"/>
            <a:pathLst>
              <a:path extrusionOk="0" h="171450" w="128588">
                <a:moveTo>
                  <a:pt x="42863" y="32147"/>
                </a:moveTo>
                <a:lnTo>
                  <a:pt x="42863" y="53578"/>
                </a:lnTo>
                <a:lnTo>
                  <a:pt x="85725" y="53578"/>
                </a:lnTo>
                <a:lnTo>
                  <a:pt x="85725" y="32147"/>
                </a:lnTo>
                <a:cubicBezTo>
                  <a:pt x="85725" y="20326"/>
                  <a:pt x="76114" y="10716"/>
                  <a:pt x="64294" y="10716"/>
                </a:cubicBezTo>
                <a:cubicBezTo>
                  <a:pt x="52473" y="10716"/>
                  <a:pt x="42863" y="20326"/>
                  <a:pt x="42863" y="32147"/>
                </a:cubicBezTo>
                <a:close/>
                <a:moveTo>
                  <a:pt x="21431" y="53578"/>
                </a:moveTo>
                <a:lnTo>
                  <a:pt x="21431" y="32147"/>
                </a:lnTo>
                <a:cubicBezTo>
                  <a:pt x="21431" y="8472"/>
                  <a:pt x="40619" y="-10716"/>
                  <a:pt x="64294" y="-10716"/>
                </a:cubicBezTo>
                <a:cubicBezTo>
                  <a:pt x="87969" y="-10716"/>
                  <a:pt x="107156" y="8472"/>
                  <a:pt x="107156" y="32147"/>
                </a:cubicBezTo>
                <a:lnTo>
                  <a:pt x="107156" y="53578"/>
                </a:lnTo>
                <a:cubicBezTo>
                  <a:pt x="118977" y="53578"/>
                  <a:pt x="128588" y="63189"/>
                  <a:pt x="128588" y="75009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75009"/>
                </a:lnTo>
                <a:cubicBezTo>
                  <a:pt x="0" y="63189"/>
                  <a:pt x="9611" y="53578"/>
                  <a:pt x="21431" y="53578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7853362" y="5791200"/>
            <a:ext cx="1247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TLS Encryption</a:t>
            </a:r>
            <a:endParaRPr b="0" i="0" sz="1600" u="none" cap="none" strike="noStrike"/>
          </a:p>
        </p:txBody>
      </p:sp>
      <p:sp>
        <p:nvSpPr>
          <p:cNvPr id="228" name="Google Shape;228;p9"/>
          <p:cNvSpPr/>
          <p:nvPr/>
        </p:nvSpPr>
        <p:spPr>
          <a:xfrm>
            <a:off x="7524750" y="6134100"/>
            <a:ext cx="421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Secures all inter-component communication channels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Working Flow</a:t>
            </a:r>
            <a:endParaRPr b="0" i="0" sz="1600" u="none" cap="none" strike="noStrike"/>
          </a:p>
        </p:txBody>
      </p:sp>
      <p:sp>
        <p:nvSpPr>
          <p:cNvPr id="235" name="Google Shape;235;p10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Five-Phase Security Lifecycle</a:t>
            </a:r>
            <a:endParaRPr b="0" i="0" sz="1600" u="none" cap="none" strike="noStrike"/>
          </a:p>
        </p:txBody>
      </p:sp>
      <p:sp>
        <p:nvSpPr>
          <p:cNvPr id="236" name="Google Shape;236;p10"/>
          <p:cNvSpPr/>
          <p:nvPr/>
        </p:nvSpPr>
        <p:spPr>
          <a:xfrm>
            <a:off x="390525" y="1266825"/>
            <a:ext cx="2171700" cy="4248150"/>
          </a:xfrm>
          <a:custGeom>
            <a:rect b="b" l="l" r="r" t="t"/>
            <a:pathLst>
              <a:path extrusionOk="0" h="4248150" w="2171700">
                <a:moveTo>
                  <a:pt x="76205" y="0"/>
                </a:moveTo>
                <a:lnTo>
                  <a:pt x="2095495" y="0"/>
                </a:lnTo>
                <a:cubicBezTo>
                  <a:pt x="2137582" y="0"/>
                  <a:pt x="2171700" y="34118"/>
                  <a:pt x="2171700" y="76205"/>
                </a:cubicBezTo>
                <a:lnTo>
                  <a:pt x="2171700" y="4171945"/>
                </a:lnTo>
                <a:cubicBezTo>
                  <a:pt x="2171700" y="4214032"/>
                  <a:pt x="2137582" y="4248150"/>
                  <a:pt x="2095495" y="4248150"/>
                </a:cubicBezTo>
                <a:lnTo>
                  <a:pt x="76205" y="4248150"/>
                </a:lnTo>
                <a:cubicBezTo>
                  <a:pt x="34118" y="4248150"/>
                  <a:pt x="0" y="4214032"/>
                  <a:pt x="0" y="41719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D8C">
              <a:alpha val="14901"/>
            </a:srgbClr>
          </a:solidFill>
          <a:ln cap="flat" cmpd="sng" w="25400">
            <a:solidFill>
              <a:srgbClr val="4A6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552450" y="150495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509587" y="1504950"/>
            <a:ext cx="4667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239" name="Google Shape;239;p10"/>
          <p:cNvSpPr/>
          <p:nvPr/>
        </p:nvSpPr>
        <p:spPr>
          <a:xfrm>
            <a:off x="1009650" y="1428750"/>
            <a:ext cx="6381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Normal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Traffic</a:t>
            </a:r>
            <a:endParaRPr b="0" i="0" sz="1600" u="none" cap="none" strike="noStrike"/>
          </a:p>
        </p:txBody>
      </p:sp>
      <p:sp>
        <p:nvSpPr>
          <p:cNvPr id="240" name="Google Shape;240;p10"/>
          <p:cNvSpPr/>
          <p:nvPr/>
        </p:nvSpPr>
        <p:spPr>
          <a:xfrm>
            <a:off x="579834" y="2114550"/>
            <a:ext cx="116681" cy="133350"/>
          </a:xfrm>
          <a:custGeom>
            <a:rect b="b" l="l" r="r" t="t"/>
            <a:pathLst>
              <a:path extrusionOk="0" h="133350" w="116681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795338" y="2076450"/>
            <a:ext cx="1676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Users access web application via HTTP/HTTPS</a:t>
            </a:r>
            <a:endParaRPr b="0" i="0" sz="1600" u="none" cap="none" strike="noStrike"/>
          </a:p>
        </p:txBody>
      </p:sp>
      <p:sp>
        <p:nvSpPr>
          <p:cNvPr id="242" name="Google Shape;242;p10"/>
          <p:cNvSpPr/>
          <p:nvPr/>
        </p:nvSpPr>
        <p:spPr>
          <a:xfrm>
            <a:off x="571500" y="2557463"/>
            <a:ext cx="133350" cy="133350"/>
          </a:xfrm>
          <a:custGeom>
            <a:rect b="b" l="l" r="r" t="t"/>
            <a:pathLst>
              <a:path extrusionOk="0" h="133350" w="133350">
                <a:moveTo>
                  <a:pt x="130902" y="39224"/>
                </a:moveTo>
                <a:lnTo>
                  <a:pt x="105899" y="64227"/>
                </a:lnTo>
                <a:cubicBezTo>
                  <a:pt x="103503" y="66623"/>
                  <a:pt x="99934" y="67326"/>
                  <a:pt x="96809" y="66024"/>
                </a:cubicBezTo>
                <a:cubicBezTo>
                  <a:pt x="93684" y="64722"/>
                  <a:pt x="91678" y="61700"/>
                  <a:pt x="91678" y="58341"/>
                </a:cubicBezTo>
                <a:lnTo>
                  <a:pt x="91678" y="41672"/>
                </a:lnTo>
                <a:lnTo>
                  <a:pt x="8334" y="41672"/>
                </a:lnTo>
                <a:cubicBezTo>
                  <a:pt x="3724" y="41672"/>
                  <a:pt x="0" y="37947"/>
                  <a:pt x="0" y="33337"/>
                </a:cubicBezTo>
                <a:cubicBezTo>
                  <a:pt x="0" y="28728"/>
                  <a:pt x="3724" y="25003"/>
                  <a:pt x="8334" y="25003"/>
                </a:cubicBezTo>
                <a:lnTo>
                  <a:pt x="91678" y="25003"/>
                </a:lnTo>
                <a:lnTo>
                  <a:pt x="91678" y="8334"/>
                </a:lnTo>
                <a:cubicBezTo>
                  <a:pt x="91678" y="4975"/>
                  <a:pt x="93710" y="1927"/>
                  <a:pt x="96835" y="625"/>
                </a:cubicBezTo>
                <a:cubicBezTo>
                  <a:pt x="99960" y="-677"/>
                  <a:pt x="103529" y="52"/>
                  <a:pt x="105925" y="2422"/>
                </a:cubicBezTo>
                <a:lnTo>
                  <a:pt x="130928" y="27425"/>
                </a:lnTo>
                <a:cubicBezTo>
                  <a:pt x="134183" y="30681"/>
                  <a:pt x="134183" y="35968"/>
                  <a:pt x="130928" y="39224"/>
                </a:cubicBezTo>
                <a:close/>
                <a:moveTo>
                  <a:pt x="27425" y="130902"/>
                </a:moveTo>
                <a:lnTo>
                  <a:pt x="2422" y="105899"/>
                </a:lnTo>
                <a:cubicBezTo>
                  <a:pt x="-833" y="102643"/>
                  <a:pt x="-833" y="97356"/>
                  <a:pt x="2422" y="94100"/>
                </a:cubicBezTo>
                <a:lnTo>
                  <a:pt x="27425" y="69097"/>
                </a:lnTo>
                <a:cubicBezTo>
                  <a:pt x="29821" y="66701"/>
                  <a:pt x="33390" y="65998"/>
                  <a:pt x="36515" y="67300"/>
                </a:cubicBezTo>
                <a:cubicBezTo>
                  <a:pt x="39640" y="68602"/>
                  <a:pt x="41672" y="71650"/>
                  <a:pt x="41672" y="75009"/>
                </a:cubicBezTo>
                <a:lnTo>
                  <a:pt x="41672" y="91678"/>
                </a:lnTo>
                <a:lnTo>
                  <a:pt x="125016" y="91678"/>
                </a:lnTo>
                <a:cubicBezTo>
                  <a:pt x="129626" y="91678"/>
                  <a:pt x="133350" y="95403"/>
                  <a:pt x="133350" y="100013"/>
                </a:cubicBezTo>
                <a:cubicBezTo>
                  <a:pt x="133350" y="104622"/>
                  <a:pt x="129626" y="108347"/>
                  <a:pt x="125016" y="108347"/>
                </a:cubicBezTo>
                <a:lnTo>
                  <a:pt x="41672" y="108347"/>
                </a:lnTo>
                <a:lnTo>
                  <a:pt x="41672" y="125016"/>
                </a:lnTo>
                <a:cubicBezTo>
                  <a:pt x="41672" y="128375"/>
                  <a:pt x="39640" y="131423"/>
                  <a:pt x="36515" y="132725"/>
                </a:cubicBezTo>
                <a:cubicBezTo>
                  <a:pt x="33390" y="134027"/>
                  <a:pt x="29821" y="133298"/>
                  <a:pt x="27425" y="130928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795338" y="2519363"/>
            <a:ext cx="16764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Frontend communicates with database through approved ports</a:t>
            </a:r>
            <a:endParaRPr b="0" i="0" sz="1600" u="none" cap="none" strike="noStrike"/>
          </a:p>
        </p:txBody>
      </p:sp>
      <p:sp>
        <p:nvSpPr>
          <p:cNvPr id="244" name="Google Shape;244;p10"/>
          <p:cNvSpPr/>
          <p:nvPr/>
        </p:nvSpPr>
        <p:spPr>
          <a:xfrm>
            <a:off x="571500" y="3183731"/>
            <a:ext cx="133350" cy="133350"/>
          </a:xfrm>
          <a:custGeom>
            <a:rect b="b" l="l" r="r" t="t"/>
            <a:pathLst>
              <a:path extrusionOk="0" h="133350" w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795338" y="3145631"/>
            <a:ext cx="1676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Traffic forwarded to Suricata and Wazuh</a:t>
            </a:r>
            <a:endParaRPr b="0" i="0" sz="1600" u="none" cap="none" strike="noStrike"/>
          </a:p>
        </p:txBody>
      </p:sp>
      <p:sp>
        <p:nvSpPr>
          <p:cNvPr id="246" name="Google Shape;246;p10"/>
          <p:cNvSpPr/>
          <p:nvPr/>
        </p:nvSpPr>
        <p:spPr>
          <a:xfrm>
            <a:off x="552450" y="5081588"/>
            <a:ext cx="1847850" cy="9525"/>
          </a:xfrm>
          <a:custGeom>
            <a:rect b="b" l="l" r="r" t="t"/>
            <a:pathLst>
              <a:path extrusionOk="0" h="9525" w="1847850">
                <a:moveTo>
                  <a:pt x="0" y="0"/>
                </a:moveTo>
                <a:lnTo>
                  <a:pt x="1847850" y="0"/>
                </a:lnTo>
                <a:lnTo>
                  <a:pt x="18478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9803"/>
            </a:srgbClr>
          </a:solidFill>
          <a:ln>
            <a:noFill/>
          </a:ln>
        </p:spPr>
      </p:sp>
      <p:sp>
        <p:nvSpPr>
          <p:cNvPr id="247" name="Google Shape;247;p10"/>
          <p:cNvSpPr/>
          <p:nvPr/>
        </p:nvSpPr>
        <p:spPr>
          <a:xfrm>
            <a:off x="566738" y="5210175"/>
            <a:ext cx="114300" cy="114300"/>
          </a:xfrm>
          <a:custGeom>
            <a:rect b="b" l="l" r="r" t="t"/>
            <a:pathLst>
              <a:path extrusionOk="0" h="114300" w="114300">
                <a:moveTo>
                  <a:pt x="100013" y="57150"/>
                </a:moveTo>
                <a:cubicBezTo>
                  <a:pt x="100013" y="33494"/>
                  <a:pt x="80806" y="14288"/>
                  <a:pt x="57150" y="14288"/>
                </a:cubicBezTo>
                <a:cubicBezTo>
                  <a:pt x="33494" y="14288"/>
                  <a:pt x="14288" y="33494"/>
                  <a:pt x="14288" y="57150"/>
                </a:cubicBezTo>
                <a:cubicBezTo>
                  <a:pt x="14288" y="80806"/>
                  <a:pt x="33494" y="100013"/>
                  <a:pt x="57150" y="100013"/>
                </a:cubicBezTo>
                <a:cubicBezTo>
                  <a:pt x="80806" y="100013"/>
                  <a:pt x="100013" y="80806"/>
                  <a:pt x="100013" y="57150"/>
                </a:cubicBezTo>
                <a:close/>
                <a:moveTo>
                  <a:pt x="0" y="57150"/>
                </a:moveTo>
                <a:cubicBezTo>
                  <a:pt x="0" y="25608"/>
                  <a:pt x="25608" y="0"/>
                  <a:pt x="57150" y="0"/>
                </a:cubicBezTo>
                <a:cubicBezTo>
                  <a:pt x="88692" y="0"/>
                  <a:pt x="114300" y="25608"/>
                  <a:pt x="114300" y="57150"/>
                </a:cubicBezTo>
                <a:cubicBezTo>
                  <a:pt x="114300" y="88692"/>
                  <a:pt x="88692" y="114300"/>
                  <a:pt x="57150" y="114300"/>
                </a:cubicBezTo>
                <a:cubicBezTo>
                  <a:pt x="25608" y="114300"/>
                  <a:pt x="0" y="88692"/>
                  <a:pt x="0" y="57150"/>
                </a:cubicBezTo>
                <a:close/>
                <a:moveTo>
                  <a:pt x="57150" y="75009"/>
                </a:moveTo>
                <a:cubicBezTo>
                  <a:pt x="67007" y="75009"/>
                  <a:pt x="75009" y="67007"/>
                  <a:pt x="75009" y="57150"/>
                </a:cubicBezTo>
                <a:cubicBezTo>
                  <a:pt x="75009" y="47293"/>
                  <a:pt x="67007" y="39291"/>
                  <a:pt x="57150" y="39291"/>
                </a:cubicBezTo>
                <a:cubicBezTo>
                  <a:pt x="47293" y="39291"/>
                  <a:pt x="39291" y="47293"/>
                  <a:pt x="39291" y="57150"/>
                </a:cubicBezTo>
                <a:cubicBezTo>
                  <a:pt x="39291" y="67007"/>
                  <a:pt x="47293" y="75009"/>
                  <a:pt x="57150" y="75009"/>
                </a:cubicBezTo>
                <a:close/>
                <a:moveTo>
                  <a:pt x="57150" y="25003"/>
                </a:moveTo>
                <a:cubicBezTo>
                  <a:pt x="74892" y="25003"/>
                  <a:pt x="89297" y="39408"/>
                  <a:pt x="89297" y="57150"/>
                </a:cubicBezTo>
                <a:cubicBezTo>
                  <a:pt x="89297" y="74892"/>
                  <a:pt x="74892" y="89297"/>
                  <a:pt x="57150" y="89297"/>
                </a:cubicBezTo>
                <a:cubicBezTo>
                  <a:pt x="39408" y="89297"/>
                  <a:pt x="25003" y="74892"/>
                  <a:pt x="25003" y="57150"/>
                </a:cubicBezTo>
                <a:cubicBezTo>
                  <a:pt x="25003" y="39408"/>
                  <a:pt x="39408" y="25003"/>
                  <a:pt x="57150" y="25003"/>
                </a:cubicBezTo>
                <a:close/>
                <a:moveTo>
                  <a:pt x="50006" y="57150"/>
                </a:moveTo>
                <a:cubicBezTo>
                  <a:pt x="50006" y="53207"/>
                  <a:pt x="53207" y="50006"/>
                  <a:pt x="57150" y="50006"/>
                </a:cubicBezTo>
                <a:cubicBezTo>
                  <a:pt x="61093" y="50006"/>
                  <a:pt x="64294" y="53207"/>
                  <a:pt x="64294" y="57150"/>
                </a:cubicBezTo>
                <a:cubicBezTo>
                  <a:pt x="64294" y="61093"/>
                  <a:pt x="61093" y="64294"/>
                  <a:pt x="57150" y="64294"/>
                </a:cubicBezTo>
                <a:cubicBezTo>
                  <a:pt x="53207" y="64294"/>
                  <a:pt x="50006" y="61093"/>
                  <a:pt x="50006" y="5715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723900" y="5200650"/>
            <a:ext cx="1733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Baseline behavior established</a:t>
            </a:r>
            <a:endParaRPr b="0" i="0" sz="1600" u="none" cap="none" strike="noStrike"/>
          </a:p>
        </p:txBody>
      </p:sp>
      <p:sp>
        <p:nvSpPr>
          <p:cNvPr id="249" name="Google Shape;249;p10"/>
          <p:cNvSpPr/>
          <p:nvPr/>
        </p:nvSpPr>
        <p:spPr>
          <a:xfrm>
            <a:off x="2699296" y="1266825"/>
            <a:ext cx="2171700" cy="4248150"/>
          </a:xfrm>
          <a:custGeom>
            <a:rect b="b" l="l" r="r" t="t"/>
            <a:pathLst>
              <a:path extrusionOk="0" h="4248150" w="2171700">
                <a:moveTo>
                  <a:pt x="76205" y="0"/>
                </a:moveTo>
                <a:lnTo>
                  <a:pt x="2095495" y="0"/>
                </a:lnTo>
                <a:cubicBezTo>
                  <a:pt x="2137582" y="0"/>
                  <a:pt x="2171700" y="34118"/>
                  <a:pt x="2171700" y="76205"/>
                </a:cubicBezTo>
                <a:lnTo>
                  <a:pt x="2171700" y="4171945"/>
                </a:lnTo>
                <a:cubicBezTo>
                  <a:pt x="2171700" y="4214032"/>
                  <a:pt x="2137582" y="4248150"/>
                  <a:pt x="2095495" y="4248150"/>
                </a:cubicBezTo>
                <a:lnTo>
                  <a:pt x="76205" y="4248150"/>
                </a:lnTo>
                <a:cubicBezTo>
                  <a:pt x="34118" y="4248150"/>
                  <a:pt x="0" y="4214032"/>
                  <a:pt x="0" y="41719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5F6B7A">
              <a:alpha val="14901"/>
            </a:srgbClr>
          </a:solidFill>
          <a:ln cap="flat" cmpd="sng" w="25400">
            <a:solidFill>
              <a:srgbClr val="5F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2861221" y="150495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2818358" y="1504950"/>
            <a:ext cx="4667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252" name="Google Shape;252;p10"/>
          <p:cNvSpPr/>
          <p:nvPr/>
        </p:nvSpPr>
        <p:spPr>
          <a:xfrm>
            <a:off x="3318421" y="1428750"/>
            <a:ext cx="8858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Attack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Simulation</a:t>
            </a:r>
            <a:endParaRPr b="0" i="0" sz="1600" u="none" cap="none" strike="noStrike"/>
          </a:p>
        </p:txBody>
      </p:sp>
      <p:sp>
        <p:nvSpPr>
          <p:cNvPr id="253" name="Google Shape;253;p10"/>
          <p:cNvSpPr/>
          <p:nvPr/>
        </p:nvSpPr>
        <p:spPr>
          <a:xfrm>
            <a:off x="2871936" y="2114550"/>
            <a:ext cx="150019" cy="133350"/>
          </a:xfrm>
          <a:custGeom>
            <a:rect b="b" l="l" r="r" t="t"/>
            <a:pathLst>
              <a:path extrusionOk="0" h="133350" w="150019">
                <a:moveTo>
                  <a:pt x="50006" y="25003"/>
                </a:moveTo>
                <a:cubicBezTo>
                  <a:pt x="50006" y="11199"/>
                  <a:pt x="61206" y="0"/>
                  <a:pt x="75009" y="0"/>
                </a:cubicBezTo>
                <a:cubicBezTo>
                  <a:pt x="88813" y="0"/>
                  <a:pt x="100013" y="11199"/>
                  <a:pt x="100013" y="25003"/>
                </a:cubicBezTo>
                <a:lnTo>
                  <a:pt x="100013" y="25941"/>
                </a:lnTo>
                <a:cubicBezTo>
                  <a:pt x="100013" y="30030"/>
                  <a:pt x="96705" y="33337"/>
                  <a:pt x="92616" y="33337"/>
                </a:cubicBezTo>
                <a:lnTo>
                  <a:pt x="57429" y="33337"/>
                </a:lnTo>
                <a:cubicBezTo>
                  <a:pt x="53340" y="33337"/>
                  <a:pt x="50032" y="30030"/>
                  <a:pt x="50032" y="25941"/>
                </a:cubicBezTo>
                <a:lnTo>
                  <a:pt x="50032" y="25003"/>
                </a:lnTo>
                <a:close/>
                <a:moveTo>
                  <a:pt x="140018" y="28337"/>
                </a:moveTo>
                <a:cubicBezTo>
                  <a:pt x="142778" y="32009"/>
                  <a:pt x="142023" y="37244"/>
                  <a:pt x="138351" y="40005"/>
                </a:cubicBezTo>
                <a:lnTo>
                  <a:pt x="112879" y="59096"/>
                </a:lnTo>
                <a:cubicBezTo>
                  <a:pt x="114259" y="61414"/>
                  <a:pt x="115301" y="63966"/>
                  <a:pt x="115952" y="66675"/>
                </a:cubicBezTo>
                <a:lnTo>
                  <a:pt x="141684" y="66675"/>
                </a:lnTo>
                <a:cubicBezTo>
                  <a:pt x="146294" y="66675"/>
                  <a:pt x="150019" y="70399"/>
                  <a:pt x="150019" y="75009"/>
                </a:cubicBezTo>
                <a:cubicBezTo>
                  <a:pt x="150019" y="79619"/>
                  <a:pt x="146294" y="83344"/>
                  <a:pt x="141684" y="83344"/>
                </a:cubicBezTo>
                <a:lnTo>
                  <a:pt x="116681" y="83344"/>
                </a:lnTo>
                <a:lnTo>
                  <a:pt x="116681" y="91678"/>
                </a:lnTo>
                <a:cubicBezTo>
                  <a:pt x="116681" y="92355"/>
                  <a:pt x="116655" y="93059"/>
                  <a:pt x="116629" y="93736"/>
                </a:cubicBezTo>
                <a:lnTo>
                  <a:pt x="138351" y="110014"/>
                </a:lnTo>
                <a:cubicBezTo>
                  <a:pt x="142023" y="112775"/>
                  <a:pt x="142778" y="118010"/>
                  <a:pt x="140018" y="121682"/>
                </a:cubicBezTo>
                <a:cubicBezTo>
                  <a:pt x="137257" y="125354"/>
                  <a:pt x="132022" y="126110"/>
                  <a:pt x="128349" y="123349"/>
                </a:cubicBezTo>
                <a:lnTo>
                  <a:pt x="111915" y="111030"/>
                </a:lnTo>
                <a:cubicBezTo>
                  <a:pt x="105873" y="122541"/>
                  <a:pt x="94595" y="130876"/>
                  <a:pt x="81260" y="132881"/>
                </a:cubicBezTo>
                <a:lnTo>
                  <a:pt x="81260" y="72926"/>
                </a:lnTo>
                <a:cubicBezTo>
                  <a:pt x="81260" y="69462"/>
                  <a:pt x="78473" y="66675"/>
                  <a:pt x="75009" y="66675"/>
                </a:cubicBezTo>
                <a:cubicBezTo>
                  <a:pt x="71545" y="66675"/>
                  <a:pt x="68759" y="69462"/>
                  <a:pt x="68759" y="72926"/>
                </a:cubicBezTo>
                <a:lnTo>
                  <a:pt x="68759" y="132881"/>
                </a:lnTo>
                <a:cubicBezTo>
                  <a:pt x="55424" y="130876"/>
                  <a:pt x="44146" y="122541"/>
                  <a:pt x="38104" y="111030"/>
                </a:cubicBezTo>
                <a:lnTo>
                  <a:pt x="21669" y="123349"/>
                </a:lnTo>
                <a:cubicBezTo>
                  <a:pt x="17997" y="126110"/>
                  <a:pt x="12762" y="125354"/>
                  <a:pt x="10001" y="121682"/>
                </a:cubicBezTo>
                <a:cubicBezTo>
                  <a:pt x="7240" y="118010"/>
                  <a:pt x="7996" y="112775"/>
                  <a:pt x="11668" y="110014"/>
                </a:cubicBezTo>
                <a:lnTo>
                  <a:pt x="33390" y="93736"/>
                </a:lnTo>
                <a:cubicBezTo>
                  <a:pt x="33364" y="93059"/>
                  <a:pt x="33338" y="92381"/>
                  <a:pt x="33338" y="91678"/>
                </a:cubicBezTo>
                <a:lnTo>
                  <a:pt x="33338" y="83344"/>
                </a:lnTo>
                <a:lnTo>
                  <a:pt x="8334" y="83344"/>
                </a:lnTo>
                <a:cubicBezTo>
                  <a:pt x="3724" y="83344"/>
                  <a:pt x="0" y="79619"/>
                  <a:pt x="0" y="75009"/>
                </a:cubicBezTo>
                <a:cubicBezTo>
                  <a:pt x="0" y="70399"/>
                  <a:pt x="3724" y="66675"/>
                  <a:pt x="8334" y="66675"/>
                </a:cubicBezTo>
                <a:lnTo>
                  <a:pt x="34067" y="66675"/>
                </a:lnTo>
                <a:cubicBezTo>
                  <a:pt x="34718" y="63966"/>
                  <a:pt x="35760" y="61414"/>
                  <a:pt x="37140" y="59096"/>
                </a:cubicBezTo>
                <a:lnTo>
                  <a:pt x="11668" y="40005"/>
                </a:lnTo>
                <a:cubicBezTo>
                  <a:pt x="7996" y="37244"/>
                  <a:pt x="7240" y="32009"/>
                  <a:pt x="10001" y="28337"/>
                </a:cubicBezTo>
                <a:cubicBezTo>
                  <a:pt x="12762" y="24665"/>
                  <a:pt x="17997" y="23909"/>
                  <a:pt x="21669" y="26670"/>
                </a:cubicBezTo>
                <a:lnTo>
                  <a:pt x="50006" y="47923"/>
                </a:lnTo>
                <a:cubicBezTo>
                  <a:pt x="53210" y="46594"/>
                  <a:pt x="56726" y="45839"/>
                  <a:pt x="60424" y="45839"/>
                </a:cubicBezTo>
                <a:lnTo>
                  <a:pt x="89595" y="45839"/>
                </a:lnTo>
                <a:cubicBezTo>
                  <a:pt x="93293" y="45839"/>
                  <a:pt x="96809" y="46568"/>
                  <a:pt x="100013" y="47923"/>
                </a:cubicBezTo>
                <a:lnTo>
                  <a:pt x="128349" y="26670"/>
                </a:lnTo>
                <a:cubicBezTo>
                  <a:pt x="132022" y="23909"/>
                  <a:pt x="137257" y="24665"/>
                  <a:pt x="140018" y="28337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3104108" y="2076450"/>
            <a:ext cx="1676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Controlled attacks from external machine</a:t>
            </a:r>
            <a:endParaRPr b="0" i="0" sz="1600" u="none" cap="none" strike="noStrike"/>
          </a:p>
        </p:txBody>
      </p:sp>
      <p:sp>
        <p:nvSpPr>
          <p:cNvPr id="255" name="Google Shape;255;p10"/>
          <p:cNvSpPr/>
          <p:nvPr/>
        </p:nvSpPr>
        <p:spPr>
          <a:xfrm>
            <a:off x="2861221" y="2519363"/>
            <a:ext cx="1847850" cy="1066800"/>
          </a:xfrm>
          <a:custGeom>
            <a:rect b="b" l="l" r="r" t="t"/>
            <a:pathLst>
              <a:path extrusionOk="0" h="1066800" w="1847850">
                <a:moveTo>
                  <a:pt x="38095" y="0"/>
                </a:moveTo>
                <a:lnTo>
                  <a:pt x="1809755" y="0"/>
                </a:lnTo>
                <a:cubicBezTo>
                  <a:pt x="1830780" y="0"/>
                  <a:pt x="1847850" y="17070"/>
                  <a:pt x="1847850" y="38095"/>
                </a:cubicBezTo>
                <a:lnTo>
                  <a:pt x="1847850" y="1028705"/>
                </a:lnTo>
                <a:cubicBezTo>
                  <a:pt x="1847850" y="1049730"/>
                  <a:pt x="1830780" y="1066800"/>
                  <a:pt x="1809755" y="1066800"/>
                </a:cubicBezTo>
                <a:lnTo>
                  <a:pt x="38095" y="1066800"/>
                </a:lnTo>
                <a:cubicBezTo>
                  <a:pt x="17070" y="1066800"/>
                  <a:pt x="0" y="1049730"/>
                  <a:pt x="0" y="1028705"/>
                </a:cubicBezTo>
                <a:lnTo>
                  <a:pt x="0" y="38095"/>
                </a:lnTo>
                <a:cubicBezTo>
                  <a:pt x="0" y="17070"/>
                  <a:pt x="17070" y="0"/>
                  <a:pt x="380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2937421" y="2595563"/>
            <a:ext cx="1752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Attack Types:</a:t>
            </a:r>
            <a:endParaRPr b="0" i="0" sz="1600" u="none" cap="none" strike="noStrike"/>
          </a:p>
        </p:txBody>
      </p:sp>
      <p:sp>
        <p:nvSpPr>
          <p:cNvPr id="257" name="Google Shape;257;p10"/>
          <p:cNvSpPr/>
          <p:nvPr/>
        </p:nvSpPr>
        <p:spPr>
          <a:xfrm>
            <a:off x="2937421" y="2786063"/>
            <a:ext cx="1752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Port scanning</a:t>
            </a:r>
            <a:endParaRPr b="0" i="0" sz="1600" u="none" cap="none" strike="noStrike"/>
          </a:p>
        </p:txBody>
      </p:sp>
      <p:sp>
        <p:nvSpPr>
          <p:cNvPr id="258" name="Google Shape;258;p10"/>
          <p:cNvSpPr/>
          <p:nvPr/>
        </p:nvSpPr>
        <p:spPr>
          <a:xfrm>
            <a:off x="2937421" y="2976563"/>
            <a:ext cx="1752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SQL injection</a:t>
            </a:r>
            <a:endParaRPr b="0" i="0" sz="1600" u="none" cap="none" strike="noStrike"/>
          </a:p>
        </p:txBody>
      </p:sp>
      <p:sp>
        <p:nvSpPr>
          <p:cNvPr id="259" name="Google Shape;259;p10"/>
          <p:cNvSpPr/>
          <p:nvPr/>
        </p:nvSpPr>
        <p:spPr>
          <a:xfrm>
            <a:off x="2937421" y="3167063"/>
            <a:ext cx="1752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XSS attacks</a:t>
            </a:r>
            <a:endParaRPr b="0" i="0" sz="1600" u="none" cap="none" strike="noStrike"/>
          </a:p>
        </p:txBody>
      </p:sp>
      <p:sp>
        <p:nvSpPr>
          <p:cNvPr id="260" name="Google Shape;260;p10"/>
          <p:cNvSpPr/>
          <p:nvPr/>
        </p:nvSpPr>
        <p:spPr>
          <a:xfrm>
            <a:off x="2937421" y="3357563"/>
            <a:ext cx="1752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DoS &amp; brute-force</a:t>
            </a:r>
            <a:endParaRPr b="0" i="0" sz="1600" u="none" cap="none" strike="noStrike"/>
          </a:p>
        </p:txBody>
      </p:sp>
      <p:sp>
        <p:nvSpPr>
          <p:cNvPr id="261" name="Google Shape;261;p10"/>
          <p:cNvSpPr/>
          <p:nvPr/>
        </p:nvSpPr>
        <p:spPr>
          <a:xfrm>
            <a:off x="2861221" y="5081588"/>
            <a:ext cx="1847850" cy="9525"/>
          </a:xfrm>
          <a:custGeom>
            <a:rect b="b" l="l" r="r" t="t"/>
            <a:pathLst>
              <a:path extrusionOk="0" h="9525" w="1847850">
                <a:moveTo>
                  <a:pt x="0" y="0"/>
                </a:moveTo>
                <a:lnTo>
                  <a:pt x="1847850" y="0"/>
                </a:lnTo>
                <a:lnTo>
                  <a:pt x="18478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29803"/>
            </a:srgbClr>
          </a:solidFill>
          <a:ln>
            <a:noFill/>
          </a:ln>
        </p:spPr>
      </p:sp>
      <p:sp>
        <p:nvSpPr>
          <p:cNvPr id="262" name="Google Shape;262;p10"/>
          <p:cNvSpPr/>
          <p:nvPr/>
        </p:nvSpPr>
        <p:spPr>
          <a:xfrm>
            <a:off x="2882652" y="5210175"/>
            <a:ext cx="100013" cy="114300"/>
          </a:xfrm>
          <a:custGeom>
            <a:rect b="b" l="l" r="r" t="t"/>
            <a:pathLst>
              <a:path extrusionOk="0" h="114300" w="100013">
                <a:moveTo>
                  <a:pt x="64294" y="0"/>
                </a:moveTo>
                <a:lnTo>
                  <a:pt x="28575" y="0"/>
                </a:lnTo>
                <a:cubicBezTo>
                  <a:pt x="24624" y="0"/>
                  <a:pt x="21431" y="3192"/>
                  <a:pt x="21431" y="7144"/>
                </a:cubicBezTo>
                <a:cubicBezTo>
                  <a:pt x="21431" y="11095"/>
                  <a:pt x="24624" y="14288"/>
                  <a:pt x="28575" y="14288"/>
                </a:cubicBezTo>
                <a:lnTo>
                  <a:pt x="28575" y="48109"/>
                </a:lnTo>
                <a:lnTo>
                  <a:pt x="1674" y="95168"/>
                </a:lnTo>
                <a:cubicBezTo>
                  <a:pt x="580" y="97110"/>
                  <a:pt x="0" y="99276"/>
                  <a:pt x="0" y="101508"/>
                </a:cubicBezTo>
                <a:cubicBezTo>
                  <a:pt x="0" y="108585"/>
                  <a:pt x="5715" y="114300"/>
                  <a:pt x="12792" y="114300"/>
                </a:cubicBezTo>
                <a:lnTo>
                  <a:pt x="87221" y="114300"/>
                </a:lnTo>
                <a:cubicBezTo>
                  <a:pt x="94275" y="114300"/>
                  <a:pt x="100013" y="108585"/>
                  <a:pt x="100013" y="101508"/>
                </a:cubicBezTo>
                <a:cubicBezTo>
                  <a:pt x="100013" y="99276"/>
                  <a:pt x="99432" y="97088"/>
                  <a:pt x="98338" y="95168"/>
                </a:cubicBezTo>
                <a:lnTo>
                  <a:pt x="71438" y="48109"/>
                </a:lnTo>
                <a:lnTo>
                  <a:pt x="71438" y="14288"/>
                </a:lnTo>
                <a:cubicBezTo>
                  <a:pt x="75389" y="14288"/>
                  <a:pt x="78581" y="11095"/>
                  <a:pt x="78581" y="7144"/>
                </a:cubicBezTo>
                <a:cubicBezTo>
                  <a:pt x="78581" y="3192"/>
                  <a:pt x="75389" y="0"/>
                  <a:pt x="71438" y="0"/>
                </a:cubicBezTo>
                <a:lnTo>
                  <a:pt x="64294" y="0"/>
                </a:lnTo>
                <a:close/>
                <a:moveTo>
                  <a:pt x="42863" y="48109"/>
                </a:moveTo>
                <a:lnTo>
                  <a:pt x="42863" y="14288"/>
                </a:lnTo>
                <a:lnTo>
                  <a:pt x="57150" y="14288"/>
                </a:lnTo>
                <a:lnTo>
                  <a:pt x="57150" y="48109"/>
                </a:lnTo>
                <a:cubicBezTo>
                  <a:pt x="57150" y="50587"/>
                  <a:pt x="57797" y="53042"/>
                  <a:pt x="59025" y="55208"/>
                </a:cubicBezTo>
                <a:lnTo>
                  <a:pt x="68312" y="71438"/>
                </a:lnTo>
                <a:lnTo>
                  <a:pt x="31700" y="71438"/>
                </a:lnTo>
                <a:lnTo>
                  <a:pt x="40987" y="55208"/>
                </a:lnTo>
                <a:cubicBezTo>
                  <a:pt x="42215" y="53042"/>
                  <a:pt x="42863" y="50609"/>
                  <a:pt x="42863" y="48109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3032671" y="5200650"/>
            <a:ext cx="1733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Real-world threat scenarios</a:t>
            </a:r>
            <a:endParaRPr b="0" i="0" sz="1600" u="none" cap="none" strike="noStrike"/>
          </a:p>
        </p:txBody>
      </p:sp>
      <p:sp>
        <p:nvSpPr>
          <p:cNvPr id="264" name="Google Shape;264;p10"/>
          <p:cNvSpPr/>
          <p:nvPr/>
        </p:nvSpPr>
        <p:spPr>
          <a:xfrm>
            <a:off x="5008215" y="1266825"/>
            <a:ext cx="2171700" cy="4248150"/>
          </a:xfrm>
          <a:custGeom>
            <a:rect b="b" l="l" r="r" t="t"/>
            <a:pathLst>
              <a:path extrusionOk="0" h="4248150" w="2171700">
                <a:moveTo>
                  <a:pt x="76205" y="0"/>
                </a:moveTo>
                <a:lnTo>
                  <a:pt x="2095495" y="0"/>
                </a:lnTo>
                <a:cubicBezTo>
                  <a:pt x="2137582" y="0"/>
                  <a:pt x="2171700" y="34118"/>
                  <a:pt x="2171700" y="76205"/>
                </a:cubicBezTo>
                <a:lnTo>
                  <a:pt x="2171700" y="4171945"/>
                </a:lnTo>
                <a:cubicBezTo>
                  <a:pt x="2171700" y="4214032"/>
                  <a:pt x="2137582" y="4248150"/>
                  <a:pt x="2095495" y="4248150"/>
                </a:cubicBezTo>
                <a:lnTo>
                  <a:pt x="76205" y="4248150"/>
                </a:lnTo>
                <a:cubicBezTo>
                  <a:pt x="34118" y="4248150"/>
                  <a:pt x="0" y="4214032"/>
                  <a:pt x="0" y="41719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C9A86A">
              <a:alpha val="14901"/>
            </a:srgbClr>
          </a:solidFill>
          <a:ln cap="flat" cmpd="sng" w="25400">
            <a:solidFill>
              <a:srgbClr val="C9A8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5170140" y="150495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0"/>
          <p:cNvSpPr/>
          <p:nvPr/>
        </p:nvSpPr>
        <p:spPr>
          <a:xfrm>
            <a:off x="5127278" y="1504950"/>
            <a:ext cx="4667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267" name="Google Shape;267;p10"/>
          <p:cNvSpPr/>
          <p:nvPr/>
        </p:nvSpPr>
        <p:spPr>
          <a:xfrm>
            <a:off x="5627340" y="1428750"/>
            <a:ext cx="8286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Threat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Detection</a:t>
            </a:r>
            <a:endParaRPr b="0" i="0" sz="1600" u="none" cap="none" strike="noStrike"/>
          </a:p>
        </p:txBody>
      </p:sp>
      <p:sp>
        <p:nvSpPr>
          <p:cNvPr id="268" name="Google Shape;268;p10"/>
          <p:cNvSpPr/>
          <p:nvPr/>
        </p:nvSpPr>
        <p:spPr>
          <a:xfrm>
            <a:off x="5189190" y="2114550"/>
            <a:ext cx="133350" cy="133350"/>
          </a:xfrm>
          <a:custGeom>
            <a:rect b="b" l="l" r="r" t="t"/>
            <a:pathLst>
              <a:path extrusionOk="0" h="133350" w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91678"/>
                </a:moveTo>
                <a:cubicBezTo>
                  <a:pt x="74873" y="91678"/>
                  <a:pt x="91678" y="74873"/>
                  <a:pt x="91678" y="54173"/>
                </a:cubicBezTo>
                <a:cubicBezTo>
                  <a:pt x="91678" y="33474"/>
                  <a:pt x="74873" y="16669"/>
                  <a:pt x="54173" y="16669"/>
                </a:cubicBezTo>
                <a:cubicBezTo>
                  <a:pt x="33474" y="16669"/>
                  <a:pt x="16669" y="33474"/>
                  <a:pt x="16669" y="54173"/>
                </a:cubicBezTo>
                <a:cubicBezTo>
                  <a:pt x="16669" y="74873"/>
                  <a:pt x="33474" y="91678"/>
                  <a:pt x="54173" y="91678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5413028" y="2076450"/>
            <a:ext cx="1676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Suricata IDS inspects inter-zone traffic</a:t>
            </a:r>
            <a:endParaRPr b="0" i="0" sz="1600" u="none" cap="none" strike="noStrike"/>
          </a:p>
        </p:txBody>
      </p:sp>
      <p:sp>
        <p:nvSpPr>
          <p:cNvPr id="270" name="Google Shape;270;p10"/>
          <p:cNvSpPr/>
          <p:nvPr/>
        </p:nvSpPr>
        <p:spPr>
          <a:xfrm>
            <a:off x="5170140" y="2519363"/>
            <a:ext cx="1847850" cy="1066800"/>
          </a:xfrm>
          <a:custGeom>
            <a:rect b="b" l="l" r="r" t="t"/>
            <a:pathLst>
              <a:path extrusionOk="0" h="1066800" w="1847850">
                <a:moveTo>
                  <a:pt x="38095" y="0"/>
                </a:moveTo>
                <a:lnTo>
                  <a:pt x="1809755" y="0"/>
                </a:lnTo>
                <a:cubicBezTo>
                  <a:pt x="1830780" y="0"/>
                  <a:pt x="1847850" y="17070"/>
                  <a:pt x="1847850" y="38095"/>
                </a:cubicBezTo>
                <a:lnTo>
                  <a:pt x="1847850" y="1028705"/>
                </a:lnTo>
                <a:cubicBezTo>
                  <a:pt x="1847850" y="1049730"/>
                  <a:pt x="1830780" y="1066800"/>
                  <a:pt x="1809755" y="1066800"/>
                </a:cubicBezTo>
                <a:lnTo>
                  <a:pt x="38095" y="1066800"/>
                </a:lnTo>
                <a:cubicBezTo>
                  <a:pt x="17070" y="1066800"/>
                  <a:pt x="0" y="1049730"/>
                  <a:pt x="0" y="1028705"/>
                </a:cubicBezTo>
                <a:lnTo>
                  <a:pt x="0" y="38095"/>
                </a:lnTo>
                <a:cubicBezTo>
                  <a:pt x="0" y="17070"/>
                  <a:pt x="17070" y="0"/>
                  <a:pt x="38095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5246340" y="2595563"/>
            <a:ext cx="1752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Detection Capabilities:</a:t>
            </a:r>
            <a:endParaRPr b="0" i="0" sz="1600" u="none" cap="none" strike="noStrike"/>
          </a:p>
        </p:txBody>
      </p:sp>
      <p:sp>
        <p:nvSpPr>
          <p:cNvPr id="272" name="Google Shape;272;p10"/>
          <p:cNvSpPr/>
          <p:nvPr/>
        </p:nvSpPr>
        <p:spPr>
          <a:xfrm>
            <a:off x="5246340" y="2786063"/>
            <a:ext cx="1752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Port scans</a:t>
            </a:r>
            <a:endParaRPr b="0" i="0" sz="1600" u="none" cap="none" strike="noStrike"/>
          </a:p>
        </p:txBody>
      </p:sp>
      <p:sp>
        <p:nvSpPr>
          <p:cNvPr id="273" name="Google Shape;273;p10"/>
          <p:cNvSpPr/>
          <p:nvPr/>
        </p:nvSpPr>
        <p:spPr>
          <a:xfrm>
            <a:off x="5246340" y="2976563"/>
            <a:ext cx="1752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SYN floods</a:t>
            </a:r>
            <a:endParaRPr b="0" i="0" sz="1600" u="none" cap="none" strike="noStrike"/>
          </a:p>
        </p:txBody>
      </p:sp>
      <p:sp>
        <p:nvSpPr>
          <p:cNvPr id="274" name="Google Shape;274;p10"/>
          <p:cNvSpPr/>
          <p:nvPr/>
        </p:nvSpPr>
        <p:spPr>
          <a:xfrm>
            <a:off x="5246340" y="3167063"/>
            <a:ext cx="1752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SQLi patterns</a:t>
            </a:r>
            <a:endParaRPr b="0" i="0" sz="1600" u="none" cap="none" strike="noStrike"/>
          </a:p>
        </p:txBody>
      </p:sp>
      <p:sp>
        <p:nvSpPr>
          <p:cNvPr id="275" name="Google Shape;275;p10"/>
          <p:cNvSpPr/>
          <p:nvPr/>
        </p:nvSpPr>
        <p:spPr>
          <a:xfrm>
            <a:off x="5246340" y="3357563"/>
            <a:ext cx="17526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Malformed requests</a:t>
            </a:r>
            <a:endParaRPr b="0" i="0" sz="1600" u="none" cap="none" strike="noStrike"/>
          </a:p>
        </p:txBody>
      </p:sp>
      <p:sp>
        <p:nvSpPr>
          <p:cNvPr id="276" name="Google Shape;276;p10"/>
          <p:cNvSpPr/>
          <p:nvPr/>
        </p:nvSpPr>
        <p:spPr>
          <a:xfrm>
            <a:off x="5170140" y="5081588"/>
            <a:ext cx="1847850" cy="9525"/>
          </a:xfrm>
          <a:custGeom>
            <a:rect b="b" l="l" r="r" t="t"/>
            <a:pathLst>
              <a:path extrusionOk="0" h="9525" w="1847850">
                <a:moveTo>
                  <a:pt x="0" y="0"/>
                </a:moveTo>
                <a:lnTo>
                  <a:pt x="1847850" y="0"/>
                </a:lnTo>
                <a:lnTo>
                  <a:pt x="18478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29803"/>
            </a:srgbClr>
          </a:solidFill>
          <a:ln>
            <a:noFill/>
          </a:ln>
        </p:spPr>
      </p:sp>
      <p:sp>
        <p:nvSpPr>
          <p:cNvPr id="277" name="Google Shape;277;p10"/>
          <p:cNvSpPr/>
          <p:nvPr/>
        </p:nvSpPr>
        <p:spPr>
          <a:xfrm>
            <a:off x="5191571" y="5210175"/>
            <a:ext cx="100013" cy="114300"/>
          </a:xfrm>
          <a:custGeom>
            <a:rect b="b" l="l" r="r" t="t"/>
            <a:pathLst>
              <a:path extrusionOk="0" h="114300" w="100013">
                <a:moveTo>
                  <a:pt x="50006" y="0"/>
                </a:moveTo>
                <a:cubicBezTo>
                  <a:pt x="46055" y="0"/>
                  <a:pt x="42863" y="3192"/>
                  <a:pt x="42863" y="7144"/>
                </a:cubicBezTo>
                <a:lnTo>
                  <a:pt x="42863" y="7858"/>
                </a:lnTo>
                <a:cubicBezTo>
                  <a:pt x="26566" y="11162"/>
                  <a:pt x="14288" y="25584"/>
                  <a:pt x="14288" y="42863"/>
                </a:cubicBezTo>
                <a:lnTo>
                  <a:pt x="14288" y="47707"/>
                </a:lnTo>
                <a:cubicBezTo>
                  <a:pt x="14288" y="58445"/>
                  <a:pt x="10626" y="68870"/>
                  <a:pt x="3929" y="77264"/>
                </a:cubicBezTo>
                <a:lnTo>
                  <a:pt x="1741" y="79988"/>
                </a:lnTo>
                <a:cubicBezTo>
                  <a:pt x="603" y="81394"/>
                  <a:pt x="0" y="83135"/>
                  <a:pt x="0" y="84944"/>
                </a:cubicBezTo>
                <a:cubicBezTo>
                  <a:pt x="0" y="89319"/>
                  <a:pt x="3550" y="92869"/>
                  <a:pt x="7925" y="92869"/>
                </a:cubicBezTo>
                <a:lnTo>
                  <a:pt x="92065" y="92869"/>
                </a:lnTo>
                <a:cubicBezTo>
                  <a:pt x="96441" y="92869"/>
                  <a:pt x="99990" y="89319"/>
                  <a:pt x="99990" y="84944"/>
                </a:cubicBezTo>
                <a:cubicBezTo>
                  <a:pt x="99990" y="83135"/>
                  <a:pt x="99387" y="81394"/>
                  <a:pt x="98249" y="79988"/>
                </a:cubicBezTo>
                <a:lnTo>
                  <a:pt x="96061" y="77264"/>
                </a:lnTo>
                <a:cubicBezTo>
                  <a:pt x="89386" y="68870"/>
                  <a:pt x="85725" y="58445"/>
                  <a:pt x="85725" y="47707"/>
                </a:cubicBezTo>
                <a:lnTo>
                  <a:pt x="85725" y="42863"/>
                </a:lnTo>
                <a:cubicBezTo>
                  <a:pt x="85725" y="25584"/>
                  <a:pt x="73447" y="11162"/>
                  <a:pt x="57150" y="7858"/>
                </a:cubicBezTo>
                <a:lnTo>
                  <a:pt x="57150" y="7144"/>
                </a:lnTo>
                <a:cubicBezTo>
                  <a:pt x="57150" y="3192"/>
                  <a:pt x="53958" y="0"/>
                  <a:pt x="50006" y="0"/>
                </a:cubicBezTo>
                <a:close/>
                <a:moveTo>
                  <a:pt x="36165" y="103584"/>
                </a:moveTo>
                <a:cubicBezTo>
                  <a:pt x="37750" y="109746"/>
                  <a:pt x="43354" y="114300"/>
                  <a:pt x="50006" y="114300"/>
                </a:cubicBezTo>
                <a:cubicBezTo>
                  <a:pt x="56659" y="114300"/>
                  <a:pt x="62262" y="109746"/>
                  <a:pt x="63847" y="103584"/>
                </a:cubicBezTo>
                <a:lnTo>
                  <a:pt x="36165" y="103584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5341590" y="5200650"/>
            <a:ext cx="1733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alerts generated</a:t>
            </a:r>
            <a:endParaRPr b="0" i="0" sz="1600" u="none" cap="none" strike="noStrike"/>
          </a:p>
        </p:txBody>
      </p:sp>
      <p:sp>
        <p:nvSpPr>
          <p:cNvPr id="279" name="Google Shape;279;p10"/>
          <p:cNvSpPr/>
          <p:nvPr/>
        </p:nvSpPr>
        <p:spPr>
          <a:xfrm>
            <a:off x="7316986" y="1266825"/>
            <a:ext cx="2171700" cy="4248150"/>
          </a:xfrm>
          <a:custGeom>
            <a:rect b="b" l="l" r="r" t="t"/>
            <a:pathLst>
              <a:path extrusionOk="0" h="4248150" w="2171700">
                <a:moveTo>
                  <a:pt x="76205" y="0"/>
                </a:moveTo>
                <a:lnTo>
                  <a:pt x="2095495" y="0"/>
                </a:lnTo>
                <a:cubicBezTo>
                  <a:pt x="2137582" y="0"/>
                  <a:pt x="2171700" y="34118"/>
                  <a:pt x="2171700" y="76205"/>
                </a:cubicBezTo>
                <a:lnTo>
                  <a:pt x="2171700" y="4171945"/>
                </a:lnTo>
                <a:cubicBezTo>
                  <a:pt x="2171700" y="4214032"/>
                  <a:pt x="2137582" y="4248150"/>
                  <a:pt x="2095495" y="4248150"/>
                </a:cubicBezTo>
                <a:lnTo>
                  <a:pt x="76205" y="4248150"/>
                </a:lnTo>
                <a:cubicBezTo>
                  <a:pt x="34118" y="4248150"/>
                  <a:pt x="0" y="4214032"/>
                  <a:pt x="0" y="41719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D8C">
              <a:alpha val="14901"/>
            </a:srgbClr>
          </a:solidFill>
          <a:ln cap="flat" cmpd="sng" w="25400">
            <a:solidFill>
              <a:srgbClr val="4A6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7478911" y="150495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7436048" y="1504950"/>
            <a:ext cx="4667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282" name="Google Shape;282;p10"/>
          <p:cNvSpPr/>
          <p:nvPr/>
        </p:nvSpPr>
        <p:spPr>
          <a:xfrm>
            <a:off x="7936111" y="1428750"/>
            <a:ext cx="9239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Event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Correlation</a:t>
            </a:r>
            <a:endParaRPr b="0" i="0" sz="1600" u="none" cap="none" strike="noStrike"/>
          </a:p>
        </p:txBody>
      </p:sp>
      <p:sp>
        <p:nvSpPr>
          <p:cNvPr id="283" name="Google Shape;283;p10"/>
          <p:cNvSpPr/>
          <p:nvPr/>
        </p:nvSpPr>
        <p:spPr>
          <a:xfrm>
            <a:off x="7506295" y="2114550"/>
            <a:ext cx="116681" cy="133350"/>
          </a:xfrm>
          <a:custGeom>
            <a:rect b="b" l="l" r="r" t="t"/>
            <a:pathLst>
              <a:path extrusionOk="0" h="133350" w="116681">
                <a:moveTo>
                  <a:pt x="116681" y="53600"/>
                </a:moveTo>
                <a:cubicBezTo>
                  <a:pt x="112827" y="56153"/>
                  <a:pt x="108399" y="58210"/>
                  <a:pt x="103789" y="59851"/>
                </a:cubicBezTo>
                <a:cubicBezTo>
                  <a:pt x="91548" y="64227"/>
                  <a:pt x="75478" y="66675"/>
                  <a:pt x="58341" y="66675"/>
                </a:cubicBezTo>
                <a:cubicBezTo>
                  <a:pt x="41203" y="66675"/>
                  <a:pt x="25107" y="64201"/>
                  <a:pt x="12892" y="59851"/>
                </a:cubicBezTo>
                <a:cubicBezTo>
                  <a:pt x="8308" y="58210"/>
                  <a:pt x="3855" y="56153"/>
                  <a:pt x="0" y="53600"/>
                </a:cubicBezTo>
                <a:lnTo>
                  <a:pt x="0" y="75009"/>
                </a:lnTo>
                <a:cubicBezTo>
                  <a:pt x="0" y="86521"/>
                  <a:pt x="26123" y="95845"/>
                  <a:pt x="58341" y="95845"/>
                </a:cubicBezTo>
                <a:cubicBezTo>
                  <a:pt x="90558" y="95845"/>
                  <a:pt x="116681" y="86521"/>
                  <a:pt x="116681" y="75009"/>
                </a:cubicBezTo>
                <a:lnTo>
                  <a:pt x="116681" y="53600"/>
                </a:lnTo>
                <a:close/>
                <a:moveTo>
                  <a:pt x="116681" y="33337"/>
                </a:moveTo>
                <a:lnTo>
                  <a:pt x="116681" y="20836"/>
                </a:lnTo>
                <a:cubicBezTo>
                  <a:pt x="116681" y="9324"/>
                  <a:pt x="90558" y="0"/>
                  <a:pt x="58341" y="0"/>
                </a:cubicBezTo>
                <a:cubicBezTo>
                  <a:pt x="26123" y="0"/>
                  <a:pt x="0" y="9324"/>
                  <a:pt x="0" y="20836"/>
                </a:cubicBezTo>
                <a:lnTo>
                  <a:pt x="0" y="33337"/>
                </a:lnTo>
                <a:cubicBezTo>
                  <a:pt x="0" y="44849"/>
                  <a:pt x="26123" y="54173"/>
                  <a:pt x="58341" y="54173"/>
                </a:cubicBezTo>
                <a:cubicBezTo>
                  <a:pt x="90558" y="54173"/>
                  <a:pt x="116681" y="44849"/>
                  <a:pt x="116681" y="33337"/>
                </a:cubicBezTo>
                <a:close/>
                <a:moveTo>
                  <a:pt x="103789" y="101523"/>
                </a:moveTo>
                <a:cubicBezTo>
                  <a:pt x="91574" y="105873"/>
                  <a:pt x="75504" y="108347"/>
                  <a:pt x="58341" y="108347"/>
                </a:cubicBezTo>
                <a:cubicBezTo>
                  <a:pt x="41177" y="108347"/>
                  <a:pt x="25107" y="105873"/>
                  <a:pt x="12892" y="101523"/>
                </a:cubicBezTo>
                <a:cubicBezTo>
                  <a:pt x="8308" y="99882"/>
                  <a:pt x="3855" y="97825"/>
                  <a:pt x="0" y="95272"/>
                </a:cubicBezTo>
                <a:lnTo>
                  <a:pt x="0" y="112514"/>
                </a:lnTo>
                <a:cubicBezTo>
                  <a:pt x="0" y="124026"/>
                  <a:pt x="26123" y="133350"/>
                  <a:pt x="58341" y="133350"/>
                </a:cubicBezTo>
                <a:cubicBezTo>
                  <a:pt x="90558" y="133350"/>
                  <a:pt x="116681" y="124026"/>
                  <a:pt x="116681" y="112514"/>
                </a:cubicBezTo>
                <a:lnTo>
                  <a:pt x="116681" y="95272"/>
                </a:lnTo>
                <a:cubicBezTo>
                  <a:pt x="112827" y="97825"/>
                  <a:pt x="108399" y="99882"/>
                  <a:pt x="103789" y="101523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7721798" y="2076450"/>
            <a:ext cx="1676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Wazuh SIEM collects logs from all sources</a:t>
            </a:r>
            <a:endParaRPr b="0" i="0" sz="1600" u="none" cap="none" strike="noStrike"/>
          </a:p>
        </p:txBody>
      </p:sp>
      <p:sp>
        <p:nvSpPr>
          <p:cNvPr id="285" name="Google Shape;285;p10"/>
          <p:cNvSpPr/>
          <p:nvPr/>
        </p:nvSpPr>
        <p:spPr>
          <a:xfrm>
            <a:off x="7497961" y="2557463"/>
            <a:ext cx="133350" cy="133350"/>
          </a:xfrm>
          <a:custGeom>
            <a:rect b="b" l="l" r="r" t="t"/>
            <a:pathLst>
              <a:path extrusionOk="0" h="133350" w="133350">
                <a:moveTo>
                  <a:pt x="0" y="20836"/>
                </a:moveTo>
                <a:cubicBezTo>
                  <a:pt x="0" y="13934"/>
                  <a:pt x="5600" y="8334"/>
                  <a:pt x="12502" y="8334"/>
                </a:cubicBezTo>
                <a:lnTo>
                  <a:pt x="37505" y="8334"/>
                </a:lnTo>
                <a:cubicBezTo>
                  <a:pt x="44407" y="8334"/>
                  <a:pt x="50006" y="13934"/>
                  <a:pt x="50006" y="20836"/>
                </a:cubicBezTo>
                <a:lnTo>
                  <a:pt x="50006" y="25003"/>
                </a:lnTo>
                <a:lnTo>
                  <a:pt x="83344" y="25003"/>
                </a:lnTo>
                <a:lnTo>
                  <a:pt x="83344" y="20836"/>
                </a:lnTo>
                <a:cubicBezTo>
                  <a:pt x="83344" y="13934"/>
                  <a:pt x="88943" y="8334"/>
                  <a:pt x="95845" y="8334"/>
                </a:cubicBezTo>
                <a:lnTo>
                  <a:pt x="120848" y="8334"/>
                </a:lnTo>
                <a:cubicBezTo>
                  <a:pt x="127750" y="8334"/>
                  <a:pt x="133350" y="13934"/>
                  <a:pt x="133350" y="20836"/>
                </a:cubicBezTo>
                <a:lnTo>
                  <a:pt x="133350" y="45839"/>
                </a:lnTo>
                <a:cubicBezTo>
                  <a:pt x="133350" y="52741"/>
                  <a:pt x="127750" y="58341"/>
                  <a:pt x="120848" y="58341"/>
                </a:cubicBezTo>
                <a:lnTo>
                  <a:pt x="95845" y="58341"/>
                </a:lnTo>
                <a:cubicBezTo>
                  <a:pt x="88943" y="58341"/>
                  <a:pt x="83344" y="52741"/>
                  <a:pt x="83344" y="45839"/>
                </a:cubicBezTo>
                <a:lnTo>
                  <a:pt x="83344" y="41672"/>
                </a:lnTo>
                <a:lnTo>
                  <a:pt x="50006" y="41672"/>
                </a:lnTo>
                <a:lnTo>
                  <a:pt x="50006" y="45839"/>
                </a:lnTo>
                <a:cubicBezTo>
                  <a:pt x="50006" y="47740"/>
                  <a:pt x="49563" y="49563"/>
                  <a:pt x="48808" y="51178"/>
                </a:cubicBezTo>
                <a:lnTo>
                  <a:pt x="66675" y="75009"/>
                </a:lnTo>
                <a:lnTo>
                  <a:pt x="87511" y="75009"/>
                </a:lnTo>
                <a:cubicBezTo>
                  <a:pt x="94413" y="75009"/>
                  <a:pt x="100013" y="80609"/>
                  <a:pt x="100013" y="87511"/>
                </a:cubicBezTo>
                <a:lnTo>
                  <a:pt x="100013" y="112514"/>
                </a:lnTo>
                <a:cubicBezTo>
                  <a:pt x="100013" y="119416"/>
                  <a:pt x="94413" y="125016"/>
                  <a:pt x="87511" y="125016"/>
                </a:cubicBezTo>
                <a:lnTo>
                  <a:pt x="62508" y="125016"/>
                </a:lnTo>
                <a:cubicBezTo>
                  <a:pt x="55606" y="125016"/>
                  <a:pt x="50006" y="119416"/>
                  <a:pt x="50006" y="112514"/>
                </a:cubicBezTo>
                <a:lnTo>
                  <a:pt x="50006" y="87511"/>
                </a:lnTo>
                <a:cubicBezTo>
                  <a:pt x="50006" y="85610"/>
                  <a:pt x="50449" y="83787"/>
                  <a:pt x="51204" y="82172"/>
                </a:cubicBezTo>
                <a:lnTo>
                  <a:pt x="33337" y="58341"/>
                </a:lnTo>
                <a:lnTo>
                  <a:pt x="12502" y="58341"/>
                </a:lnTo>
                <a:cubicBezTo>
                  <a:pt x="5600" y="58341"/>
                  <a:pt x="0" y="52741"/>
                  <a:pt x="0" y="45839"/>
                </a:cubicBezTo>
                <a:lnTo>
                  <a:pt x="0" y="20836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7721798" y="2519363"/>
            <a:ext cx="1676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Correlates related events into incidents</a:t>
            </a:r>
            <a:endParaRPr b="0" i="0" sz="1600" u="none" cap="none" strike="noStrike"/>
          </a:p>
        </p:txBody>
      </p:sp>
      <p:sp>
        <p:nvSpPr>
          <p:cNvPr id="287" name="Google Shape;287;p10"/>
          <p:cNvSpPr/>
          <p:nvPr/>
        </p:nvSpPr>
        <p:spPr>
          <a:xfrm>
            <a:off x="7497961" y="3000375"/>
            <a:ext cx="133350" cy="133350"/>
          </a:xfrm>
          <a:custGeom>
            <a:rect b="b" l="l" r="r" t="t"/>
            <a:pathLst>
              <a:path extrusionOk="0" h="133350" w="133350">
                <a:moveTo>
                  <a:pt x="8334" y="16669"/>
                </a:moveTo>
                <a:cubicBezTo>
                  <a:pt x="4975" y="16669"/>
                  <a:pt x="1927" y="18700"/>
                  <a:pt x="625" y="21826"/>
                </a:cubicBezTo>
                <a:cubicBezTo>
                  <a:pt x="-677" y="24951"/>
                  <a:pt x="52" y="28519"/>
                  <a:pt x="2448" y="30889"/>
                </a:cubicBezTo>
                <a:lnTo>
                  <a:pt x="50006" y="78473"/>
                </a:lnTo>
                <a:lnTo>
                  <a:pt x="50006" y="108347"/>
                </a:lnTo>
                <a:cubicBezTo>
                  <a:pt x="50006" y="110561"/>
                  <a:pt x="50892" y="112670"/>
                  <a:pt x="52454" y="114233"/>
                </a:cubicBezTo>
                <a:lnTo>
                  <a:pt x="69123" y="130902"/>
                </a:lnTo>
                <a:cubicBezTo>
                  <a:pt x="71519" y="133298"/>
                  <a:pt x="75088" y="134001"/>
                  <a:pt x="78213" y="132699"/>
                </a:cubicBezTo>
                <a:cubicBezTo>
                  <a:pt x="81338" y="131397"/>
                  <a:pt x="83344" y="128375"/>
                  <a:pt x="83344" y="125016"/>
                </a:cubicBezTo>
                <a:lnTo>
                  <a:pt x="83344" y="78473"/>
                </a:lnTo>
                <a:lnTo>
                  <a:pt x="130902" y="30915"/>
                </a:lnTo>
                <a:cubicBezTo>
                  <a:pt x="133298" y="28519"/>
                  <a:pt x="134001" y="24951"/>
                  <a:pt x="132699" y="21826"/>
                </a:cubicBezTo>
                <a:cubicBezTo>
                  <a:pt x="131397" y="18700"/>
                  <a:pt x="128375" y="16669"/>
                  <a:pt x="125016" y="16669"/>
                </a:cubicBezTo>
                <a:lnTo>
                  <a:pt x="8334" y="16669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7721798" y="2962275"/>
            <a:ext cx="1676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Reduces noise and improves prioritization</a:t>
            </a:r>
            <a:endParaRPr b="0" i="0" sz="1600" u="none" cap="none" strike="noStrike"/>
          </a:p>
        </p:txBody>
      </p:sp>
      <p:sp>
        <p:nvSpPr>
          <p:cNvPr id="289" name="Google Shape;289;p10"/>
          <p:cNvSpPr/>
          <p:nvPr/>
        </p:nvSpPr>
        <p:spPr>
          <a:xfrm>
            <a:off x="7478911" y="5081588"/>
            <a:ext cx="1847850" cy="9525"/>
          </a:xfrm>
          <a:custGeom>
            <a:rect b="b" l="l" r="r" t="t"/>
            <a:pathLst>
              <a:path extrusionOk="0" h="9525" w="1847850">
                <a:moveTo>
                  <a:pt x="0" y="0"/>
                </a:moveTo>
                <a:lnTo>
                  <a:pt x="1847850" y="0"/>
                </a:lnTo>
                <a:lnTo>
                  <a:pt x="18478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29803"/>
            </a:srgbClr>
          </a:solidFill>
          <a:ln>
            <a:noFill/>
          </a:ln>
        </p:spPr>
      </p:sp>
      <p:sp>
        <p:nvSpPr>
          <p:cNvPr id="290" name="Google Shape;290;p10"/>
          <p:cNvSpPr/>
          <p:nvPr/>
        </p:nvSpPr>
        <p:spPr>
          <a:xfrm>
            <a:off x="7493198" y="5210175"/>
            <a:ext cx="114300" cy="114300"/>
          </a:xfrm>
          <a:custGeom>
            <a:rect b="b" l="l" r="r" t="t"/>
            <a:pathLst>
              <a:path extrusionOk="0" h="114300" w="114300">
                <a:moveTo>
                  <a:pt x="42863" y="14288"/>
                </a:moveTo>
                <a:cubicBezTo>
                  <a:pt x="42863" y="10336"/>
                  <a:pt x="46055" y="7144"/>
                  <a:pt x="50006" y="7144"/>
                </a:cubicBezTo>
                <a:lnTo>
                  <a:pt x="64294" y="7144"/>
                </a:lnTo>
                <a:cubicBezTo>
                  <a:pt x="68245" y="7144"/>
                  <a:pt x="71438" y="10336"/>
                  <a:pt x="71438" y="14288"/>
                </a:cubicBezTo>
                <a:lnTo>
                  <a:pt x="71438" y="28575"/>
                </a:lnTo>
                <a:cubicBezTo>
                  <a:pt x="71438" y="32526"/>
                  <a:pt x="68245" y="35719"/>
                  <a:pt x="64294" y="35719"/>
                </a:cubicBezTo>
                <a:lnTo>
                  <a:pt x="62508" y="35719"/>
                </a:lnTo>
                <a:lnTo>
                  <a:pt x="62508" y="50006"/>
                </a:lnTo>
                <a:lnTo>
                  <a:pt x="89297" y="50006"/>
                </a:lnTo>
                <a:cubicBezTo>
                  <a:pt x="98182" y="50006"/>
                  <a:pt x="105370" y="57195"/>
                  <a:pt x="105370" y="66080"/>
                </a:cubicBezTo>
                <a:lnTo>
                  <a:pt x="105370" y="78581"/>
                </a:lnTo>
                <a:lnTo>
                  <a:pt x="107156" y="78581"/>
                </a:lnTo>
                <a:cubicBezTo>
                  <a:pt x="111108" y="78581"/>
                  <a:pt x="114300" y="81774"/>
                  <a:pt x="114300" y="85725"/>
                </a:cubicBezTo>
                <a:lnTo>
                  <a:pt x="114300" y="100013"/>
                </a:lnTo>
                <a:cubicBezTo>
                  <a:pt x="114300" y="103964"/>
                  <a:pt x="111108" y="107156"/>
                  <a:pt x="107156" y="107156"/>
                </a:cubicBezTo>
                <a:lnTo>
                  <a:pt x="92869" y="107156"/>
                </a:lnTo>
                <a:cubicBezTo>
                  <a:pt x="88917" y="107156"/>
                  <a:pt x="85725" y="103964"/>
                  <a:pt x="85725" y="100013"/>
                </a:cubicBezTo>
                <a:lnTo>
                  <a:pt x="85725" y="85725"/>
                </a:lnTo>
                <a:cubicBezTo>
                  <a:pt x="85725" y="81774"/>
                  <a:pt x="88917" y="78581"/>
                  <a:pt x="92869" y="78581"/>
                </a:cubicBezTo>
                <a:lnTo>
                  <a:pt x="94655" y="78581"/>
                </a:lnTo>
                <a:lnTo>
                  <a:pt x="94655" y="66080"/>
                </a:lnTo>
                <a:cubicBezTo>
                  <a:pt x="94655" y="63111"/>
                  <a:pt x="92266" y="60722"/>
                  <a:pt x="89297" y="60722"/>
                </a:cubicBezTo>
                <a:lnTo>
                  <a:pt x="62508" y="60722"/>
                </a:lnTo>
                <a:lnTo>
                  <a:pt x="62508" y="78581"/>
                </a:lnTo>
                <a:lnTo>
                  <a:pt x="64294" y="78581"/>
                </a:lnTo>
                <a:cubicBezTo>
                  <a:pt x="68245" y="78581"/>
                  <a:pt x="71438" y="81774"/>
                  <a:pt x="71438" y="85725"/>
                </a:cubicBezTo>
                <a:lnTo>
                  <a:pt x="71438" y="100013"/>
                </a:lnTo>
                <a:cubicBezTo>
                  <a:pt x="71438" y="103964"/>
                  <a:pt x="68245" y="107156"/>
                  <a:pt x="64294" y="107156"/>
                </a:cubicBezTo>
                <a:lnTo>
                  <a:pt x="50006" y="107156"/>
                </a:lnTo>
                <a:cubicBezTo>
                  <a:pt x="46055" y="107156"/>
                  <a:pt x="42863" y="103964"/>
                  <a:pt x="42863" y="100013"/>
                </a:cubicBezTo>
                <a:lnTo>
                  <a:pt x="42863" y="85725"/>
                </a:lnTo>
                <a:cubicBezTo>
                  <a:pt x="42863" y="81774"/>
                  <a:pt x="46055" y="78581"/>
                  <a:pt x="50006" y="78581"/>
                </a:cubicBezTo>
                <a:lnTo>
                  <a:pt x="51792" y="78581"/>
                </a:lnTo>
                <a:lnTo>
                  <a:pt x="51792" y="60722"/>
                </a:lnTo>
                <a:lnTo>
                  <a:pt x="25003" y="60722"/>
                </a:lnTo>
                <a:cubicBezTo>
                  <a:pt x="22034" y="60722"/>
                  <a:pt x="19645" y="63111"/>
                  <a:pt x="19645" y="66080"/>
                </a:cubicBezTo>
                <a:lnTo>
                  <a:pt x="19645" y="78581"/>
                </a:lnTo>
                <a:lnTo>
                  <a:pt x="21431" y="78581"/>
                </a:lnTo>
                <a:cubicBezTo>
                  <a:pt x="25383" y="78581"/>
                  <a:pt x="28575" y="81774"/>
                  <a:pt x="28575" y="85725"/>
                </a:cubicBezTo>
                <a:lnTo>
                  <a:pt x="28575" y="100013"/>
                </a:lnTo>
                <a:cubicBezTo>
                  <a:pt x="28575" y="103964"/>
                  <a:pt x="25383" y="107156"/>
                  <a:pt x="21431" y="107156"/>
                </a:cubicBezTo>
                <a:lnTo>
                  <a:pt x="7144" y="107156"/>
                </a:lnTo>
                <a:cubicBezTo>
                  <a:pt x="3192" y="107156"/>
                  <a:pt x="0" y="103964"/>
                  <a:pt x="0" y="100013"/>
                </a:cubicBezTo>
                <a:lnTo>
                  <a:pt x="0" y="85725"/>
                </a:lnTo>
                <a:cubicBezTo>
                  <a:pt x="0" y="81774"/>
                  <a:pt x="3192" y="78581"/>
                  <a:pt x="7144" y="78581"/>
                </a:cubicBezTo>
                <a:lnTo>
                  <a:pt x="8930" y="78581"/>
                </a:lnTo>
                <a:lnTo>
                  <a:pt x="8930" y="66080"/>
                </a:lnTo>
                <a:cubicBezTo>
                  <a:pt x="8930" y="57195"/>
                  <a:pt x="16118" y="50006"/>
                  <a:pt x="25003" y="50006"/>
                </a:cubicBezTo>
                <a:lnTo>
                  <a:pt x="51792" y="50006"/>
                </a:lnTo>
                <a:lnTo>
                  <a:pt x="51792" y="35719"/>
                </a:lnTo>
                <a:lnTo>
                  <a:pt x="50006" y="35719"/>
                </a:lnTo>
                <a:cubicBezTo>
                  <a:pt x="46055" y="35719"/>
                  <a:pt x="42863" y="32526"/>
                  <a:pt x="42863" y="28575"/>
                </a:cubicBezTo>
                <a:lnTo>
                  <a:pt x="42863" y="14288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7650361" y="5200650"/>
            <a:ext cx="173355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Consolidated incidents created</a:t>
            </a:r>
            <a:endParaRPr b="0" i="0" sz="1600" u="none" cap="none" strike="noStrike"/>
          </a:p>
        </p:txBody>
      </p:sp>
      <p:sp>
        <p:nvSpPr>
          <p:cNvPr id="292" name="Google Shape;292;p10"/>
          <p:cNvSpPr/>
          <p:nvPr/>
        </p:nvSpPr>
        <p:spPr>
          <a:xfrm>
            <a:off x="9625905" y="1266825"/>
            <a:ext cx="2171700" cy="4248150"/>
          </a:xfrm>
          <a:custGeom>
            <a:rect b="b" l="l" r="r" t="t"/>
            <a:pathLst>
              <a:path extrusionOk="0" h="4248150" w="2171700">
                <a:moveTo>
                  <a:pt x="76205" y="0"/>
                </a:moveTo>
                <a:lnTo>
                  <a:pt x="2095495" y="0"/>
                </a:lnTo>
                <a:cubicBezTo>
                  <a:pt x="2137582" y="0"/>
                  <a:pt x="2171700" y="34118"/>
                  <a:pt x="2171700" y="76205"/>
                </a:cubicBezTo>
                <a:lnTo>
                  <a:pt x="2171700" y="4171945"/>
                </a:lnTo>
                <a:cubicBezTo>
                  <a:pt x="2171700" y="4214032"/>
                  <a:pt x="2137582" y="4248150"/>
                  <a:pt x="2095495" y="4248150"/>
                </a:cubicBezTo>
                <a:lnTo>
                  <a:pt x="76205" y="4248150"/>
                </a:lnTo>
                <a:cubicBezTo>
                  <a:pt x="34118" y="4248150"/>
                  <a:pt x="0" y="4214032"/>
                  <a:pt x="0" y="417194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5F6B7A">
              <a:alpha val="14901"/>
            </a:srgbClr>
          </a:solidFill>
          <a:ln cap="flat" cmpd="sng" w="25400">
            <a:solidFill>
              <a:srgbClr val="5F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"/>
          <p:cNvSpPr/>
          <p:nvPr/>
        </p:nvSpPr>
        <p:spPr>
          <a:xfrm>
            <a:off x="9787830" y="1504950"/>
            <a:ext cx="381000" cy="381000"/>
          </a:xfrm>
          <a:custGeom>
            <a:rect b="b" l="l" r="r" t="t"/>
            <a:pathLst>
              <a:path extrusionOk="0" h="381000" w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9744968" y="1504950"/>
            <a:ext cx="4667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600" u="none" cap="none" strike="noStrike"/>
          </a:p>
        </p:txBody>
      </p:sp>
      <p:sp>
        <p:nvSpPr>
          <p:cNvPr id="295" name="Google Shape;295;p10"/>
          <p:cNvSpPr/>
          <p:nvPr/>
        </p:nvSpPr>
        <p:spPr>
          <a:xfrm>
            <a:off x="10245030" y="1428750"/>
            <a:ext cx="914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SOC</a:t>
            </a:r>
            <a:endParaRPr b="0" i="0" sz="1600" u="none" cap="none" strike="noStrike"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Monitoring</a:t>
            </a:r>
            <a:endParaRPr b="0" i="0" sz="1600" u="none" cap="none" strike="noStrike"/>
          </a:p>
        </p:txBody>
      </p:sp>
      <p:sp>
        <p:nvSpPr>
          <p:cNvPr id="296" name="Google Shape;296;p10"/>
          <p:cNvSpPr/>
          <p:nvPr/>
        </p:nvSpPr>
        <p:spPr>
          <a:xfrm>
            <a:off x="9806880" y="2114550"/>
            <a:ext cx="133350" cy="133350"/>
          </a:xfrm>
          <a:custGeom>
            <a:rect b="b" l="l" r="r" t="t"/>
            <a:pathLst>
              <a:path extrusionOk="0" h="133350" w="133350">
                <a:moveTo>
                  <a:pt x="16669" y="8334"/>
                </a:moveTo>
                <a:cubicBezTo>
                  <a:pt x="7475" y="8334"/>
                  <a:pt x="0" y="15809"/>
                  <a:pt x="0" y="25003"/>
                </a:cubicBezTo>
                <a:lnTo>
                  <a:pt x="0" y="91678"/>
                </a:lnTo>
                <a:cubicBezTo>
                  <a:pt x="0" y="100872"/>
                  <a:pt x="7475" y="108347"/>
                  <a:pt x="16669" y="108347"/>
                </a:cubicBezTo>
                <a:lnTo>
                  <a:pt x="54173" y="108347"/>
                </a:lnTo>
                <a:lnTo>
                  <a:pt x="50006" y="120848"/>
                </a:lnTo>
                <a:lnTo>
                  <a:pt x="31254" y="120848"/>
                </a:lnTo>
                <a:cubicBezTo>
                  <a:pt x="27790" y="120848"/>
                  <a:pt x="25003" y="123635"/>
                  <a:pt x="25003" y="127099"/>
                </a:cubicBezTo>
                <a:cubicBezTo>
                  <a:pt x="25003" y="130563"/>
                  <a:pt x="27790" y="133350"/>
                  <a:pt x="31254" y="133350"/>
                </a:cubicBezTo>
                <a:lnTo>
                  <a:pt x="102096" y="133350"/>
                </a:lnTo>
                <a:cubicBezTo>
                  <a:pt x="105560" y="133350"/>
                  <a:pt x="108347" y="130563"/>
                  <a:pt x="108347" y="127099"/>
                </a:cubicBezTo>
                <a:cubicBezTo>
                  <a:pt x="108347" y="123635"/>
                  <a:pt x="105560" y="120848"/>
                  <a:pt x="102096" y="120848"/>
                </a:cubicBezTo>
                <a:lnTo>
                  <a:pt x="83344" y="120848"/>
                </a:lnTo>
                <a:lnTo>
                  <a:pt x="79177" y="108347"/>
                </a:lnTo>
                <a:lnTo>
                  <a:pt x="116681" y="108347"/>
                </a:lnTo>
                <a:cubicBezTo>
                  <a:pt x="125875" y="108347"/>
                  <a:pt x="133350" y="100872"/>
                  <a:pt x="133350" y="91678"/>
                </a:cubicBezTo>
                <a:lnTo>
                  <a:pt x="133350" y="25003"/>
                </a:lnTo>
                <a:cubicBezTo>
                  <a:pt x="133350" y="15809"/>
                  <a:pt x="125875" y="8334"/>
                  <a:pt x="116681" y="8334"/>
                </a:cubicBezTo>
                <a:lnTo>
                  <a:pt x="16669" y="8334"/>
                </a:lnTo>
                <a:close/>
                <a:moveTo>
                  <a:pt x="25003" y="25003"/>
                </a:moveTo>
                <a:lnTo>
                  <a:pt x="108347" y="25003"/>
                </a:lnTo>
                <a:cubicBezTo>
                  <a:pt x="112957" y="25003"/>
                  <a:pt x="116681" y="28728"/>
                  <a:pt x="116681" y="33337"/>
                </a:cubicBezTo>
                <a:lnTo>
                  <a:pt x="116681" y="75009"/>
                </a:lnTo>
                <a:cubicBezTo>
                  <a:pt x="116681" y="79619"/>
                  <a:pt x="112957" y="83344"/>
                  <a:pt x="108347" y="83344"/>
                </a:cubicBezTo>
                <a:lnTo>
                  <a:pt x="25003" y="83344"/>
                </a:lnTo>
                <a:cubicBezTo>
                  <a:pt x="20393" y="83344"/>
                  <a:pt x="16669" y="79619"/>
                  <a:pt x="16669" y="75009"/>
                </a:cubicBezTo>
                <a:lnTo>
                  <a:pt x="16669" y="33337"/>
                </a:lnTo>
                <a:cubicBezTo>
                  <a:pt x="16669" y="28728"/>
                  <a:pt x="20393" y="25003"/>
                  <a:pt x="25003" y="25003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"/>
          <p:cNvSpPr/>
          <p:nvPr/>
        </p:nvSpPr>
        <p:spPr>
          <a:xfrm>
            <a:off x="10030718" y="2076450"/>
            <a:ext cx="1676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Analysts monitor dashboards and alerts</a:t>
            </a:r>
            <a:endParaRPr b="0" i="0" sz="1600" u="none" cap="none" strike="noStrike"/>
          </a:p>
        </p:txBody>
      </p:sp>
      <p:sp>
        <p:nvSpPr>
          <p:cNvPr id="298" name="Google Shape;298;p10"/>
          <p:cNvSpPr/>
          <p:nvPr/>
        </p:nvSpPr>
        <p:spPr>
          <a:xfrm>
            <a:off x="9806880" y="2557463"/>
            <a:ext cx="133350" cy="133350"/>
          </a:xfrm>
          <a:custGeom>
            <a:rect b="b" l="l" r="r" t="t"/>
            <a:pathLst>
              <a:path extrusionOk="0" h="133350" w="133350">
                <a:moveTo>
                  <a:pt x="108347" y="54173"/>
                </a:moveTo>
                <a:cubicBezTo>
                  <a:pt x="108347" y="66128"/>
                  <a:pt x="104466" y="77171"/>
                  <a:pt x="97929" y="86131"/>
                </a:cubicBezTo>
                <a:lnTo>
                  <a:pt x="130902" y="119129"/>
                </a:lnTo>
                <a:cubicBezTo>
                  <a:pt x="134157" y="122385"/>
                  <a:pt x="134157" y="127672"/>
                  <a:pt x="130902" y="130928"/>
                </a:cubicBezTo>
                <a:cubicBezTo>
                  <a:pt x="127646" y="134183"/>
                  <a:pt x="122359" y="134183"/>
                  <a:pt x="119103" y="130928"/>
                </a:cubicBezTo>
                <a:lnTo>
                  <a:pt x="86131" y="97929"/>
                </a:lnTo>
                <a:cubicBezTo>
                  <a:pt x="77171" y="104466"/>
                  <a:pt x="66128" y="108347"/>
                  <a:pt x="54173" y="108347"/>
                </a:cubicBezTo>
                <a:cubicBezTo>
                  <a:pt x="24248" y="108347"/>
                  <a:pt x="0" y="84099"/>
                  <a:pt x="0" y="54173"/>
                </a:cubicBezTo>
                <a:cubicBezTo>
                  <a:pt x="0" y="24248"/>
                  <a:pt x="24248" y="0"/>
                  <a:pt x="54173" y="0"/>
                </a:cubicBezTo>
                <a:cubicBezTo>
                  <a:pt x="84099" y="0"/>
                  <a:pt x="108347" y="24248"/>
                  <a:pt x="108347" y="54173"/>
                </a:cubicBezTo>
                <a:close/>
                <a:moveTo>
                  <a:pt x="54173" y="29170"/>
                </a:moveTo>
                <a:cubicBezTo>
                  <a:pt x="50709" y="29170"/>
                  <a:pt x="47923" y="31957"/>
                  <a:pt x="47923" y="35421"/>
                </a:cubicBezTo>
                <a:lnTo>
                  <a:pt x="47923" y="47923"/>
                </a:lnTo>
                <a:lnTo>
                  <a:pt x="35421" y="47923"/>
                </a:lnTo>
                <a:cubicBezTo>
                  <a:pt x="31957" y="47923"/>
                  <a:pt x="29170" y="50709"/>
                  <a:pt x="29170" y="54173"/>
                </a:cubicBezTo>
                <a:cubicBezTo>
                  <a:pt x="29170" y="57637"/>
                  <a:pt x="31957" y="60424"/>
                  <a:pt x="35421" y="60424"/>
                </a:cubicBezTo>
                <a:lnTo>
                  <a:pt x="47923" y="60424"/>
                </a:lnTo>
                <a:lnTo>
                  <a:pt x="47923" y="72926"/>
                </a:lnTo>
                <a:cubicBezTo>
                  <a:pt x="47923" y="76390"/>
                  <a:pt x="50709" y="79177"/>
                  <a:pt x="54173" y="79177"/>
                </a:cubicBezTo>
                <a:cubicBezTo>
                  <a:pt x="57637" y="79177"/>
                  <a:pt x="60424" y="76390"/>
                  <a:pt x="60424" y="72926"/>
                </a:cubicBezTo>
                <a:lnTo>
                  <a:pt x="60424" y="60424"/>
                </a:lnTo>
                <a:lnTo>
                  <a:pt x="72926" y="60424"/>
                </a:lnTo>
                <a:cubicBezTo>
                  <a:pt x="76390" y="60424"/>
                  <a:pt x="79177" y="57637"/>
                  <a:pt x="79177" y="54173"/>
                </a:cubicBezTo>
                <a:cubicBezTo>
                  <a:pt x="79177" y="50709"/>
                  <a:pt x="76390" y="47923"/>
                  <a:pt x="72926" y="47923"/>
                </a:cubicBezTo>
                <a:lnTo>
                  <a:pt x="60424" y="47923"/>
                </a:lnTo>
                <a:lnTo>
                  <a:pt x="60424" y="35421"/>
                </a:lnTo>
                <a:cubicBezTo>
                  <a:pt x="60424" y="31957"/>
                  <a:pt x="57637" y="29170"/>
                  <a:pt x="54173" y="2917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10030718" y="2519363"/>
            <a:ext cx="1676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Investigate using logs and packet data</a:t>
            </a:r>
            <a:endParaRPr b="0" i="0" sz="1600" u="none" cap="none" strike="noStrike"/>
          </a:p>
        </p:txBody>
      </p:sp>
      <p:sp>
        <p:nvSpPr>
          <p:cNvPr id="300" name="Google Shape;300;p10"/>
          <p:cNvSpPr/>
          <p:nvPr/>
        </p:nvSpPr>
        <p:spPr>
          <a:xfrm>
            <a:off x="9815215" y="3000375"/>
            <a:ext cx="116681" cy="133350"/>
          </a:xfrm>
          <a:custGeom>
            <a:rect b="b" l="l" r="r" t="t"/>
            <a:pathLst>
              <a:path extrusionOk="0" h="133350" w="116681">
                <a:moveTo>
                  <a:pt x="88240" y="-2578"/>
                </a:moveTo>
                <a:cubicBezTo>
                  <a:pt x="91340" y="-339"/>
                  <a:pt x="92486" y="3724"/>
                  <a:pt x="91079" y="7267"/>
                </a:cubicBezTo>
                <a:lnTo>
                  <a:pt x="70660" y="58341"/>
                </a:lnTo>
                <a:lnTo>
                  <a:pt x="108347" y="58341"/>
                </a:lnTo>
                <a:cubicBezTo>
                  <a:pt x="111863" y="58341"/>
                  <a:pt x="114988" y="60528"/>
                  <a:pt x="116186" y="63836"/>
                </a:cubicBezTo>
                <a:cubicBezTo>
                  <a:pt x="117384" y="67144"/>
                  <a:pt x="116369" y="70842"/>
                  <a:pt x="113686" y="73082"/>
                </a:cubicBezTo>
                <a:lnTo>
                  <a:pt x="38677" y="135590"/>
                </a:lnTo>
                <a:cubicBezTo>
                  <a:pt x="35734" y="138038"/>
                  <a:pt x="31540" y="138168"/>
                  <a:pt x="28441" y="135928"/>
                </a:cubicBezTo>
                <a:cubicBezTo>
                  <a:pt x="25342" y="133689"/>
                  <a:pt x="24196" y="129626"/>
                  <a:pt x="25602" y="126083"/>
                </a:cubicBezTo>
                <a:lnTo>
                  <a:pt x="46021" y="75009"/>
                </a:lnTo>
                <a:lnTo>
                  <a:pt x="8334" y="75009"/>
                </a:lnTo>
                <a:cubicBezTo>
                  <a:pt x="4818" y="75009"/>
                  <a:pt x="1693" y="72822"/>
                  <a:pt x="495" y="69514"/>
                </a:cubicBezTo>
                <a:cubicBezTo>
                  <a:pt x="-703" y="66206"/>
                  <a:pt x="313" y="62508"/>
                  <a:pt x="2995" y="60268"/>
                </a:cubicBezTo>
                <a:lnTo>
                  <a:pt x="78005" y="-2240"/>
                </a:lnTo>
                <a:cubicBezTo>
                  <a:pt x="80948" y="-4688"/>
                  <a:pt x="85141" y="-4818"/>
                  <a:pt x="88240" y="-2578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0"/>
          <p:cNvSpPr/>
          <p:nvPr/>
        </p:nvSpPr>
        <p:spPr>
          <a:xfrm>
            <a:off x="10030718" y="2962275"/>
            <a:ext cx="1676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Enable rapid response and escalation</a:t>
            </a:r>
            <a:endParaRPr b="0" i="0" sz="1600" u="none" cap="none" strike="noStrike"/>
          </a:p>
        </p:txBody>
      </p:sp>
      <p:sp>
        <p:nvSpPr>
          <p:cNvPr id="302" name="Google Shape;302;p10"/>
          <p:cNvSpPr/>
          <p:nvPr/>
        </p:nvSpPr>
        <p:spPr>
          <a:xfrm>
            <a:off x="9787830" y="4929188"/>
            <a:ext cx="1847850" cy="9525"/>
          </a:xfrm>
          <a:custGeom>
            <a:rect b="b" l="l" r="r" t="t"/>
            <a:pathLst>
              <a:path extrusionOk="0" h="9525" w="1847850">
                <a:moveTo>
                  <a:pt x="0" y="0"/>
                </a:moveTo>
                <a:lnTo>
                  <a:pt x="1847850" y="0"/>
                </a:lnTo>
                <a:lnTo>
                  <a:pt x="18478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29803"/>
            </a:srgbClr>
          </a:solidFill>
          <a:ln>
            <a:noFill/>
          </a:ln>
        </p:spPr>
      </p:sp>
      <p:sp>
        <p:nvSpPr>
          <p:cNvPr id="303" name="Google Shape;303;p10"/>
          <p:cNvSpPr/>
          <p:nvPr/>
        </p:nvSpPr>
        <p:spPr>
          <a:xfrm>
            <a:off x="9802118" y="5057775"/>
            <a:ext cx="114300" cy="114300"/>
          </a:xfrm>
          <a:custGeom>
            <a:rect b="b" l="l" r="r" t="t"/>
            <a:pathLst>
              <a:path extrusionOk="0" h="114300" w="114300">
                <a:moveTo>
                  <a:pt x="57150" y="0"/>
                </a:moveTo>
                <a:cubicBezTo>
                  <a:pt x="58177" y="0"/>
                  <a:pt x="59204" y="223"/>
                  <a:pt x="60141" y="647"/>
                </a:cubicBezTo>
                <a:lnTo>
                  <a:pt x="102200" y="18484"/>
                </a:lnTo>
                <a:cubicBezTo>
                  <a:pt x="107112" y="20561"/>
                  <a:pt x="110773" y="25405"/>
                  <a:pt x="110750" y="31254"/>
                </a:cubicBezTo>
                <a:cubicBezTo>
                  <a:pt x="110639" y="53400"/>
                  <a:pt x="101531" y="93918"/>
                  <a:pt x="63066" y="112335"/>
                </a:cubicBezTo>
                <a:cubicBezTo>
                  <a:pt x="59338" y="114121"/>
                  <a:pt x="55007" y="114121"/>
                  <a:pt x="51279" y="112335"/>
                </a:cubicBezTo>
                <a:cubicBezTo>
                  <a:pt x="12792" y="93918"/>
                  <a:pt x="3706" y="53400"/>
                  <a:pt x="3594" y="31254"/>
                </a:cubicBezTo>
                <a:cubicBezTo>
                  <a:pt x="3572" y="25405"/>
                  <a:pt x="7233" y="20561"/>
                  <a:pt x="12144" y="18484"/>
                </a:cubicBezTo>
                <a:lnTo>
                  <a:pt x="54181" y="647"/>
                </a:lnTo>
                <a:cubicBezTo>
                  <a:pt x="55118" y="223"/>
                  <a:pt x="56123" y="0"/>
                  <a:pt x="57150" y="0"/>
                </a:cubicBezTo>
                <a:close/>
                <a:moveTo>
                  <a:pt x="57150" y="14913"/>
                </a:moveTo>
                <a:lnTo>
                  <a:pt x="57150" y="99320"/>
                </a:lnTo>
                <a:cubicBezTo>
                  <a:pt x="87957" y="84408"/>
                  <a:pt x="96240" y="51368"/>
                  <a:pt x="96441" y="31589"/>
                </a:cubicBezTo>
                <a:lnTo>
                  <a:pt x="57150" y="14935"/>
                </a:lnTo>
                <a:lnTo>
                  <a:pt x="57150" y="14935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9959280" y="5048250"/>
            <a:ext cx="17335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Complete incident response cycle</a:t>
            </a:r>
            <a:endParaRPr b="0" i="0" sz="1600" u="none" cap="none" strike="noStrike"/>
          </a:p>
        </p:txBody>
      </p:sp>
      <p:sp>
        <p:nvSpPr>
          <p:cNvPr id="305" name="Google Shape;305;p10"/>
          <p:cNvSpPr/>
          <p:nvPr/>
        </p:nvSpPr>
        <p:spPr>
          <a:xfrm>
            <a:off x="400050" y="5676900"/>
            <a:ext cx="11410950" cy="800100"/>
          </a:xfrm>
          <a:custGeom>
            <a:rect b="b" l="l" r="r" t="t"/>
            <a:pathLst>
              <a:path extrusionOk="0" h="800100" w="11410950">
                <a:moveTo>
                  <a:pt x="0" y="0"/>
                </a:moveTo>
                <a:lnTo>
                  <a:pt x="11334748" y="0"/>
                </a:lnTo>
                <a:cubicBezTo>
                  <a:pt x="11376833" y="0"/>
                  <a:pt x="11410950" y="34117"/>
                  <a:pt x="11410950" y="76202"/>
                </a:cubicBezTo>
                <a:lnTo>
                  <a:pt x="11410950" y="723898"/>
                </a:lnTo>
                <a:cubicBezTo>
                  <a:pt x="11410950" y="765983"/>
                  <a:pt x="11376833" y="800100"/>
                  <a:pt x="11334748" y="800100"/>
                </a:cubicBez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400050" y="5676900"/>
            <a:ext cx="38100" cy="800100"/>
          </a:xfrm>
          <a:custGeom>
            <a:rect b="b" l="l" r="r" t="t"/>
            <a:pathLst>
              <a:path extrusionOk="0" h="800100" w="38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</p:sp>
      <p:sp>
        <p:nvSpPr>
          <p:cNvPr id="307" name="Google Shape;307;p10"/>
          <p:cNvSpPr/>
          <p:nvPr/>
        </p:nvSpPr>
        <p:spPr>
          <a:xfrm>
            <a:off x="590550" y="5876925"/>
            <a:ext cx="152400" cy="152400"/>
          </a:xfrm>
          <a:custGeom>
            <a:rect b="b" l="l" r="r" t="t"/>
            <a:pathLst>
              <a:path extrusionOk="0" h="152400" w="152400">
                <a:moveTo>
                  <a:pt x="142905" y="57150"/>
                </a:moveTo>
                <a:lnTo>
                  <a:pt x="145256" y="57150"/>
                </a:lnTo>
                <a:cubicBezTo>
                  <a:pt x="149215" y="57150"/>
                  <a:pt x="152400" y="53965"/>
                  <a:pt x="152400" y="50006"/>
                </a:cubicBezTo>
                <a:lnTo>
                  <a:pt x="152400" y="7144"/>
                </a:lnTo>
                <a:cubicBezTo>
                  <a:pt x="152400" y="4256"/>
                  <a:pt x="150674" y="1637"/>
                  <a:pt x="147995" y="536"/>
                </a:cubicBezTo>
                <a:cubicBezTo>
                  <a:pt x="145316" y="-566"/>
                  <a:pt x="142250" y="60"/>
                  <a:pt x="140196" y="2084"/>
                </a:cubicBezTo>
                <a:lnTo>
                  <a:pt x="124807" y="17502"/>
                </a:lnTo>
                <a:cubicBezTo>
                  <a:pt x="111621" y="6578"/>
                  <a:pt x="94655" y="0"/>
                  <a:pt x="76200" y="0"/>
                </a:cubicBezTo>
                <a:cubicBezTo>
                  <a:pt x="37802" y="0"/>
                  <a:pt x="6042" y="28396"/>
                  <a:pt x="774" y="65336"/>
                </a:cubicBezTo>
                <a:cubicBezTo>
                  <a:pt x="30" y="70545"/>
                  <a:pt x="3631" y="75367"/>
                  <a:pt x="8840" y="76111"/>
                </a:cubicBezTo>
                <a:cubicBezTo>
                  <a:pt x="14049" y="76855"/>
                  <a:pt x="18871" y="73223"/>
                  <a:pt x="19616" y="68044"/>
                </a:cubicBezTo>
                <a:cubicBezTo>
                  <a:pt x="23574" y="40332"/>
                  <a:pt x="47417" y="19050"/>
                  <a:pt x="76200" y="19050"/>
                </a:cubicBezTo>
                <a:cubicBezTo>
                  <a:pt x="89416" y="19050"/>
                  <a:pt x="101560" y="23515"/>
                  <a:pt x="111234" y="31046"/>
                </a:cubicBezTo>
                <a:lnTo>
                  <a:pt x="97334" y="44946"/>
                </a:lnTo>
                <a:cubicBezTo>
                  <a:pt x="95280" y="47000"/>
                  <a:pt x="94684" y="50066"/>
                  <a:pt x="95786" y="52745"/>
                </a:cubicBezTo>
                <a:cubicBezTo>
                  <a:pt x="96887" y="55424"/>
                  <a:pt x="99506" y="57150"/>
                  <a:pt x="102394" y="57150"/>
                </a:cubicBezTo>
                <a:lnTo>
                  <a:pt x="142905" y="57150"/>
                </a:lnTo>
                <a:close/>
                <a:moveTo>
                  <a:pt x="151656" y="87064"/>
                </a:moveTo>
                <a:cubicBezTo>
                  <a:pt x="152400" y="81855"/>
                  <a:pt x="148769" y="77033"/>
                  <a:pt x="143589" y="76289"/>
                </a:cubicBezTo>
                <a:cubicBezTo>
                  <a:pt x="138410" y="75545"/>
                  <a:pt x="133558" y="79177"/>
                  <a:pt x="132814" y="84356"/>
                </a:cubicBezTo>
                <a:cubicBezTo>
                  <a:pt x="128855" y="112038"/>
                  <a:pt x="105013" y="133320"/>
                  <a:pt x="76230" y="133320"/>
                </a:cubicBezTo>
                <a:cubicBezTo>
                  <a:pt x="63014" y="133320"/>
                  <a:pt x="50869" y="128855"/>
                  <a:pt x="41196" y="121325"/>
                </a:cubicBezTo>
                <a:lnTo>
                  <a:pt x="55066" y="107454"/>
                </a:lnTo>
                <a:cubicBezTo>
                  <a:pt x="57120" y="105400"/>
                  <a:pt x="57716" y="102334"/>
                  <a:pt x="56614" y="99655"/>
                </a:cubicBezTo>
                <a:cubicBezTo>
                  <a:pt x="55513" y="96976"/>
                  <a:pt x="52894" y="95250"/>
                  <a:pt x="50006" y="95250"/>
                </a:cubicBezTo>
                <a:lnTo>
                  <a:pt x="7144" y="95250"/>
                </a:lnTo>
                <a:cubicBezTo>
                  <a:pt x="3185" y="95250"/>
                  <a:pt x="0" y="98435"/>
                  <a:pt x="0" y="102394"/>
                </a:cubicBezTo>
                <a:lnTo>
                  <a:pt x="0" y="145256"/>
                </a:lnTo>
                <a:cubicBezTo>
                  <a:pt x="0" y="148144"/>
                  <a:pt x="1726" y="150763"/>
                  <a:pt x="4405" y="151864"/>
                </a:cubicBezTo>
                <a:cubicBezTo>
                  <a:pt x="7084" y="152966"/>
                  <a:pt x="10150" y="152340"/>
                  <a:pt x="12204" y="150316"/>
                </a:cubicBezTo>
                <a:lnTo>
                  <a:pt x="27622" y="134898"/>
                </a:lnTo>
                <a:cubicBezTo>
                  <a:pt x="40779" y="145822"/>
                  <a:pt x="57745" y="152400"/>
                  <a:pt x="76200" y="152400"/>
                </a:cubicBezTo>
                <a:cubicBezTo>
                  <a:pt x="114598" y="152400"/>
                  <a:pt x="146358" y="124004"/>
                  <a:pt x="151626" y="87064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819150" y="5829300"/>
            <a:ext cx="10915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Continuous Cycle:</a:t>
            </a: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Each phase feeds into the next, creating a comprehensive security workflow from baseline establishment through detection, correlation, and response.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1"/>
          <p:cNvSpPr/>
          <p:nvPr/>
        </p:nvSpPr>
        <p:spPr>
          <a:xfrm>
            <a:off x="369735" y="369735"/>
            <a:ext cx="11526478" cy="221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5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Implementation • Part 1</a:t>
            </a:r>
            <a:endParaRPr b="0" i="0" sz="1600" u="none" cap="none" strike="noStrike"/>
          </a:p>
        </p:txBody>
      </p:sp>
      <p:sp>
        <p:nvSpPr>
          <p:cNvPr id="315" name="Google Shape;315;p11"/>
          <p:cNvSpPr/>
          <p:nvPr/>
        </p:nvSpPr>
        <p:spPr>
          <a:xfrm>
            <a:off x="369735" y="665522"/>
            <a:ext cx="11618911" cy="36973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2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Network Infrastructure Setup</a:t>
            </a:r>
            <a:endParaRPr b="0" i="0" sz="1600" u="none" cap="none" strike="noStrike"/>
          </a:p>
        </p:txBody>
      </p:sp>
      <p:sp>
        <p:nvSpPr>
          <p:cNvPr id="316" name="Google Shape;316;p11"/>
          <p:cNvSpPr/>
          <p:nvPr/>
        </p:nvSpPr>
        <p:spPr>
          <a:xfrm>
            <a:off x="378978" y="1266341"/>
            <a:ext cx="5601480" cy="3530966"/>
          </a:xfrm>
          <a:custGeom>
            <a:rect b="b" l="l" r="r" t="t"/>
            <a:pathLst>
              <a:path extrusionOk="0" h="3530966" w="5601480">
                <a:moveTo>
                  <a:pt x="73938" y="0"/>
                </a:moveTo>
                <a:lnTo>
                  <a:pt x="5527541" y="0"/>
                </a:lnTo>
                <a:cubicBezTo>
                  <a:pt x="5568377" y="0"/>
                  <a:pt x="5601480" y="33103"/>
                  <a:pt x="5601480" y="73938"/>
                </a:cubicBezTo>
                <a:lnTo>
                  <a:pt x="5601480" y="3457027"/>
                </a:lnTo>
                <a:cubicBezTo>
                  <a:pt x="5601480" y="3497863"/>
                  <a:pt x="5568377" y="3530966"/>
                  <a:pt x="5527541" y="3530966"/>
                </a:cubicBezTo>
                <a:lnTo>
                  <a:pt x="73938" y="3530966"/>
                </a:lnTo>
                <a:cubicBezTo>
                  <a:pt x="33103" y="3530966"/>
                  <a:pt x="0" y="3497863"/>
                  <a:pt x="0" y="3457027"/>
                </a:cubicBezTo>
                <a:lnTo>
                  <a:pt x="0" y="73938"/>
                </a:lnTo>
                <a:cubicBezTo>
                  <a:pt x="0" y="33131"/>
                  <a:pt x="33131" y="0"/>
                  <a:pt x="73938" y="0"/>
                </a:cubicBezTo>
                <a:close/>
              </a:path>
            </a:pathLst>
          </a:custGeom>
          <a:solidFill>
            <a:srgbClr val="4A6D8C">
              <a:alpha val="14901"/>
            </a:srgbClr>
          </a:solidFill>
          <a:ln cap="flat" cmpd="sng" w="25400">
            <a:solidFill>
              <a:srgbClr val="4A6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573089" y="1460452"/>
            <a:ext cx="443682" cy="443682"/>
          </a:xfrm>
          <a:custGeom>
            <a:rect b="b" l="l" r="r" t="t"/>
            <a:pathLst>
              <a:path extrusionOk="0" h="443682" w="443682">
                <a:moveTo>
                  <a:pt x="73948" y="0"/>
                </a:moveTo>
                <a:lnTo>
                  <a:pt x="369733" y="0"/>
                </a:lnTo>
                <a:cubicBezTo>
                  <a:pt x="410574" y="0"/>
                  <a:pt x="443682" y="33108"/>
                  <a:pt x="443682" y="73948"/>
                </a:cubicBezTo>
                <a:lnTo>
                  <a:pt x="443682" y="369733"/>
                </a:lnTo>
                <a:cubicBezTo>
                  <a:pt x="443682" y="410574"/>
                  <a:pt x="410574" y="443682"/>
                  <a:pt x="369733" y="443682"/>
                </a:cubicBezTo>
                <a:lnTo>
                  <a:pt x="73948" y="443682"/>
                </a:lnTo>
                <a:cubicBezTo>
                  <a:pt x="33108" y="443682"/>
                  <a:pt x="0" y="410574"/>
                  <a:pt x="0" y="369733"/>
                </a:cubicBezTo>
                <a:lnTo>
                  <a:pt x="0" y="73948"/>
                </a:lnTo>
                <a:cubicBezTo>
                  <a:pt x="0" y="33135"/>
                  <a:pt x="33135" y="0"/>
                  <a:pt x="73948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714050" y="1589859"/>
            <a:ext cx="161759" cy="184867"/>
          </a:xfrm>
          <a:custGeom>
            <a:rect b="b" l="l" r="r" t="t"/>
            <a:pathLst>
              <a:path extrusionOk="0" h="184867" w="161759">
                <a:moveTo>
                  <a:pt x="23108" y="11554"/>
                </a:moveTo>
                <a:cubicBezTo>
                  <a:pt x="10363" y="11554"/>
                  <a:pt x="0" y="21917"/>
                  <a:pt x="0" y="34663"/>
                </a:cubicBezTo>
                <a:lnTo>
                  <a:pt x="0" y="57771"/>
                </a:lnTo>
                <a:cubicBezTo>
                  <a:pt x="0" y="70517"/>
                  <a:pt x="10363" y="80879"/>
                  <a:pt x="23108" y="80879"/>
                </a:cubicBezTo>
                <a:lnTo>
                  <a:pt x="138650" y="80879"/>
                </a:lnTo>
                <a:cubicBezTo>
                  <a:pt x="151396" y="80879"/>
                  <a:pt x="161759" y="70517"/>
                  <a:pt x="161759" y="57771"/>
                </a:cubicBezTo>
                <a:lnTo>
                  <a:pt x="161759" y="34663"/>
                </a:lnTo>
                <a:cubicBezTo>
                  <a:pt x="161759" y="21917"/>
                  <a:pt x="151396" y="11554"/>
                  <a:pt x="138650" y="11554"/>
                </a:cubicBezTo>
                <a:lnTo>
                  <a:pt x="23108" y="11554"/>
                </a:lnTo>
                <a:close/>
                <a:moveTo>
                  <a:pt x="101099" y="37551"/>
                </a:moveTo>
                <a:cubicBezTo>
                  <a:pt x="105882" y="37551"/>
                  <a:pt x="109765" y="41434"/>
                  <a:pt x="109765" y="46217"/>
                </a:cubicBezTo>
                <a:cubicBezTo>
                  <a:pt x="109765" y="51000"/>
                  <a:pt x="105882" y="54882"/>
                  <a:pt x="101099" y="54882"/>
                </a:cubicBezTo>
                <a:cubicBezTo>
                  <a:pt x="96317" y="54882"/>
                  <a:pt x="92434" y="51000"/>
                  <a:pt x="92434" y="46217"/>
                </a:cubicBezTo>
                <a:cubicBezTo>
                  <a:pt x="92434" y="41434"/>
                  <a:pt x="96317" y="37551"/>
                  <a:pt x="101099" y="37551"/>
                </a:cubicBezTo>
                <a:close/>
                <a:moveTo>
                  <a:pt x="121319" y="46217"/>
                </a:moveTo>
                <a:cubicBezTo>
                  <a:pt x="121319" y="41434"/>
                  <a:pt x="125202" y="37551"/>
                  <a:pt x="129985" y="37551"/>
                </a:cubicBezTo>
                <a:cubicBezTo>
                  <a:pt x="134768" y="37551"/>
                  <a:pt x="138650" y="41434"/>
                  <a:pt x="138650" y="46217"/>
                </a:cubicBezTo>
                <a:cubicBezTo>
                  <a:pt x="138650" y="51000"/>
                  <a:pt x="134768" y="54882"/>
                  <a:pt x="129985" y="54882"/>
                </a:cubicBezTo>
                <a:cubicBezTo>
                  <a:pt x="125202" y="54882"/>
                  <a:pt x="121319" y="51000"/>
                  <a:pt x="121319" y="46217"/>
                </a:cubicBezTo>
                <a:close/>
                <a:moveTo>
                  <a:pt x="23108" y="103988"/>
                </a:moveTo>
                <a:cubicBezTo>
                  <a:pt x="10363" y="103988"/>
                  <a:pt x="0" y="114351"/>
                  <a:pt x="0" y="127096"/>
                </a:cubicBezTo>
                <a:lnTo>
                  <a:pt x="0" y="150205"/>
                </a:lnTo>
                <a:cubicBezTo>
                  <a:pt x="0" y="162950"/>
                  <a:pt x="10363" y="173313"/>
                  <a:pt x="23108" y="173313"/>
                </a:cubicBezTo>
                <a:lnTo>
                  <a:pt x="138650" y="173313"/>
                </a:lnTo>
                <a:cubicBezTo>
                  <a:pt x="151396" y="173313"/>
                  <a:pt x="161759" y="162950"/>
                  <a:pt x="161759" y="150205"/>
                </a:cubicBezTo>
                <a:lnTo>
                  <a:pt x="161759" y="127096"/>
                </a:lnTo>
                <a:cubicBezTo>
                  <a:pt x="161759" y="114351"/>
                  <a:pt x="151396" y="103988"/>
                  <a:pt x="138650" y="103988"/>
                </a:cubicBezTo>
                <a:lnTo>
                  <a:pt x="23108" y="103988"/>
                </a:lnTo>
                <a:close/>
                <a:moveTo>
                  <a:pt x="101099" y="129985"/>
                </a:moveTo>
                <a:cubicBezTo>
                  <a:pt x="105882" y="129985"/>
                  <a:pt x="109765" y="133868"/>
                  <a:pt x="109765" y="138650"/>
                </a:cubicBezTo>
                <a:cubicBezTo>
                  <a:pt x="109765" y="143433"/>
                  <a:pt x="105882" y="147316"/>
                  <a:pt x="101099" y="147316"/>
                </a:cubicBezTo>
                <a:cubicBezTo>
                  <a:pt x="96317" y="147316"/>
                  <a:pt x="92434" y="143433"/>
                  <a:pt x="92434" y="138650"/>
                </a:cubicBezTo>
                <a:cubicBezTo>
                  <a:pt x="92434" y="133868"/>
                  <a:pt x="96317" y="129985"/>
                  <a:pt x="101099" y="129985"/>
                </a:cubicBezTo>
                <a:close/>
                <a:moveTo>
                  <a:pt x="121319" y="138650"/>
                </a:moveTo>
                <a:cubicBezTo>
                  <a:pt x="121319" y="133868"/>
                  <a:pt x="125202" y="129985"/>
                  <a:pt x="129985" y="129985"/>
                </a:cubicBezTo>
                <a:cubicBezTo>
                  <a:pt x="134768" y="129985"/>
                  <a:pt x="138650" y="133868"/>
                  <a:pt x="138650" y="138650"/>
                </a:cubicBezTo>
                <a:cubicBezTo>
                  <a:pt x="138650" y="143433"/>
                  <a:pt x="134768" y="147316"/>
                  <a:pt x="129985" y="147316"/>
                </a:cubicBezTo>
                <a:cubicBezTo>
                  <a:pt x="125202" y="147316"/>
                  <a:pt x="121319" y="143433"/>
                  <a:pt x="121319" y="1386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1127691" y="1534399"/>
            <a:ext cx="2902417" cy="295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4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Virtual Machine Architecture</a:t>
            </a:r>
            <a:endParaRPr b="0" i="0" sz="1600" u="none" cap="none" strike="noStrike"/>
          </a:p>
        </p:txBody>
      </p:sp>
      <p:sp>
        <p:nvSpPr>
          <p:cNvPr id="320" name="Google Shape;320;p11"/>
          <p:cNvSpPr/>
          <p:nvPr/>
        </p:nvSpPr>
        <p:spPr>
          <a:xfrm>
            <a:off x="573089" y="2052027"/>
            <a:ext cx="5287205" cy="480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5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Implemented using multiple virtual machines to simulate a complete enterprise network environment with realistic traffic patterns and security controls.</a:t>
            </a:r>
            <a:endParaRPr b="0" i="0" sz="1600" u="none" cap="none" strike="noStrike"/>
          </a:p>
        </p:txBody>
      </p:sp>
      <p:sp>
        <p:nvSpPr>
          <p:cNvPr id="321" name="Google Shape;321;p11"/>
          <p:cNvSpPr/>
          <p:nvPr/>
        </p:nvSpPr>
        <p:spPr>
          <a:xfrm>
            <a:off x="577710" y="2685198"/>
            <a:ext cx="2541926" cy="896607"/>
          </a:xfrm>
          <a:custGeom>
            <a:rect b="b" l="l" r="r" t="t"/>
            <a:pathLst>
              <a:path extrusionOk="0" h="896607" w="2541926">
                <a:moveTo>
                  <a:pt x="73943" y="0"/>
                </a:moveTo>
                <a:lnTo>
                  <a:pt x="2467983" y="0"/>
                </a:lnTo>
                <a:cubicBezTo>
                  <a:pt x="2508820" y="0"/>
                  <a:pt x="2541926" y="33105"/>
                  <a:pt x="2541926" y="73943"/>
                </a:cubicBezTo>
                <a:lnTo>
                  <a:pt x="2541926" y="822663"/>
                </a:lnTo>
                <a:cubicBezTo>
                  <a:pt x="2541926" y="863501"/>
                  <a:pt x="2508820" y="896607"/>
                  <a:pt x="2467983" y="896607"/>
                </a:cubicBezTo>
                <a:lnTo>
                  <a:pt x="73943" y="896607"/>
                </a:lnTo>
                <a:cubicBezTo>
                  <a:pt x="33105" y="896607"/>
                  <a:pt x="0" y="863501"/>
                  <a:pt x="0" y="822663"/>
                </a:cubicBezTo>
                <a:lnTo>
                  <a:pt x="0" y="73943"/>
                </a:lnTo>
                <a:cubicBezTo>
                  <a:pt x="0" y="33133"/>
                  <a:pt x="33133" y="0"/>
                  <a:pt x="739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5F6B7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1736597" y="2800740"/>
            <a:ext cx="221841" cy="221841"/>
          </a:xfrm>
          <a:custGeom>
            <a:rect b="b" l="l" r="r" t="t"/>
            <a:pathLst>
              <a:path extrusionOk="0" h="221841" w="221841">
                <a:moveTo>
                  <a:pt x="152472" y="121319"/>
                </a:moveTo>
                <a:lnTo>
                  <a:pt x="69759" y="121319"/>
                </a:lnTo>
                <a:cubicBezTo>
                  <a:pt x="71015" y="149266"/>
                  <a:pt x="77211" y="175003"/>
                  <a:pt x="86007" y="193851"/>
                </a:cubicBezTo>
                <a:cubicBezTo>
                  <a:pt x="90946" y="204466"/>
                  <a:pt x="96275" y="211962"/>
                  <a:pt x="101215" y="216555"/>
                </a:cubicBezTo>
                <a:cubicBezTo>
                  <a:pt x="106068" y="221104"/>
                  <a:pt x="109404" y="221841"/>
                  <a:pt x="111137" y="221841"/>
                </a:cubicBezTo>
                <a:cubicBezTo>
                  <a:pt x="112870" y="221841"/>
                  <a:pt x="116206" y="221104"/>
                  <a:pt x="121059" y="216555"/>
                </a:cubicBezTo>
                <a:cubicBezTo>
                  <a:pt x="125999" y="211962"/>
                  <a:pt x="131328" y="204423"/>
                  <a:pt x="136267" y="193851"/>
                </a:cubicBezTo>
                <a:cubicBezTo>
                  <a:pt x="145063" y="175003"/>
                  <a:pt x="151259" y="149266"/>
                  <a:pt x="152516" y="121319"/>
                </a:cubicBezTo>
                <a:close/>
                <a:moveTo>
                  <a:pt x="69715" y="100522"/>
                </a:moveTo>
                <a:lnTo>
                  <a:pt x="152429" y="100522"/>
                </a:lnTo>
                <a:cubicBezTo>
                  <a:pt x="151216" y="72575"/>
                  <a:pt x="145020" y="46838"/>
                  <a:pt x="136224" y="27990"/>
                </a:cubicBezTo>
                <a:cubicBezTo>
                  <a:pt x="131285" y="17418"/>
                  <a:pt x="125955" y="9879"/>
                  <a:pt x="121016" y="5286"/>
                </a:cubicBezTo>
                <a:cubicBezTo>
                  <a:pt x="116163" y="737"/>
                  <a:pt x="112827" y="0"/>
                  <a:pt x="111094" y="0"/>
                </a:cubicBezTo>
                <a:cubicBezTo>
                  <a:pt x="109361" y="0"/>
                  <a:pt x="106024" y="737"/>
                  <a:pt x="101172" y="5286"/>
                </a:cubicBezTo>
                <a:cubicBezTo>
                  <a:pt x="96232" y="9879"/>
                  <a:pt x="90903" y="17418"/>
                  <a:pt x="85963" y="27990"/>
                </a:cubicBezTo>
                <a:cubicBezTo>
                  <a:pt x="77168" y="46838"/>
                  <a:pt x="70972" y="72575"/>
                  <a:pt x="69715" y="100522"/>
                </a:cubicBezTo>
                <a:close/>
                <a:moveTo>
                  <a:pt x="48918" y="100522"/>
                </a:moveTo>
                <a:cubicBezTo>
                  <a:pt x="50434" y="63433"/>
                  <a:pt x="60010" y="28987"/>
                  <a:pt x="74005" y="6369"/>
                </a:cubicBezTo>
                <a:cubicBezTo>
                  <a:pt x="34099" y="20494"/>
                  <a:pt x="4723" y="56847"/>
                  <a:pt x="650" y="100522"/>
                </a:cubicBezTo>
                <a:lnTo>
                  <a:pt x="48918" y="100522"/>
                </a:lnTo>
                <a:close/>
                <a:moveTo>
                  <a:pt x="650" y="121319"/>
                </a:moveTo>
                <a:cubicBezTo>
                  <a:pt x="4723" y="164994"/>
                  <a:pt x="34099" y="201347"/>
                  <a:pt x="74005" y="215472"/>
                </a:cubicBezTo>
                <a:cubicBezTo>
                  <a:pt x="60010" y="192854"/>
                  <a:pt x="50434" y="158408"/>
                  <a:pt x="48918" y="121319"/>
                </a:cubicBezTo>
                <a:lnTo>
                  <a:pt x="650" y="121319"/>
                </a:lnTo>
                <a:close/>
                <a:moveTo>
                  <a:pt x="173270" y="121319"/>
                </a:moveTo>
                <a:cubicBezTo>
                  <a:pt x="171753" y="158408"/>
                  <a:pt x="162178" y="192854"/>
                  <a:pt x="148183" y="215472"/>
                </a:cubicBezTo>
                <a:cubicBezTo>
                  <a:pt x="188088" y="201303"/>
                  <a:pt x="217465" y="164994"/>
                  <a:pt x="221537" y="121319"/>
                </a:cubicBezTo>
                <a:lnTo>
                  <a:pt x="173270" y="121319"/>
                </a:lnTo>
                <a:close/>
                <a:moveTo>
                  <a:pt x="221537" y="100522"/>
                </a:moveTo>
                <a:cubicBezTo>
                  <a:pt x="217465" y="56847"/>
                  <a:pt x="188088" y="20494"/>
                  <a:pt x="148183" y="6369"/>
                </a:cubicBezTo>
                <a:cubicBezTo>
                  <a:pt x="162178" y="28987"/>
                  <a:pt x="171753" y="63433"/>
                  <a:pt x="173270" y="100522"/>
                </a:cubicBezTo>
                <a:lnTo>
                  <a:pt x="221537" y="100522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660901" y="3096528"/>
            <a:ext cx="2375545" cy="18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Web Server</a:t>
            </a:r>
            <a:endParaRPr b="0" i="0" sz="1600" u="none" cap="none" strike="noStrike"/>
          </a:p>
        </p:txBody>
      </p:sp>
      <p:sp>
        <p:nvSpPr>
          <p:cNvPr id="324" name="Google Shape;324;p11"/>
          <p:cNvSpPr/>
          <p:nvPr/>
        </p:nvSpPr>
        <p:spPr>
          <a:xfrm>
            <a:off x="665522" y="3318368"/>
            <a:ext cx="23663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DMZ Zone</a:t>
            </a:r>
            <a:endParaRPr b="0" i="0" sz="1600" u="none" cap="none" strike="noStrike"/>
          </a:p>
        </p:txBody>
      </p:sp>
      <p:sp>
        <p:nvSpPr>
          <p:cNvPr id="325" name="Google Shape;325;p11"/>
          <p:cNvSpPr/>
          <p:nvPr/>
        </p:nvSpPr>
        <p:spPr>
          <a:xfrm>
            <a:off x="3237633" y="2685198"/>
            <a:ext cx="2541926" cy="896607"/>
          </a:xfrm>
          <a:custGeom>
            <a:rect b="b" l="l" r="r" t="t"/>
            <a:pathLst>
              <a:path extrusionOk="0" h="896607" w="2541926">
                <a:moveTo>
                  <a:pt x="73943" y="0"/>
                </a:moveTo>
                <a:lnTo>
                  <a:pt x="2467983" y="0"/>
                </a:lnTo>
                <a:cubicBezTo>
                  <a:pt x="2508820" y="0"/>
                  <a:pt x="2541926" y="33105"/>
                  <a:pt x="2541926" y="73943"/>
                </a:cubicBezTo>
                <a:lnTo>
                  <a:pt x="2541926" y="822663"/>
                </a:lnTo>
                <a:cubicBezTo>
                  <a:pt x="2541926" y="863501"/>
                  <a:pt x="2508820" y="896607"/>
                  <a:pt x="2467983" y="896607"/>
                </a:cubicBezTo>
                <a:lnTo>
                  <a:pt x="73943" y="896607"/>
                </a:lnTo>
                <a:cubicBezTo>
                  <a:pt x="33105" y="896607"/>
                  <a:pt x="0" y="863501"/>
                  <a:pt x="0" y="822663"/>
                </a:cubicBezTo>
                <a:lnTo>
                  <a:pt x="0" y="73943"/>
                </a:lnTo>
                <a:cubicBezTo>
                  <a:pt x="0" y="33133"/>
                  <a:pt x="33133" y="0"/>
                  <a:pt x="739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5F6B7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4410530" y="2800740"/>
            <a:ext cx="194111" cy="221841"/>
          </a:xfrm>
          <a:custGeom>
            <a:rect b="b" l="l" r="r" t="t"/>
            <a:pathLst>
              <a:path extrusionOk="0" h="221841" w="194111">
                <a:moveTo>
                  <a:pt x="194111" y="89170"/>
                </a:moveTo>
                <a:cubicBezTo>
                  <a:pt x="187698" y="93416"/>
                  <a:pt x="180332" y="96839"/>
                  <a:pt x="172663" y="99568"/>
                </a:cubicBezTo>
                <a:cubicBezTo>
                  <a:pt x="152299" y="106848"/>
                  <a:pt x="125565" y="110920"/>
                  <a:pt x="97055" y="110920"/>
                </a:cubicBezTo>
                <a:cubicBezTo>
                  <a:pt x="68545" y="110920"/>
                  <a:pt x="41768" y="106804"/>
                  <a:pt x="21447" y="99568"/>
                </a:cubicBezTo>
                <a:cubicBezTo>
                  <a:pt x="13822" y="96839"/>
                  <a:pt x="6413" y="93416"/>
                  <a:pt x="0" y="89170"/>
                </a:cubicBezTo>
                <a:lnTo>
                  <a:pt x="0" y="124785"/>
                </a:lnTo>
                <a:cubicBezTo>
                  <a:pt x="0" y="143937"/>
                  <a:pt x="43458" y="159448"/>
                  <a:pt x="97055" y="159448"/>
                </a:cubicBezTo>
                <a:cubicBezTo>
                  <a:pt x="150652" y="159448"/>
                  <a:pt x="194111" y="143937"/>
                  <a:pt x="194111" y="124785"/>
                </a:cubicBezTo>
                <a:lnTo>
                  <a:pt x="194111" y="89170"/>
                </a:lnTo>
                <a:close/>
                <a:moveTo>
                  <a:pt x="194111" y="55460"/>
                </a:moveTo>
                <a:lnTo>
                  <a:pt x="194111" y="34663"/>
                </a:lnTo>
                <a:cubicBezTo>
                  <a:pt x="194111" y="15512"/>
                  <a:pt x="150652" y="0"/>
                  <a:pt x="97055" y="0"/>
                </a:cubicBezTo>
                <a:cubicBezTo>
                  <a:pt x="43458" y="0"/>
                  <a:pt x="0" y="15512"/>
                  <a:pt x="0" y="34663"/>
                </a:cubicBezTo>
                <a:lnTo>
                  <a:pt x="0" y="55460"/>
                </a:lnTo>
                <a:cubicBezTo>
                  <a:pt x="0" y="74611"/>
                  <a:pt x="43458" y="90123"/>
                  <a:pt x="97055" y="90123"/>
                </a:cubicBezTo>
                <a:cubicBezTo>
                  <a:pt x="150652" y="90123"/>
                  <a:pt x="194111" y="74611"/>
                  <a:pt x="194111" y="55460"/>
                </a:cubicBezTo>
                <a:close/>
                <a:moveTo>
                  <a:pt x="172663" y="168894"/>
                </a:moveTo>
                <a:cubicBezTo>
                  <a:pt x="152342" y="176129"/>
                  <a:pt x="125609" y="180246"/>
                  <a:pt x="97055" y="180246"/>
                </a:cubicBezTo>
                <a:cubicBezTo>
                  <a:pt x="68502" y="180246"/>
                  <a:pt x="41768" y="176129"/>
                  <a:pt x="21447" y="168894"/>
                </a:cubicBezTo>
                <a:cubicBezTo>
                  <a:pt x="13822" y="166164"/>
                  <a:pt x="6413" y="162741"/>
                  <a:pt x="0" y="158495"/>
                </a:cubicBezTo>
                <a:lnTo>
                  <a:pt x="0" y="187178"/>
                </a:lnTo>
                <a:cubicBezTo>
                  <a:pt x="0" y="206329"/>
                  <a:pt x="43458" y="221841"/>
                  <a:pt x="97055" y="221841"/>
                </a:cubicBezTo>
                <a:cubicBezTo>
                  <a:pt x="150652" y="221841"/>
                  <a:pt x="194111" y="206329"/>
                  <a:pt x="194111" y="187178"/>
                </a:cubicBezTo>
                <a:lnTo>
                  <a:pt x="194111" y="158495"/>
                </a:lnTo>
                <a:cubicBezTo>
                  <a:pt x="187698" y="162741"/>
                  <a:pt x="180332" y="166164"/>
                  <a:pt x="172663" y="168894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1"/>
          <p:cNvSpPr/>
          <p:nvPr/>
        </p:nvSpPr>
        <p:spPr>
          <a:xfrm>
            <a:off x="3320824" y="3096528"/>
            <a:ext cx="2375545" cy="18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Database Server</a:t>
            </a:r>
            <a:endParaRPr b="0" i="0" sz="1600" u="none" cap="none" strike="noStrike"/>
          </a:p>
        </p:txBody>
      </p:sp>
      <p:sp>
        <p:nvSpPr>
          <p:cNvPr id="328" name="Google Shape;328;p11"/>
          <p:cNvSpPr/>
          <p:nvPr/>
        </p:nvSpPr>
        <p:spPr>
          <a:xfrm>
            <a:off x="3325445" y="3318368"/>
            <a:ext cx="23663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Internal Zone</a:t>
            </a:r>
            <a:endParaRPr b="0" i="0" sz="1600" u="none" cap="none" strike="noStrike"/>
          </a:p>
        </p:txBody>
      </p:sp>
      <p:sp>
        <p:nvSpPr>
          <p:cNvPr id="329" name="Google Shape;329;p11"/>
          <p:cNvSpPr/>
          <p:nvPr/>
        </p:nvSpPr>
        <p:spPr>
          <a:xfrm>
            <a:off x="577710" y="3701968"/>
            <a:ext cx="2541926" cy="896607"/>
          </a:xfrm>
          <a:custGeom>
            <a:rect b="b" l="l" r="r" t="t"/>
            <a:pathLst>
              <a:path extrusionOk="0" h="896607" w="2541926">
                <a:moveTo>
                  <a:pt x="73943" y="0"/>
                </a:moveTo>
                <a:lnTo>
                  <a:pt x="2467983" y="0"/>
                </a:lnTo>
                <a:cubicBezTo>
                  <a:pt x="2508820" y="0"/>
                  <a:pt x="2541926" y="33105"/>
                  <a:pt x="2541926" y="73943"/>
                </a:cubicBezTo>
                <a:lnTo>
                  <a:pt x="2541926" y="822663"/>
                </a:lnTo>
                <a:cubicBezTo>
                  <a:pt x="2541926" y="863501"/>
                  <a:pt x="2508820" y="896607"/>
                  <a:pt x="2467983" y="896607"/>
                </a:cubicBezTo>
                <a:lnTo>
                  <a:pt x="73943" y="896607"/>
                </a:lnTo>
                <a:cubicBezTo>
                  <a:pt x="33105" y="896607"/>
                  <a:pt x="0" y="863501"/>
                  <a:pt x="0" y="822663"/>
                </a:cubicBezTo>
                <a:lnTo>
                  <a:pt x="0" y="73943"/>
                </a:lnTo>
                <a:cubicBezTo>
                  <a:pt x="0" y="33133"/>
                  <a:pt x="33133" y="0"/>
                  <a:pt x="739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5F6B7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1736597" y="3817510"/>
            <a:ext cx="221841" cy="221841"/>
          </a:xfrm>
          <a:custGeom>
            <a:rect b="b" l="l" r="r" t="t"/>
            <a:pathLst>
              <a:path extrusionOk="0" h="221841" w="221841">
                <a:moveTo>
                  <a:pt x="180246" y="90123"/>
                </a:moveTo>
                <a:cubicBezTo>
                  <a:pt x="180246" y="110011"/>
                  <a:pt x="173790" y="128382"/>
                  <a:pt x="162914" y="143287"/>
                </a:cubicBezTo>
                <a:lnTo>
                  <a:pt x="217768" y="198184"/>
                </a:lnTo>
                <a:cubicBezTo>
                  <a:pt x="223184" y="203600"/>
                  <a:pt x="223184" y="212395"/>
                  <a:pt x="217768" y="217811"/>
                </a:cubicBezTo>
                <a:cubicBezTo>
                  <a:pt x="212352" y="223227"/>
                  <a:pt x="203556" y="223227"/>
                  <a:pt x="198140" y="217811"/>
                </a:cubicBezTo>
                <a:lnTo>
                  <a:pt x="143287" y="162914"/>
                </a:lnTo>
                <a:cubicBezTo>
                  <a:pt x="128382" y="173790"/>
                  <a:pt x="110011" y="180246"/>
                  <a:pt x="90123" y="180246"/>
                </a:cubicBezTo>
                <a:cubicBezTo>
                  <a:pt x="40339" y="180246"/>
                  <a:pt x="0" y="139907"/>
                  <a:pt x="0" y="90123"/>
                </a:cubicBezTo>
                <a:cubicBezTo>
                  <a:pt x="0" y="40339"/>
                  <a:pt x="40339" y="0"/>
                  <a:pt x="90123" y="0"/>
                </a:cubicBezTo>
                <a:cubicBezTo>
                  <a:pt x="139907" y="0"/>
                  <a:pt x="180246" y="40339"/>
                  <a:pt x="180246" y="90123"/>
                </a:cubicBezTo>
                <a:close/>
                <a:moveTo>
                  <a:pt x="90123" y="152516"/>
                </a:moveTo>
                <a:cubicBezTo>
                  <a:pt x="124558" y="152516"/>
                  <a:pt x="152516" y="124558"/>
                  <a:pt x="152516" y="90123"/>
                </a:cubicBezTo>
                <a:cubicBezTo>
                  <a:pt x="152516" y="55687"/>
                  <a:pt x="124558" y="27730"/>
                  <a:pt x="90123" y="27730"/>
                </a:cubicBezTo>
                <a:cubicBezTo>
                  <a:pt x="55687" y="27730"/>
                  <a:pt x="27730" y="55687"/>
                  <a:pt x="27730" y="90123"/>
                </a:cubicBezTo>
                <a:cubicBezTo>
                  <a:pt x="27730" y="124558"/>
                  <a:pt x="55687" y="152516"/>
                  <a:pt x="90123" y="152516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660901" y="4113298"/>
            <a:ext cx="2375545" cy="18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Suricata IDS</a:t>
            </a:r>
            <a:endParaRPr b="0" i="0" sz="1600" u="none" cap="none" strike="noStrike"/>
          </a:p>
        </p:txBody>
      </p:sp>
      <p:sp>
        <p:nvSpPr>
          <p:cNvPr id="332" name="Google Shape;332;p11"/>
          <p:cNvSpPr/>
          <p:nvPr/>
        </p:nvSpPr>
        <p:spPr>
          <a:xfrm>
            <a:off x="665522" y="4335139"/>
            <a:ext cx="23663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Zone</a:t>
            </a:r>
            <a:endParaRPr b="0" i="0" sz="1600" u="none" cap="none" strike="noStrike"/>
          </a:p>
        </p:txBody>
      </p:sp>
      <p:sp>
        <p:nvSpPr>
          <p:cNvPr id="333" name="Google Shape;333;p11"/>
          <p:cNvSpPr/>
          <p:nvPr/>
        </p:nvSpPr>
        <p:spPr>
          <a:xfrm>
            <a:off x="3237633" y="3701968"/>
            <a:ext cx="2541926" cy="896607"/>
          </a:xfrm>
          <a:custGeom>
            <a:rect b="b" l="l" r="r" t="t"/>
            <a:pathLst>
              <a:path extrusionOk="0" h="896607" w="2541926">
                <a:moveTo>
                  <a:pt x="73943" y="0"/>
                </a:moveTo>
                <a:lnTo>
                  <a:pt x="2467983" y="0"/>
                </a:lnTo>
                <a:cubicBezTo>
                  <a:pt x="2508820" y="0"/>
                  <a:pt x="2541926" y="33105"/>
                  <a:pt x="2541926" y="73943"/>
                </a:cubicBezTo>
                <a:lnTo>
                  <a:pt x="2541926" y="822663"/>
                </a:lnTo>
                <a:cubicBezTo>
                  <a:pt x="2541926" y="863501"/>
                  <a:pt x="2508820" y="896607"/>
                  <a:pt x="2467983" y="896607"/>
                </a:cubicBezTo>
                <a:lnTo>
                  <a:pt x="73943" y="896607"/>
                </a:lnTo>
                <a:cubicBezTo>
                  <a:pt x="33105" y="896607"/>
                  <a:pt x="0" y="863501"/>
                  <a:pt x="0" y="822663"/>
                </a:cubicBezTo>
                <a:lnTo>
                  <a:pt x="0" y="73943"/>
                </a:lnTo>
                <a:cubicBezTo>
                  <a:pt x="0" y="33133"/>
                  <a:pt x="33133" y="0"/>
                  <a:pt x="73943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 cap="flat" cmpd="sng" w="12700">
            <a:solidFill>
              <a:srgbClr val="5F6B7A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4396665" y="3817510"/>
            <a:ext cx="221841" cy="221841"/>
          </a:xfrm>
          <a:custGeom>
            <a:rect b="b" l="l" r="r" t="t"/>
            <a:pathLst>
              <a:path extrusionOk="0" h="221841" w="221841">
                <a:moveTo>
                  <a:pt x="27730" y="27730"/>
                </a:moveTo>
                <a:cubicBezTo>
                  <a:pt x="27730" y="20061"/>
                  <a:pt x="21534" y="13865"/>
                  <a:pt x="13865" y="13865"/>
                </a:cubicBezTo>
                <a:cubicBezTo>
                  <a:pt x="6196" y="13865"/>
                  <a:pt x="0" y="20061"/>
                  <a:pt x="0" y="27730"/>
                </a:cubicBezTo>
                <a:lnTo>
                  <a:pt x="0" y="173313"/>
                </a:lnTo>
                <a:cubicBezTo>
                  <a:pt x="0" y="192464"/>
                  <a:pt x="15512" y="207976"/>
                  <a:pt x="34663" y="207976"/>
                </a:cubicBezTo>
                <a:lnTo>
                  <a:pt x="207976" y="207976"/>
                </a:lnTo>
                <a:cubicBezTo>
                  <a:pt x="215645" y="207976"/>
                  <a:pt x="221841" y="201780"/>
                  <a:pt x="221841" y="194111"/>
                </a:cubicBezTo>
                <a:cubicBezTo>
                  <a:pt x="221841" y="186442"/>
                  <a:pt x="215645" y="180246"/>
                  <a:pt x="207976" y="180246"/>
                </a:cubicBezTo>
                <a:lnTo>
                  <a:pt x="34663" y="180246"/>
                </a:lnTo>
                <a:cubicBezTo>
                  <a:pt x="30850" y="180246"/>
                  <a:pt x="27730" y="177126"/>
                  <a:pt x="27730" y="173313"/>
                </a:cubicBezTo>
                <a:lnTo>
                  <a:pt x="27730" y="27730"/>
                </a:lnTo>
                <a:close/>
                <a:moveTo>
                  <a:pt x="203903" y="65252"/>
                </a:moveTo>
                <a:cubicBezTo>
                  <a:pt x="209319" y="59836"/>
                  <a:pt x="209319" y="51041"/>
                  <a:pt x="203903" y="45625"/>
                </a:cubicBezTo>
                <a:cubicBezTo>
                  <a:pt x="198487" y="40209"/>
                  <a:pt x="189691" y="40209"/>
                  <a:pt x="184275" y="45625"/>
                </a:cubicBezTo>
                <a:lnTo>
                  <a:pt x="138650" y="91293"/>
                </a:lnTo>
                <a:lnTo>
                  <a:pt x="113780" y="66466"/>
                </a:lnTo>
                <a:cubicBezTo>
                  <a:pt x="108364" y="61050"/>
                  <a:pt x="99568" y="61050"/>
                  <a:pt x="94152" y="66466"/>
                </a:cubicBezTo>
                <a:lnTo>
                  <a:pt x="52557" y="108061"/>
                </a:lnTo>
                <a:cubicBezTo>
                  <a:pt x="47141" y="113477"/>
                  <a:pt x="47141" y="122272"/>
                  <a:pt x="52557" y="127688"/>
                </a:cubicBezTo>
                <a:cubicBezTo>
                  <a:pt x="57973" y="133104"/>
                  <a:pt x="66769" y="133104"/>
                  <a:pt x="72185" y="127688"/>
                </a:cubicBezTo>
                <a:lnTo>
                  <a:pt x="103988" y="95885"/>
                </a:lnTo>
                <a:lnTo>
                  <a:pt x="128858" y="120756"/>
                </a:lnTo>
                <a:cubicBezTo>
                  <a:pt x="134274" y="126172"/>
                  <a:pt x="143070" y="126172"/>
                  <a:pt x="148486" y="120756"/>
                </a:cubicBezTo>
                <a:lnTo>
                  <a:pt x="203946" y="65296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3320824" y="4113298"/>
            <a:ext cx="2375545" cy="18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Wazuh SIEM</a:t>
            </a:r>
            <a:endParaRPr b="0" i="0" sz="1600" u="none" cap="none" strike="noStrike"/>
          </a:p>
        </p:txBody>
      </p:sp>
      <p:sp>
        <p:nvSpPr>
          <p:cNvPr id="336" name="Google Shape;336;p11"/>
          <p:cNvSpPr/>
          <p:nvPr/>
        </p:nvSpPr>
        <p:spPr>
          <a:xfrm>
            <a:off x="3325445" y="4335139"/>
            <a:ext cx="23663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Zone</a:t>
            </a:r>
            <a:endParaRPr b="0" i="0" sz="1600" u="none" cap="none" strike="noStrike"/>
          </a:p>
        </p:txBody>
      </p:sp>
      <p:sp>
        <p:nvSpPr>
          <p:cNvPr id="337" name="Google Shape;337;p11"/>
          <p:cNvSpPr/>
          <p:nvPr/>
        </p:nvSpPr>
        <p:spPr>
          <a:xfrm>
            <a:off x="374356" y="4996039"/>
            <a:ext cx="5610723" cy="1229368"/>
          </a:xfrm>
          <a:custGeom>
            <a:rect b="b" l="l" r="r" t="t"/>
            <a:pathLst>
              <a:path extrusionOk="0" h="1229368" w="5610723">
                <a:moveTo>
                  <a:pt x="73946" y="0"/>
                </a:moveTo>
                <a:lnTo>
                  <a:pt x="5536777" y="0"/>
                </a:lnTo>
                <a:cubicBezTo>
                  <a:pt x="5577589" y="0"/>
                  <a:pt x="5610723" y="33134"/>
                  <a:pt x="5610723" y="73946"/>
                </a:cubicBezTo>
                <a:lnTo>
                  <a:pt x="5610723" y="1155421"/>
                </a:lnTo>
                <a:cubicBezTo>
                  <a:pt x="5610723" y="1196233"/>
                  <a:pt x="5577589" y="1229368"/>
                  <a:pt x="5536777" y="1229368"/>
                </a:cubicBezTo>
                <a:lnTo>
                  <a:pt x="73946" y="1229368"/>
                </a:lnTo>
                <a:cubicBezTo>
                  <a:pt x="33134" y="1229368"/>
                  <a:pt x="0" y="1196233"/>
                  <a:pt x="0" y="1155421"/>
                </a:cubicBezTo>
                <a:lnTo>
                  <a:pt x="0" y="73946"/>
                </a:lnTo>
                <a:cubicBezTo>
                  <a:pt x="0" y="33134"/>
                  <a:pt x="33134" y="0"/>
                  <a:pt x="73946" y="0"/>
                </a:cubicBezTo>
                <a:close/>
              </a:path>
            </a:pathLst>
          </a:custGeom>
          <a:solidFill>
            <a:srgbClr val="5F6B7A">
              <a:alpha val="9803"/>
            </a:srgbClr>
          </a:solidFill>
          <a:ln cap="flat" cmpd="sng" w="12700">
            <a:solidFill>
              <a:srgbClr val="5F6B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575400" y="5222502"/>
            <a:ext cx="207976" cy="184867"/>
          </a:xfrm>
          <a:custGeom>
            <a:rect b="b" l="l" r="r" t="t"/>
            <a:pathLst>
              <a:path extrusionOk="0" h="184867" w="207976">
                <a:moveTo>
                  <a:pt x="69325" y="34663"/>
                </a:moveTo>
                <a:cubicBezTo>
                  <a:pt x="69325" y="15526"/>
                  <a:pt x="84851" y="0"/>
                  <a:pt x="103988" y="0"/>
                </a:cubicBezTo>
                <a:cubicBezTo>
                  <a:pt x="123125" y="0"/>
                  <a:pt x="138650" y="15526"/>
                  <a:pt x="138650" y="34663"/>
                </a:cubicBezTo>
                <a:lnTo>
                  <a:pt x="138650" y="35962"/>
                </a:lnTo>
                <a:cubicBezTo>
                  <a:pt x="138650" y="41631"/>
                  <a:pt x="134065" y="46217"/>
                  <a:pt x="128396" y="46217"/>
                </a:cubicBezTo>
                <a:lnTo>
                  <a:pt x="79616" y="46217"/>
                </a:lnTo>
                <a:cubicBezTo>
                  <a:pt x="73947" y="46217"/>
                  <a:pt x="69361" y="41631"/>
                  <a:pt x="69361" y="35962"/>
                </a:cubicBezTo>
                <a:lnTo>
                  <a:pt x="69361" y="34663"/>
                </a:lnTo>
                <a:close/>
                <a:moveTo>
                  <a:pt x="194111" y="39284"/>
                </a:moveTo>
                <a:cubicBezTo>
                  <a:pt x="197938" y="44375"/>
                  <a:pt x="196891" y="51633"/>
                  <a:pt x="191800" y="55460"/>
                </a:cubicBezTo>
                <a:lnTo>
                  <a:pt x="156487" y="81927"/>
                </a:lnTo>
                <a:cubicBezTo>
                  <a:pt x="158401" y="85140"/>
                  <a:pt x="159845" y="88679"/>
                  <a:pt x="160748" y="92434"/>
                </a:cubicBezTo>
                <a:lnTo>
                  <a:pt x="196422" y="92434"/>
                </a:lnTo>
                <a:cubicBezTo>
                  <a:pt x="202812" y="92434"/>
                  <a:pt x="207976" y="97597"/>
                  <a:pt x="207976" y="103988"/>
                </a:cubicBezTo>
                <a:cubicBezTo>
                  <a:pt x="207976" y="110379"/>
                  <a:pt x="202812" y="115542"/>
                  <a:pt x="196422" y="115542"/>
                </a:cubicBezTo>
                <a:lnTo>
                  <a:pt x="161759" y="115542"/>
                </a:lnTo>
                <a:lnTo>
                  <a:pt x="161759" y="127096"/>
                </a:lnTo>
                <a:cubicBezTo>
                  <a:pt x="161759" y="128035"/>
                  <a:pt x="161723" y="129010"/>
                  <a:pt x="161687" y="129949"/>
                </a:cubicBezTo>
                <a:lnTo>
                  <a:pt x="191800" y="152516"/>
                </a:lnTo>
                <a:cubicBezTo>
                  <a:pt x="196891" y="156343"/>
                  <a:pt x="197938" y="163600"/>
                  <a:pt x="194111" y="168691"/>
                </a:cubicBezTo>
                <a:cubicBezTo>
                  <a:pt x="190283" y="173783"/>
                  <a:pt x="183026" y="174830"/>
                  <a:pt x="177935" y="171002"/>
                </a:cubicBezTo>
                <a:lnTo>
                  <a:pt x="155151" y="153924"/>
                </a:lnTo>
                <a:cubicBezTo>
                  <a:pt x="146775" y="169883"/>
                  <a:pt x="131140" y="181437"/>
                  <a:pt x="112654" y="184217"/>
                </a:cubicBezTo>
                <a:lnTo>
                  <a:pt x="112654" y="101099"/>
                </a:lnTo>
                <a:cubicBezTo>
                  <a:pt x="112654" y="96297"/>
                  <a:pt x="108790" y="92434"/>
                  <a:pt x="103988" y="92434"/>
                </a:cubicBezTo>
                <a:cubicBezTo>
                  <a:pt x="99186" y="92434"/>
                  <a:pt x="95322" y="96297"/>
                  <a:pt x="95322" y="101099"/>
                </a:cubicBezTo>
                <a:lnTo>
                  <a:pt x="95322" y="184217"/>
                </a:lnTo>
                <a:cubicBezTo>
                  <a:pt x="76835" y="181437"/>
                  <a:pt x="61201" y="169883"/>
                  <a:pt x="52824" y="153924"/>
                </a:cubicBezTo>
                <a:lnTo>
                  <a:pt x="30041" y="171002"/>
                </a:lnTo>
                <a:cubicBezTo>
                  <a:pt x="24950" y="174830"/>
                  <a:pt x="17692" y="173783"/>
                  <a:pt x="13865" y="168691"/>
                </a:cubicBezTo>
                <a:cubicBezTo>
                  <a:pt x="10038" y="163600"/>
                  <a:pt x="11085" y="156343"/>
                  <a:pt x="16176" y="152516"/>
                </a:cubicBezTo>
                <a:lnTo>
                  <a:pt x="46289" y="129949"/>
                </a:lnTo>
                <a:cubicBezTo>
                  <a:pt x="46253" y="129010"/>
                  <a:pt x="46217" y="128071"/>
                  <a:pt x="46217" y="127096"/>
                </a:cubicBezTo>
                <a:lnTo>
                  <a:pt x="46217" y="115542"/>
                </a:lnTo>
                <a:lnTo>
                  <a:pt x="11554" y="115542"/>
                </a:lnTo>
                <a:cubicBezTo>
                  <a:pt x="5163" y="115542"/>
                  <a:pt x="0" y="110379"/>
                  <a:pt x="0" y="103988"/>
                </a:cubicBezTo>
                <a:cubicBezTo>
                  <a:pt x="0" y="97597"/>
                  <a:pt x="5163" y="92434"/>
                  <a:pt x="11554" y="92434"/>
                </a:cubicBezTo>
                <a:lnTo>
                  <a:pt x="47228" y="92434"/>
                </a:lnTo>
                <a:cubicBezTo>
                  <a:pt x="48130" y="88679"/>
                  <a:pt x="49575" y="85140"/>
                  <a:pt x="51488" y="81927"/>
                </a:cubicBezTo>
                <a:lnTo>
                  <a:pt x="16176" y="55460"/>
                </a:lnTo>
                <a:cubicBezTo>
                  <a:pt x="11085" y="51633"/>
                  <a:pt x="10038" y="44375"/>
                  <a:pt x="13865" y="39284"/>
                </a:cubicBezTo>
                <a:cubicBezTo>
                  <a:pt x="17692" y="34193"/>
                  <a:pt x="24950" y="33146"/>
                  <a:pt x="30041" y="36973"/>
                </a:cubicBezTo>
                <a:lnTo>
                  <a:pt x="69325" y="66437"/>
                </a:lnTo>
                <a:cubicBezTo>
                  <a:pt x="73766" y="64595"/>
                  <a:pt x="78641" y="63548"/>
                  <a:pt x="83768" y="63548"/>
                </a:cubicBezTo>
                <a:lnTo>
                  <a:pt x="124208" y="63548"/>
                </a:lnTo>
                <a:cubicBezTo>
                  <a:pt x="129335" y="63548"/>
                  <a:pt x="134209" y="64559"/>
                  <a:pt x="138650" y="66437"/>
                </a:cubicBezTo>
                <a:lnTo>
                  <a:pt x="177935" y="36973"/>
                </a:lnTo>
                <a:cubicBezTo>
                  <a:pt x="183026" y="33146"/>
                  <a:pt x="190283" y="34193"/>
                  <a:pt x="194111" y="39284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1"/>
          <p:cNvSpPr/>
          <p:nvPr/>
        </p:nvSpPr>
        <p:spPr>
          <a:xfrm>
            <a:off x="905850" y="5185528"/>
            <a:ext cx="1811700" cy="258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Attacker Simulation VM</a:t>
            </a:r>
            <a:endParaRPr b="0" i="0" sz="1600" u="none" cap="none" strike="noStrike"/>
          </a:p>
        </p:txBody>
      </p:sp>
      <p:sp>
        <p:nvSpPr>
          <p:cNvPr id="340" name="Google Shape;340;p11"/>
          <p:cNvSpPr/>
          <p:nvPr/>
        </p:nvSpPr>
        <p:spPr>
          <a:xfrm>
            <a:off x="563845" y="5555263"/>
            <a:ext cx="5305692" cy="480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5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Dedicated VM for launching controlled attacks to test detection capabilities and validate security controls.</a:t>
            </a:r>
            <a:endParaRPr b="0" i="0" sz="1600" u="none" cap="none" strike="noStrike"/>
          </a:p>
        </p:txBody>
      </p:sp>
      <p:sp>
        <p:nvSpPr>
          <p:cNvPr id="341" name="Google Shape;341;p11"/>
          <p:cNvSpPr/>
          <p:nvPr/>
        </p:nvSpPr>
        <p:spPr>
          <a:xfrm>
            <a:off x="6225840" y="1257098"/>
            <a:ext cx="5601480" cy="2292355"/>
          </a:xfrm>
          <a:custGeom>
            <a:rect b="b" l="l" r="r" t="t"/>
            <a:pathLst>
              <a:path extrusionOk="0" h="2292355" w="5601480">
                <a:moveTo>
                  <a:pt x="0" y="0"/>
                </a:moveTo>
                <a:lnTo>
                  <a:pt x="5527529" y="0"/>
                </a:lnTo>
                <a:cubicBezTo>
                  <a:pt x="5568371" y="0"/>
                  <a:pt x="5601480" y="33109"/>
                  <a:pt x="5601480" y="73951"/>
                </a:cubicBezTo>
                <a:lnTo>
                  <a:pt x="5601480" y="2218403"/>
                </a:lnTo>
                <a:cubicBezTo>
                  <a:pt x="5601480" y="2259246"/>
                  <a:pt x="5568371" y="2292355"/>
                  <a:pt x="5527529" y="2292355"/>
                </a:cubicBezTo>
                <a:lnTo>
                  <a:pt x="0" y="2292355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"/>
          <p:cNvSpPr/>
          <p:nvPr/>
        </p:nvSpPr>
        <p:spPr>
          <a:xfrm>
            <a:off x="6225840" y="1257098"/>
            <a:ext cx="36973" cy="2292355"/>
          </a:xfrm>
          <a:custGeom>
            <a:rect b="b" l="l" r="r" t="t"/>
            <a:pathLst>
              <a:path extrusionOk="0" h="2292355" w="36973">
                <a:moveTo>
                  <a:pt x="0" y="0"/>
                </a:moveTo>
                <a:lnTo>
                  <a:pt x="36973" y="0"/>
                </a:lnTo>
                <a:lnTo>
                  <a:pt x="36973" y="2292355"/>
                </a:lnTo>
                <a:lnTo>
                  <a:pt x="0" y="2292355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>
            <a:noFill/>
          </a:ln>
        </p:spPr>
      </p:sp>
      <p:sp>
        <p:nvSpPr>
          <p:cNvPr id="343" name="Google Shape;343;p11"/>
          <p:cNvSpPr/>
          <p:nvPr/>
        </p:nvSpPr>
        <p:spPr>
          <a:xfrm>
            <a:off x="6440749" y="1478939"/>
            <a:ext cx="207976" cy="184867"/>
          </a:xfrm>
          <a:custGeom>
            <a:rect b="b" l="l" r="r" t="t"/>
            <a:pathLst>
              <a:path extrusionOk="0" h="184867" w="207976">
                <a:moveTo>
                  <a:pt x="89545" y="31774"/>
                </a:moveTo>
                <a:lnTo>
                  <a:pt x="118431" y="31774"/>
                </a:lnTo>
                <a:lnTo>
                  <a:pt x="118431" y="49105"/>
                </a:lnTo>
                <a:lnTo>
                  <a:pt x="89545" y="49105"/>
                </a:lnTo>
                <a:lnTo>
                  <a:pt x="89545" y="31774"/>
                </a:lnTo>
                <a:close/>
                <a:moveTo>
                  <a:pt x="86657" y="11554"/>
                </a:moveTo>
                <a:cubicBezTo>
                  <a:pt x="77088" y="11554"/>
                  <a:pt x="69325" y="19317"/>
                  <a:pt x="69325" y="28886"/>
                </a:cubicBezTo>
                <a:lnTo>
                  <a:pt x="69325" y="51994"/>
                </a:lnTo>
                <a:cubicBezTo>
                  <a:pt x="69325" y="61562"/>
                  <a:pt x="77088" y="69325"/>
                  <a:pt x="86657" y="69325"/>
                </a:cubicBezTo>
                <a:lnTo>
                  <a:pt x="92434" y="69325"/>
                </a:lnTo>
                <a:lnTo>
                  <a:pt x="92434" y="80879"/>
                </a:lnTo>
                <a:lnTo>
                  <a:pt x="11554" y="80879"/>
                </a:lnTo>
                <a:cubicBezTo>
                  <a:pt x="5163" y="80879"/>
                  <a:pt x="0" y="86043"/>
                  <a:pt x="0" y="92434"/>
                </a:cubicBezTo>
                <a:cubicBezTo>
                  <a:pt x="0" y="98825"/>
                  <a:pt x="5163" y="103988"/>
                  <a:pt x="11554" y="103988"/>
                </a:cubicBezTo>
                <a:lnTo>
                  <a:pt x="46217" y="103988"/>
                </a:lnTo>
                <a:lnTo>
                  <a:pt x="46217" y="115542"/>
                </a:lnTo>
                <a:lnTo>
                  <a:pt x="40440" y="115542"/>
                </a:lnTo>
                <a:cubicBezTo>
                  <a:pt x="30871" y="115542"/>
                  <a:pt x="23108" y="123305"/>
                  <a:pt x="23108" y="132873"/>
                </a:cubicBezTo>
                <a:lnTo>
                  <a:pt x="23108" y="155982"/>
                </a:lnTo>
                <a:cubicBezTo>
                  <a:pt x="23108" y="165550"/>
                  <a:pt x="30871" y="173313"/>
                  <a:pt x="40440" y="173313"/>
                </a:cubicBezTo>
                <a:lnTo>
                  <a:pt x="75102" y="173313"/>
                </a:lnTo>
                <a:cubicBezTo>
                  <a:pt x="84671" y="173313"/>
                  <a:pt x="92434" y="165550"/>
                  <a:pt x="92434" y="155982"/>
                </a:cubicBezTo>
                <a:lnTo>
                  <a:pt x="92434" y="132873"/>
                </a:lnTo>
                <a:cubicBezTo>
                  <a:pt x="92434" y="123305"/>
                  <a:pt x="84671" y="115542"/>
                  <a:pt x="75102" y="115542"/>
                </a:cubicBezTo>
                <a:lnTo>
                  <a:pt x="69325" y="115542"/>
                </a:lnTo>
                <a:lnTo>
                  <a:pt x="69325" y="103988"/>
                </a:lnTo>
                <a:lnTo>
                  <a:pt x="138650" y="103988"/>
                </a:lnTo>
                <a:lnTo>
                  <a:pt x="138650" y="115542"/>
                </a:lnTo>
                <a:lnTo>
                  <a:pt x="132873" y="115542"/>
                </a:lnTo>
                <a:cubicBezTo>
                  <a:pt x="123305" y="115542"/>
                  <a:pt x="115542" y="123305"/>
                  <a:pt x="115542" y="132873"/>
                </a:cubicBezTo>
                <a:lnTo>
                  <a:pt x="115542" y="155982"/>
                </a:lnTo>
                <a:cubicBezTo>
                  <a:pt x="115542" y="165550"/>
                  <a:pt x="123305" y="173313"/>
                  <a:pt x="132873" y="173313"/>
                </a:cubicBezTo>
                <a:lnTo>
                  <a:pt x="167536" y="173313"/>
                </a:lnTo>
                <a:cubicBezTo>
                  <a:pt x="177104" y="173313"/>
                  <a:pt x="184867" y="165550"/>
                  <a:pt x="184867" y="155982"/>
                </a:cubicBezTo>
                <a:lnTo>
                  <a:pt x="184867" y="132873"/>
                </a:lnTo>
                <a:cubicBezTo>
                  <a:pt x="184867" y="123305"/>
                  <a:pt x="177104" y="115542"/>
                  <a:pt x="167536" y="115542"/>
                </a:cubicBezTo>
                <a:lnTo>
                  <a:pt x="161759" y="115542"/>
                </a:lnTo>
                <a:lnTo>
                  <a:pt x="161759" y="103988"/>
                </a:lnTo>
                <a:lnTo>
                  <a:pt x="196422" y="103988"/>
                </a:lnTo>
                <a:cubicBezTo>
                  <a:pt x="202812" y="103988"/>
                  <a:pt x="207976" y="98825"/>
                  <a:pt x="207976" y="92434"/>
                </a:cubicBezTo>
                <a:cubicBezTo>
                  <a:pt x="207976" y="86043"/>
                  <a:pt x="202812" y="80879"/>
                  <a:pt x="196422" y="80879"/>
                </a:cubicBezTo>
                <a:lnTo>
                  <a:pt x="115542" y="80879"/>
                </a:lnTo>
                <a:lnTo>
                  <a:pt x="115542" y="69325"/>
                </a:lnTo>
                <a:lnTo>
                  <a:pt x="121319" y="69325"/>
                </a:lnTo>
                <a:cubicBezTo>
                  <a:pt x="130888" y="69325"/>
                  <a:pt x="138650" y="61562"/>
                  <a:pt x="138650" y="51994"/>
                </a:cubicBezTo>
                <a:lnTo>
                  <a:pt x="138650" y="28886"/>
                </a:lnTo>
                <a:cubicBezTo>
                  <a:pt x="138650" y="19317"/>
                  <a:pt x="130888" y="11554"/>
                  <a:pt x="121319" y="11554"/>
                </a:cubicBezTo>
                <a:lnTo>
                  <a:pt x="86657" y="11554"/>
                </a:lnTo>
                <a:close/>
                <a:moveTo>
                  <a:pt x="161759" y="135762"/>
                </a:moveTo>
                <a:lnTo>
                  <a:pt x="164647" y="135762"/>
                </a:lnTo>
                <a:lnTo>
                  <a:pt x="164647" y="153093"/>
                </a:lnTo>
                <a:lnTo>
                  <a:pt x="135762" y="153093"/>
                </a:lnTo>
                <a:lnTo>
                  <a:pt x="135762" y="135762"/>
                </a:lnTo>
                <a:lnTo>
                  <a:pt x="161759" y="135762"/>
                </a:lnTo>
                <a:close/>
                <a:moveTo>
                  <a:pt x="69325" y="135762"/>
                </a:moveTo>
                <a:lnTo>
                  <a:pt x="72214" y="135762"/>
                </a:lnTo>
                <a:lnTo>
                  <a:pt x="72214" y="153093"/>
                </a:lnTo>
                <a:lnTo>
                  <a:pt x="43328" y="153093"/>
                </a:lnTo>
                <a:lnTo>
                  <a:pt x="43328" y="135762"/>
                </a:lnTo>
                <a:lnTo>
                  <a:pt x="69325" y="135762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6771199" y="1441965"/>
            <a:ext cx="1774726" cy="258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Network Segmentation</a:t>
            </a:r>
            <a:endParaRPr b="0" i="0" sz="1600" u="none" cap="none" strike="noStrike"/>
          </a:p>
        </p:txBody>
      </p:sp>
      <p:sp>
        <p:nvSpPr>
          <p:cNvPr id="345" name="Google Shape;345;p11"/>
          <p:cNvSpPr/>
          <p:nvPr/>
        </p:nvSpPr>
        <p:spPr>
          <a:xfrm>
            <a:off x="6429194" y="1811700"/>
            <a:ext cx="5287205" cy="480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5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Networks segmented into four distinct zones with isolated traffic flows and controlled inter-zone communication.</a:t>
            </a:r>
            <a:endParaRPr b="0" i="0" sz="1600" u="none" cap="none" strike="noStrike"/>
          </a:p>
        </p:txBody>
      </p:sp>
      <p:sp>
        <p:nvSpPr>
          <p:cNvPr id="346" name="Google Shape;346;p11"/>
          <p:cNvSpPr/>
          <p:nvPr/>
        </p:nvSpPr>
        <p:spPr>
          <a:xfrm>
            <a:off x="6429194" y="2440249"/>
            <a:ext cx="110920" cy="110920"/>
          </a:xfrm>
          <a:custGeom>
            <a:rect b="b" l="l" r="r" t="t"/>
            <a:pathLst>
              <a:path extrusionOk="0" h="110920" w="110920">
                <a:moveTo>
                  <a:pt x="55460" y="0"/>
                </a:moveTo>
                <a:lnTo>
                  <a:pt x="55460" y="0"/>
                </a:lnTo>
                <a:cubicBezTo>
                  <a:pt x="86090" y="0"/>
                  <a:pt x="110920" y="24830"/>
                  <a:pt x="110920" y="55460"/>
                </a:cubicBezTo>
                <a:lnTo>
                  <a:pt x="110920" y="55460"/>
                </a:lnTo>
                <a:cubicBezTo>
                  <a:pt x="110920" y="86090"/>
                  <a:pt x="86090" y="110920"/>
                  <a:pt x="55460" y="110920"/>
                </a:cubicBezTo>
                <a:lnTo>
                  <a:pt x="55460" y="110920"/>
                </a:lnTo>
                <a:cubicBezTo>
                  <a:pt x="24830" y="110920"/>
                  <a:pt x="0" y="86090"/>
                  <a:pt x="0" y="55460"/>
                </a:cubicBezTo>
                <a:lnTo>
                  <a:pt x="0" y="55460"/>
                </a:lnTo>
                <a:cubicBezTo>
                  <a:pt x="0" y="24830"/>
                  <a:pt x="24830" y="0"/>
                  <a:pt x="55460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6614062" y="2403275"/>
            <a:ext cx="1978080" cy="18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External Network (Internet-facing)</a:t>
            </a:r>
            <a:endParaRPr b="0" i="0" sz="1600" u="none" cap="none" strike="noStrike"/>
          </a:p>
        </p:txBody>
      </p:sp>
      <p:sp>
        <p:nvSpPr>
          <p:cNvPr id="348" name="Google Shape;348;p11"/>
          <p:cNvSpPr/>
          <p:nvPr/>
        </p:nvSpPr>
        <p:spPr>
          <a:xfrm>
            <a:off x="6429194" y="2699063"/>
            <a:ext cx="110920" cy="110920"/>
          </a:xfrm>
          <a:custGeom>
            <a:rect b="b" l="l" r="r" t="t"/>
            <a:pathLst>
              <a:path extrusionOk="0" h="110920" w="110920">
                <a:moveTo>
                  <a:pt x="55460" y="0"/>
                </a:moveTo>
                <a:lnTo>
                  <a:pt x="55460" y="0"/>
                </a:lnTo>
                <a:cubicBezTo>
                  <a:pt x="86090" y="0"/>
                  <a:pt x="110920" y="24830"/>
                  <a:pt x="110920" y="55460"/>
                </a:cubicBezTo>
                <a:lnTo>
                  <a:pt x="110920" y="55460"/>
                </a:lnTo>
                <a:cubicBezTo>
                  <a:pt x="110920" y="86090"/>
                  <a:pt x="86090" y="110920"/>
                  <a:pt x="55460" y="110920"/>
                </a:cubicBezTo>
                <a:lnTo>
                  <a:pt x="55460" y="110920"/>
                </a:lnTo>
                <a:cubicBezTo>
                  <a:pt x="24830" y="110920"/>
                  <a:pt x="0" y="86090"/>
                  <a:pt x="0" y="55460"/>
                </a:cubicBezTo>
                <a:lnTo>
                  <a:pt x="0" y="55460"/>
                </a:lnTo>
                <a:cubicBezTo>
                  <a:pt x="0" y="24830"/>
                  <a:pt x="24830" y="0"/>
                  <a:pt x="55460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6614062" y="2662089"/>
            <a:ext cx="1793213" cy="18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DMZ Network (Public services)</a:t>
            </a:r>
            <a:endParaRPr b="0" i="0" sz="1600" u="none" cap="none" strike="noStrike"/>
          </a:p>
        </p:txBody>
      </p:sp>
      <p:sp>
        <p:nvSpPr>
          <p:cNvPr id="350" name="Google Shape;350;p11"/>
          <p:cNvSpPr/>
          <p:nvPr/>
        </p:nvSpPr>
        <p:spPr>
          <a:xfrm>
            <a:off x="6429194" y="2957877"/>
            <a:ext cx="110920" cy="110920"/>
          </a:xfrm>
          <a:custGeom>
            <a:rect b="b" l="l" r="r" t="t"/>
            <a:pathLst>
              <a:path extrusionOk="0" h="110920" w="110920">
                <a:moveTo>
                  <a:pt x="55460" y="0"/>
                </a:moveTo>
                <a:lnTo>
                  <a:pt x="55460" y="0"/>
                </a:lnTo>
                <a:cubicBezTo>
                  <a:pt x="86090" y="0"/>
                  <a:pt x="110920" y="24830"/>
                  <a:pt x="110920" y="55460"/>
                </a:cubicBezTo>
                <a:lnTo>
                  <a:pt x="110920" y="55460"/>
                </a:lnTo>
                <a:cubicBezTo>
                  <a:pt x="110920" y="86090"/>
                  <a:pt x="86090" y="110920"/>
                  <a:pt x="55460" y="110920"/>
                </a:cubicBezTo>
                <a:lnTo>
                  <a:pt x="55460" y="110920"/>
                </a:lnTo>
                <a:cubicBezTo>
                  <a:pt x="24830" y="110920"/>
                  <a:pt x="0" y="86090"/>
                  <a:pt x="0" y="55460"/>
                </a:cubicBezTo>
                <a:lnTo>
                  <a:pt x="0" y="55460"/>
                </a:lnTo>
                <a:cubicBezTo>
                  <a:pt x="0" y="24830"/>
                  <a:pt x="24830" y="0"/>
                  <a:pt x="55460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1"/>
          <p:cNvSpPr/>
          <p:nvPr/>
        </p:nvSpPr>
        <p:spPr>
          <a:xfrm>
            <a:off x="6614062" y="2920904"/>
            <a:ext cx="2033541" cy="18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Internal Network (Protected assets)</a:t>
            </a:r>
            <a:endParaRPr b="0" i="0" sz="1600" u="none" cap="none" strike="noStrike"/>
          </a:p>
        </p:txBody>
      </p:sp>
      <p:sp>
        <p:nvSpPr>
          <p:cNvPr id="352" name="Google Shape;352;p11"/>
          <p:cNvSpPr/>
          <p:nvPr/>
        </p:nvSpPr>
        <p:spPr>
          <a:xfrm>
            <a:off x="6429194" y="3216691"/>
            <a:ext cx="110920" cy="110920"/>
          </a:xfrm>
          <a:custGeom>
            <a:rect b="b" l="l" r="r" t="t"/>
            <a:pathLst>
              <a:path extrusionOk="0" h="110920" w="110920">
                <a:moveTo>
                  <a:pt x="55460" y="0"/>
                </a:moveTo>
                <a:lnTo>
                  <a:pt x="55460" y="0"/>
                </a:lnTo>
                <a:cubicBezTo>
                  <a:pt x="86090" y="0"/>
                  <a:pt x="110920" y="24830"/>
                  <a:pt x="110920" y="55460"/>
                </a:cubicBezTo>
                <a:lnTo>
                  <a:pt x="110920" y="55460"/>
                </a:lnTo>
                <a:cubicBezTo>
                  <a:pt x="110920" y="86090"/>
                  <a:pt x="86090" y="110920"/>
                  <a:pt x="55460" y="110920"/>
                </a:cubicBezTo>
                <a:lnTo>
                  <a:pt x="55460" y="110920"/>
                </a:lnTo>
                <a:cubicBezTo>
                  <a:pt x="24830" y="110920"/>
                  <a:pt x="0" y="86090"/>
                  <a:pt x="0" y="55460"/>
                </a:cubicBezTo>
                <a:lnTo>
                  <a:pt x="0" y="55460"/>
                </a:lnTo>
                <a:cubicBezTo>
                  <a:pt x="0" y="24830"/>
                  <a:pt x="24830" y="0"/>
                  <a:pt x="55460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"/>
          <p:cNvSpPr/>
          <p:nvPr/>
        </p:nvSpPr>
        <p:spPr>
          <a:xfrm>
            <a:off x="6614062" y="3179718"/>
            <a:ext cx="1857917" cy="18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Zone (Monitoring tools)</a:t>
            </a:r>
            <a:endParaRPr b="0" i="0" sz="1600" u="none" cap="none" strike="noStrike"/>
          </a:p>
        </p:txBody>
      </p:sp>
      <p:sp>
        <p:nvSpPr>
          <p:cNvPr id="354" name="Google Shape;354;p11"/>
          <p:cNvSpPr/>
          <p:nvPr/>
        </p:nvSpPr>
        <p:spPr>
          <a:xfrm>
            <a:off x="6225840" y="3734320"/>
            <a:ext cx="5601480" cy="1220124"/>
          </a:xfrm>
          <a:custGeom>
            <a:rect b="b" l="l" r="r" t="t"/>
            <a:pathLst>
              <a:path extrusionOk="0" h="1220124" w="5601480">
                <a:moveTo>
                  <a:pt x="0" y="0"/>
                </a:moveTo>
                <a:lnTo>
                  <a:pt x="5527528" y="0"/>
                </a:lnTo>
                <a:cubicBezTo>
                  <a:pt x="5568371" y="0"/>
                  <a:pt x="5601480" y="33109"/>
                  <a:pt x="5601480" y="73952"/>
                </a:cubicBezTo>
                <a:lnTo>
                  <a:pt x="5601480" y="1146173"/>
                </a:lnTo>
                <a:cubicBezTo>
                  <a:pt x="5601480" y="1187015"/>
                  <a:pt x="5568371" y="1220124"/>
                  <a:pt x="5527528" y="1220124"/>
                </a:cubicBezTo>
                <a:lnTo>
                  <a:pt x="0" y="1220124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6225840" y="3734320"/>
            <a:ext cx="36973" cy="1220124"/>
          </a:xfrm>
          <a:custGeom>
            <a:rect b="b" l="l" r="r" t="t"/>
            <a:pathLst>
              <a:path extrusionOk="0" h="1220124" w="36973">
                <a:moveTo>
                  <a:pt x="0" y="0"/>
                </a:moveTo>
                <a:lnTo>
                  <a:pt x="36973" y="0"/>
                </a:lnTo>
                <a:lnTo>
                  <a:pt x="36973" y="1220124"/>
                </a:lnTo>
                <a:lnTo>
                  <a:pt x="0" y="1220124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</p:sp>
      <p:sp>
        <p:nvSpPr>
          <p:cNvPr id="356" name="Google Shape;356;p11"/>
          <p:cNvSpPr/>
          <p:nvPr/>
        </p:nvSpPr>
        <p:spPr>
          <a:xfrm>
            <a:off x="6452303" y="3956161"/>
            <a:ext cx="184867" cy="184867"/>
          </a:xfrm>
          <a:custGeom>
            <a:rect b="b" l="l" r="r" t="t"/>
            <a:pathLst>
              <a:path extrusionOk="0" h="184867" w="184867">
                <a:moveTo>
                  <a:pt x="23794" y="82504"/>
                </a:moveTo>
                <a:cubicBezTo>
                  <a:pt x="28597" y="48925"/>
                  <a:pt x="57518" y="23108"/>
                  <a:pt x="92434" y="23108"/>
                </a:cubicBezTo>
                <a:cubicBezTo>
                  <a:pt x="111570" y="23108"/>
                  <a:pt x="128902" y="30871"/>
                  <a:pt x="141467" y="43400"/>
                </a:cubicBezTo>
                <a:cubicBezTo>
                  <a:pt x="141539" y="43473"/>
                  <a:pt x="141611" y="43545"/>
                  <a:pt x="141683" y="43617"/>
                </a:cubicBezTo>
                <a:lnTo>
                  <a:pt x="144428" y="46217"/>
                </a:lnTo>
                <a:lnTo>
                  <a:pt x="127132" y="46217"/>
                </a:lnTo>
                <a:cubicBezTo>
                  <a:pt x="120741" y="46217"/>
                  <a:pt x="115578" y="51380"/>
                  <a:pt x="115578" y="57771"/>
                </a:cubicBezTo>
                <a:cubicBezTo>
                  <a:pt x="115578" y="64162"/>
                  <a:pt x="120741" y="69325"/>
                  <a:pt x="127132" y="69325"/>
                </a:cubicBezTo>
                <a:lnTo>
                  <a:pt x="173349" y="69325"/>
                </a:lnTo>
                <a:cubicBezTo>
                  <a:pt x="179740" y="69325"/>
                  <a:pt x="184903" y="64162"/>
                  <a:pt x="184903" y="57771"/>
                </a:cubicBezTo>
                <a:lnTo>
                  <a:pt x="184903" y="11554"/>
                </a:lnTo>
                <a:cubicBezTo>
                  <a:pt x="184903" y="5163"/>
                  <a:pt x="179740" y="0"/>
                  <a:pt x="173349" y="0"/>
                </a:cubicBezTo>
                <a:cubicBezTo>
                  <a:pt x="166958" y="0"/>
                  <a:pt x="161795" y="5163"/>
                  <a:pt x="161795" y="11554"/>
                </a:cubicBezTo>
                <a:lnTo>
                  <a:pt x="161795" y="30835"/>
                </a:lnTo>
                <a:lnTo>
                  <a:pt x="157715" y="26972"/>
                </a:lnTo>
                <a:cubicBezTo>
                  <a:pt x="140997" y="10327"/>
                  <a:pt x="117889" y="0"/>
                  <a:pt x="92434" y="0"/>
                </a:cubicBezTo>
                <a:cubicBezTo>
                  <a:pt x="45856" y="0"/>
                  <a:pt x="7330" y="34446"/>
                  <a:pt x="939" y="79255"/>
                </a:cubicBezTo>
                <a:cubicBezTo>
                  <a:pt x="36" y="85573"/>
                  <a:pt x="4405" y="91423"/>
                  <a:pt x="10724" y="92325"/>
                </a:cubicBezTo>
                <a:cubicBezTo>
                  <a:pt x="17042" y="93228"/>
                  <a:pt x="22892" y="88823"/>
                  <a:pt x="23794" y="82540"/>
                </a:cubicBezTo>
                <a:close/>
                <a:moveTo>
                  <a:pt x="183929" y="105613"/>
                </a:moveTo>
                <a:cubicBezTo>
                  <a:pt x="184831" y="99294"/>
                  <a:pt x="180426" y="93445"/>
                  <a:pt x="174144" y="92542"/>
                </a:cubicBezTo>
                <a:cubicBezTo>
                  <a:pt x="167861" y="91639"/>
                  <a:pt x="161976" y="96044"/>
                  <a:pt x="161073" y="102327"/>
                </a:cubicBezTo>
                <a:cubicBezTo>
                  <a:pt x="156271" y="135906"/>
                  <a:pt x="127349" y="161723"/>
                  <a:pt x="92434" y="161723"/>
                </a:cubicBezTo>
                <a:cubicBezTo>
                  <a:pt x="73297" y="161723"/>
                  <a:pt x="55966" y="153960"/>
                  <a:pt x="43400" y="141431"/>
                </a:cubicBezTo>
                <a:cubicBezTo>
                  <a:pt x="43328" y="141359"/>
                  <a:pt x="43256" y="141286"/>
                  <a:pt x="43184" y="141214"/>
                </a:cubicBezTo>
                <a:lnTo>
                  <a:pt x="40440" y="138614"/>
                </a:lnTo>
                <a:lnTo>
                  <a:pt x="57735" y="138614"/>
                </a:lnTo>
                <a:cubicBezTo>
                  <a:pt x="64126" y="138614"/>
                  <a:pt x="69289" y="133451"/>
                  <a:pt x="69289" y="127060"/>
                </a:cubicBezTo>
                <a:cubicBezTo>
                  <a:pt x="69289" y="120669"/>
                  <a:pt x="64126" y="115506"/>
                  <a:pt x="57735" y="115506"/>
                </a:cubicBezTo>
                <a:lnTo>
                  <a:pt x="11554" y="115542"/>
                </a:lnTo>
                <a:cubicBezTo>
                  <a:pt x="8485" y="115542"/>
                  <a:pt x="5524" y="116770"/>
                  <a:pt x="3358" y="118972"/>
                </a:cubicBezTo>
                <a:cubicBezTo>
                  <a:pt x="1192" y="121175"/>
                  <a:pt x="-36" y="124099"/>
                  <a:pt x="0" y="127205"/>
                </a:cubicBezTo>
                <a:lnTo>
                  <a:pt x="361" y="173060"/>
                </a:lnTo>
                <a:cubicBezTo>
                  <a:pt x="397" y="179451"/>
                  <a:pt x="5633" y="184578"/>
                  <a:pt x="12024" y="184506"/>
                </a:cubicBezTo>
                <a:cubicBezTo>
                  <a:pt x="18415" y="184434"/>
                  <a:pt x="23542" y="179235"/>
                  <a:pt x="23469" y="172844"/>
                </a:cubicBezTo>
                <a:lnTo>
                  <a:pt x="23325" y="154249"/>
                </a:lnTo>
                <a:lnTo>
                  <a:pt x="27188" y="157895"/>
                </a:lnTo>
                <a:cubicBezTo>
                  <a:pt x="43906" y="174541"/>
                  <a:pt x="66978" y="184867"/>
                  <a:pt x="92434" y="184867"/>
                </a:cubicBezTo>
                <a:cubicBezTo>
                  <a:pt x="139012" y="184867"/>
                  <a:pt x="177538" y="150421"/>
                  <a:pt x="183929" y="105613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6771199" y="3919187"/>
            <a:ext cx="1562129" cy="258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Static IP Addressing</a:t>
            </a:r>
            <a:endParaRPr b="0" i="0" sz="1600" u="none" cap="none" strike="noStrike"/>
          </a:p>
        </p:txBody>
      </p:sp>
      <p:sp>
        <p:nvSpPr>
          <p:cNvPr id="358" name="Google Shape;358;p11"/>
          <p:cNvSpPr/>
          <p:nvPr/>
        </p:nvSpPr>
        <p:spPr>
          <a:xfrm>
            <a:off x="6429194" y="4288922"/>
            <a:ext cx="5287205" cy="480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5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Static IP configuration ensures consistent routing and reliable firewall rule enforcement across all network segments.</a:t>
            </a:r>
            <a:endParaRPr b="0" i="0" sz="1600" u="none" cap="none" strike="noStrike"/>
          </a:p>
        </p:txBody>
      </p:sp>
      <p:sp>
        <p:nvSpPr>
          <p:cNvPr id="359" name="Google Shape;359;p11"/>
          <p:cNvSpPr/>
          <p:nvPr/>
        </p:nvSpPr>
        <p:spPr>
          <a:xfrm>
            <a:off x="6225840" y="5139312"/>
            <a:ext cx="5601480" cy="1719266"/>
          </a:xfrm>
          <a:custGeom>
            <a:rect b="b" l="l" r="r" t="t"/>
            <a:pathLst>
              <a:path extrusionOk="0" h="1719266" w="5601480">
                <a:moveTo>
                  <a:pt x="0" y="0"/>
                </a:moveTo>
                <a:lnTo>
                  <a:pt x="5527534" y="0"/>
                </a:lnTo>
                <a:cubicBezTo>
                  <a:pt x="5568373" y="0"/>
                  <a:pt x="5601480" y="33107"/>
                  <a:pt x="5601480" y="73946"/>
                </a:cubicBezTo>
                <a:lnTo>
                  <a:pt x="5601480" y="1645320"/>
                </a:lnTo>
                <a:cubicBezTo>
                  <a:pt x="5601480" y="1686160"/>
                  <a:pt x="5568373" y="1719266"/>
                  <a:pt x="5527534" y="1719266"/>
                </a:cubicBezTo>
                <a:lnTo>
                  <a:pt x="0" y="1719266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6225840" y="5139312"/>
            <a:ext cx="36973" cy="1719266"/>
          </a:xfrm>
          <a:custGeom>
            <a:rect b="b" l="l" r="r" t="t"/>
            <a:pathLst>
              <a:path extrusionOk="0" h="1719266" w="36973">
                <a:moveTo>
                  <a:pt x="0" y="0"/>
                </a:moveTo>
                <a:lnTo>
                  <a:pt x="36973" y="0"/>
                </a:lnTo>
                <a:lnTo>
                  <a:pt x="36973" y="1719266"/>
                </a:lnTo>
                <a:lnTo>
                  <a:pt x="0" y="1719266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>
            <a:noFill/>
          </a:ln>
        </p:spPr>
      </p:sp>
      <p:sp>
        <p:nvSpPr>
          <p:cNvPr id="361" name="Google Shape;361;p11"/>
          <p:cNvSpPr/>
          <p:nvPr/>
        </p:nvSpPr>
        <p:spPr>
          <a:xfrm>
            <a:off x="6463857" y="5361152"/>
            <a:ext cx="161759" cy="184867"/>
          </a:xfrm>
          <a:custGeom>
            <a:rect b="b" l="l" r="r" t="t"/>
            <a:pathLst>
              <a:path extrusionOk="0" h="184867" w="161759">
                <a:moveTo>
                  <a:pt x="57952" y="-9532"/>
                </a:moveTo>
                <a:cubicBezTo>
                  <a:pt x="61310" y="-12349"/>
                  <a:pt x="66256" y="-12240"/>
                  <a:pt x="69470" y="-9207"/>
                </a:cubicBezTo>
                <a:cubicBezTo>
                  <a:pt x="73911" y="-5019"/>
                  <a:pt x="77883" y="-397"/>
                  <a:pt x="81710" y="4297"/>
                </a:cubicBezTo>
                <a:cubicBezTo>
                  <a:pt x="86584" y="10254"/>
                  <a:pt x="92434" y="18126"/>
                  <a:pt x="98066" y="27477"/>
                </a:cubicBezTo>
                <a:cubicBezTo>
                  <a:pt x="99944" y="25022"/>
                  <a:pt x="101677" y="22856"/>
                  <a:pt x="103194" y="21014"/>
                </a:cubicBezTo>
                <a:cubicBezTo>
                  <a:pt x="103591" y="20545"/>
                  <a:pt x="103988" y="20039"/>
                  <a:pt x="104385" y="19534"/>
                </a:cubicBezTo>
                <a:cubicBezTo>
                  <a:pt x="107237" y="15995"/>
                  <a:pt x="110776" y="11554"/>
                  <a:pt x="115506" y="11554"/>
                </a:cubicBezTo>
                <a:cubicBezTo>
                  <a:pt x="120344" y="11554"/>
                  <a:pt x="123738" y="15851"/>
                  <a:pt x="126627" y="19534"/>
                </a:cubicBezTo>
                <a:cubicBezTo>
                  <a:pt x="127096" y="20148"/>
                  <a:pt x="127566" y="20725"/>
                  <a:pt x="128035" y="21267"/>
                </a:cubicBezTo>
                <a:cubicBezTo>
                  <a:pt x="131754" y="25744"/>
                  <a:pt x="136701" y="32207"/>
                  <a:pt x="141647" y="40187"/>
                </a:cubicBezTo>
                <a:cubicBezTo>
                  <a:pt x="151468" y="56038"/>
                  <a:pt x="161723" y="78605"/>
                  <a:pt x="161723" y="103952"/>
                </a:cubicBezTo>
                <a:cubicBezTo>
                  <a:pt x="161723" y="148616"/>
                  <a:pt x="125508" y="184831"/>
                  <a:pt x="80843" y="184831"/>
                </a:cubicBezTo>
                <a:cubicBezTo>
                  <a:pt x="36179" y="184831"/>
                  <a:pt x="0" y="148652"/>
                  <a:pt x="0" y="103988"/>
                </a:cubicBezTo>
                <a:cubicBezTo>
                  <a:pt x="0" y="71094"/>
                  <a:pt x="14840" y="42606"/>
                  <a:pt x="29066" y="22747"/>
                </a:cubicBezTo>
                <a:cubicBezTo>
                  <a:pt x="36251" y="12746"/>
                  <a:pt x="43400" y="4730"/>
                  <a:pt x="48780" y="-758"/>
                </a:cubicBezTo>
                <a:cubicBezTo>
                  <a:pt x="51741" y="-3791"/>
                  <a:pt x="54738" y="-6788"/>
                  <a:pt x="57988" y="-9496"/>
                </a:cubicBezTo>
                <a:close/>
                <a:moveTo>
                  <a:pt x="81493" y="150205"/>
                </a:moveTo>
                <a:cubicBezTo>
                  <a:pt x="90628" y="150205"/>
                  <a:pt x="98716" y="147677"/>
                  <a:pt x="106335" y="142622"/>
                </a:cubicBezTo>
                <a:cubicBezTo>
                  <a:pt x="121536" y="132007"/>
                  <a:pt x="125616" y="110776"/>
                  <a:pt x="116481" y="94095"/>
                </a:cubicBezTo>
                <a:cubicBezTo>
                  <a:pt x="114856" y="90845"/>
                  <a:pt x="110704" y="90628"/>
                  <a:pt x="108357" y="93372"/>
                </a:cubicBezTo>
                <a:lnTo>
                  <a:pt x="99258" y="103952"/>
                </a:lnTo>
                <a:cubicBezTo>
                  <a:pt x="96875" y="106696"/>
                  <a:pt x="92578" y="106624"/>
                  <a:pt x="90339" y="103771"/>
                </a:cubicBezTo>
                <a:cubicBezTo>
                  <a:pt x="84093" y="95792"/>
                  <a:pt x="72611" y="81241"/>
                  <a:pt x="66762" y="73803"/>
                </a:cubicBezTo>
                <a:cubicBezTo>
                  <a:pt x="64812" y="71311"/>
                  <a:pt x="61273" y="70914"/>
                  <a:pt x="58999" y="73116"/>
                </a:cubicBezTo>
                <a:cubicBezTo>
                  <a:pt x="52391" y="79543"/>
                  <a:pt x="40404" y="93625"/>
                  <a:pt x="40404" y="110776"/>
                </a:cubicBezTo>
                <a:cubicBezTo>
                  <a:pt x="40404" y="135545"/>
                  <a:pt x="58674" y="150205"/>
                  <a:pt x="81457" y="150205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6771199" y="5324179"/>
            <a:ext cx="1691536" cy="258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Firewall Configuration</a:t>
            </a:r>
            <a:endParaRPr b="0" i="0" sz="1600" u="none" cap="none" strike="noStrike"/>
          </a:p>
        </p:txBody>
      </p:sp>
      <p:sp>
        <p:nvSpPr>
          <p:cNvPr id="363" name="Google Shape;363;p11"/>
          <p:cNvSpPr/>
          <p:nvPr/>
        </p:nvSpPr>
        <p:spPr>
          <a:xfrm>
            <a:off x="6429194" y="5693914"/>
            <a:ext cx="5287205" cy="240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65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Enforced using </a:t>
            </a:r>
            <a:r>
              <a:rPr b="1" i="0" lang="en-US" sz="1165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iptables/nftables</a:t>
            </a:r>
            <a:r>
              <a:rPr b="0" i="0" lang="en-US" sz="1165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with strict default-deny policy.</a:t>
            </a:r>
            <a:endParaRPr b="0" i="0" sz="1600" u="none" cap="none" strike="noStrike"/>
          </a:p>
        </p:txBody>
      </p:sp>
      <p:sp>
        <p:nvSpPr>
          <p:cNvPr id="364" name="Google Shape;364;p11"/>
          <p:cNvSpPr/>
          <p:nvPr/>
        </p:nvSpPr>
        <p:spPr>
          <a:xfrm>
            <a:off x="6429194" y="6045161"/>
            <a:ext cx="5213259" cy="628549"/>
          </a:xfrm>
          <a:custGeom>
            <a:rect b="b" l="l" r="r" t="t"/>
            <a:pathLst>
              <a:path extrusionOk="0" h="628549" w="5213259">
                <a:moveTo>
                  <a:pt x="36971" y="0"/>
                </a:moveTo>
                <a:lnTo>
                  <a:pt x="5176287" y="0"/>
                </a:lnTo>
                <a:cubicBezTo>
                  <a:pt x="5196706" y="0"/>
                  <a:pt x="5213259" y="16553"/>
                  <a:pt x="5213259" y="36971"/>
                </a:cubicBezTo>
                <a:lnTo>
                  <a:pt x="5213259" y="591578"/>
                </a:lnTo>
                <a:cubicBezTo>
                  <a:pt x="5213259" y="611996"/>
                  <a:pt x="5196706" y="628549"/>
                  <a:pt x="5176287" y="628549"/>
                </a:cubicBezTo>
                <a:lnTo>
                  <a:pt x="36971" y="628549"/>
                </a:lnTo>
                <a:cubicBezTo>
                  <a:pt x="16553" y="628549"/>
                  <a:pt x="0" y="611996"/>
                  <a:pt x="0" y="591578"/>
                </a:cubicBezTo>
                <a:lnTo>
                  <a:pt x="0" y="36971"/>
                </a:lnTo>
                <a:cubicBezTo>
                  <a:pt x="0" y="16553"/>
                  <a:pt x="16553" y="0"/>
                  <a:pt x="3697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6540115" y="6156082"/>
            <a:ext cx="5056121" cy="18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8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Allowed:</a:t>
            </a:r>
            <a:r>
              <a:rPr b="0" i="0" lang="en-US" sz="101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HTTP/HTTPS to DMZ, DB access from DMZ</a:t>
            </a:r>
            <a:endParaRPr b="0" i="0" sz="1600" u="none" cap="none" strike="noStrike"/>
          </a:p>
        </p:txBody>
      </p:sp>
      <p:sp>
        <p:nvSpPr>
          <p:cNvPr id="366" name="Google Shape;366;p11"/>
          <p:cNvSpPr/>
          <p:nvPr/>
        </p:nvSpPr>
        <p:spPr>
          <a:xfrm>
            <a:off x="6540115" y="6377923"/>
            <a:ext cx="5056121" cy="18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8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Blocked:</a:t>
            </a:r>
            <a:r>
              <a:rPr b="0" i="0" lang="en-US" sz="101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Internal network internet access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2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Implementation • Part 2</a:t>
            </a:r>
            <a:endParaRPr b="0" i="0" sz="1600" u="none" cap="none" strike="noStrike"/>
          </a:p>
        </p:txBody>
      </p:sp>
      <p:sp>
        <p:nvSpPr>
          <p:cNvPr id="373" name="Google Shape;373;p1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Security Controls Deployment</a:t>
            </a:r>
            <a:endParaRPr b="0" i="0" sz="1600" u="none" cap="none" strike="noStrike"/>
          </a:p>
        </p:txBody>
      </p:sp>
      <p:sp>
        <p:nvSpPr>
          <p:cNvPr id="374" name="Google Shape;374;p12"/>
          <p:cNvSpPr/>
          <p:nvPr/>
        </p:nvSpPr>
        <p:spPr>
          <a:xfrm>
            <a:off x="390525" y="1304925"/>
            <a:ext cx="5581650" cy="2876550"/>
          </a:xfrm>
          <a:custGeom>
            <a:rect b="b" l="l" r="r" t="t"/>
            <a:pathLst>
              <a:path extrusionOk="0" h="2876550" w="5581650">
                <a:moveTo>
                  <a:pt x="76200" y="0"/>
                </a:moveTo>
                <a:lnTo>
                  <a:pt x="5505450" y="0"/>
                </a:lnTo>
                <a:cubicBezTo>
                  <a:pt x="5547534" y="0"/>
                  <a:pt x="5581650" y="34116"/>
                  <a:pt x="5581650" y="76200"/>
                </a:cubicBezTo>
                <a:lnTo>
                  <a:pt x="5581650" y="2800350"/>
                </a:lnTo>
                <a:cubicBezTo>
                  <a:pt x="5581650" y="2842434"/>
                  <a:pt x="5547534" y="2876550"/>
                  <a:pt x="5505450" y="2876550"/>
                </a:cubicBezTo>
                <a:lnTo>
                  <a:pt x="76200" y="2876550"/>
                </a:lnTo>
                <a:cubicBezTo>
                  <a:pt x="34116" y="2876550"/>
                  <a:pt x="0" y="2842434"/>
                  <a:pt x="0" y="2800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4A6D8C">
              <a:alpha val="14901"/>
            </a:srgbClr>
          </a:solidFill>
          <a:ln cap="flat" cmpd="sng" w="25400">
            <a:solidFill>
              <a:srgbClr val="4A6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"/>
          <p:cNvSpPr/>
          <p:nvPr/>
        </p:nvSpPr>
        <p:spPr>
          <a:xfrm>
            <a:off x="628650" y="1543050"/>
            <a:ext cx="533400" cy="533400"/>
          </a:xfrm>
          <a:custGeom>
            <a:rect b="b" l="l" r="r" t="t"/>
            <a:pathLst>
              <a:path extrusionOk="0" h="533400" w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781050" y="1695450"/>
            <a:ext cx="228600" cy="228600"/>
          </a:xfrm>
          <a:custGeom>
            <a:rect b="b" l="l" r="r" t="t"/>
            <a:pathLst>
              <a:path extrusionOk="0" h="228600" w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1314450" y="1543050"/>
            <a:ext cx="1895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Suricata IDS</a:t>
            </a:r>
            <a:endParaRPr b="0" i="0" sz="1600" u="none" cap="none" strike="noStrike"/>
          </a:p>
        </p:txBody>
      </p:sp>
      <p:sp>
        <p:nvSpPr>
          <p:cNvPr id="378" name="Google Shape;378;p12"/>
          <p:cNvSpPr/>
          <p:nvPr/>
        </p:nvSpPr>
        <p:spPr>
          <a:xfrm>
            <a:off x="1314450" y="1847850"/>
            <a:ext cx="1857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Intrusion Detection System</a:t>
            </a:r>
            <a:endParaRPr b="0" i="0" sz="1600" u="none" cap="none" strike="noStrike"/>
          </a:p>
        </p:txBody>
      </p:sp>
      <p:sp>
        <p:nvSpPr>
          <p:cNvPr id="379" name="Google Shape;379;p12"/>
          <p:cNvSpPr/>
          <p:nvPr/>
        </p:nvSpPr>
        <p:spPr>
          <a:xfrm>
            <a:off x="647700" y="230505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933450" y="2266950"/>
            <a:ext cx="3981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Passive Sensor Deployment</a:t>
            </a:r>
            <a:endParaRPr b="0" i="0" sz="1600" u="none" cap="none" strike="noStrike"/>
          </a:p>
        </p:txBody>
      </p:sp>
      <p:sp>
        <p:nvSpPr>
          <p:cNvPr id="381" name="Google Shape;381;p12"/>
          <p:cNvSpPr/>
          <p:nvPr/>
        </p:nvSpPr>
        <p:spPr>
          <a:xfrm>
            <a:off x="933450" y="2533650"/>
            <a:ext cx="3971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Deployed on mirrored interfaces for non-intrusive traffic monitoring</a:t>
            </a:r>
            <a:endParaRPr b="0" i="0" sz="1600" u="none" cap="none" strike="noStrike"/>
          </a:p>
        </p:txBody>
      </p:sp>
      <p:sp>
        <p:nvSpPr>
          <p:cNvPr id="382" name="Google Shape;382;p12"/>
          <p:cNvSpPr/>
          <p:nvPr/>
        </p:nvSpPr>
        <p:spPr>
          <a:xfrm>
            <a:off x="647700" y="291465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933450" y="2876550"/>
            <a:ext cx="4048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Rule Configuration</a:t>
            </a:r>
            <a:endParaRPr b="0" i="0" sz="1600" u="none" cap="none" strike="noStrike"/>
          </a:p>
        </p:txBody>
      </p:sp>
      <p:sp>
        <p:nvSpPr>
          <p:cNvPr id="384" name="Google Shape;384;p12"/>
          <p:cNvSpPr/>
          <p:nvPr/>
        </p:nvSpPr>
        <p:spPr>
          <a:xfrm>
            <a:off x="933450" y="3143250"/>
            <a:ext cx="4038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Emerging Threats rules + custom rules for SQLi, XSS, HTTP anomalies</a:t>
            </a:r>
            <a:endParaRPr b="0" i="0" sz="1600" u="none" cap="none" strike="noStrike"/>
          </a:p>
        </p:txBody>
      </p:sp>
      <p:sp>
        <p:nvSpPr>
          <p:cNvPr id="385" name="Google Shape;385;p12"/>
          <p:cNvSpPr/>
          <p:nvPr/>
        </p:nvSpPr>
        <p:spPr>
          <a:xfrm>
            <a:off x="647700" y="352425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933450" y="3486150"/>
            <a:ext cx="3876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Detection</a:t>
            </a:r>
            <a:endParaRPr b="0" i="0" sz="1600" u="none" cap="none" strike="noStrike"/>
          </a:p>
        </p:txBody>
      </p:sp>
      <p:sp>
        <p:nvSpPr>
          <p:cNvPr id="387" name="Google Shape;387;p12"/>
          <p:cNvSpPr/>
          <p:nvPr/>
        </p:nvSpPr>
        <p:spPr>
          <a:xfrm>
            <a:off x="933450" y="3752850"/>
            <a:ext cx="3867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Inspects inter-zone traffic and generates immediate security alerts</a:t>
            </a:r>
            <a:endParaRPr b="0" i="0" sz="1600" u="none" cap="none" strike="noStrike"/>
          </a:p>
        </p:txBody>
      </p:sp>
      <p:sp>
        <p:nvSpPr>
          <p:cNvPr id="388" name="Google Shape;388;p12"/>
          <p:cNvSpPr/>
          <p:nvPr/>
        </p:nvSpPr>
        <p:spPr>
          <a:xfrm>
            <a:off x="400050" y="4381500"/>
            <a:ext cx="5581650" cy="876300"/>
          </a:xfrm>
          <a:custGeom>
            <a:rect b="b" l="l" r="r" t="t"/>
            <a:pathLst>
              <a:path extrusionOk="0" h="876300" w="5581650">
                <a:moveTo>
                  <a:pt x="0" y="0"/>
                </a:moveTo>
                <a:lnTo>
                  <a:pt x="5505447" y="0"/>
                </a:lnTo>
                <a:cubicBezTo>
                  <a:pt x="5547533" y="0"/>
                  <a:pt x="5581650" y="34117"/>
                  <a:pt x="5581650" y="76203"/>
                </a:cubicBezTo>
                <a:lnTo>
                  <a:pt x="5581650" y="800097"/>
                </a:lnTo>
                <a:cubicBezTo>
                  <a:pt x="5581650" y="842183"/>
                  <a:pt x="5547533" y="876300"/>
                  <a:pt x="5505447" y="876300"/>
                </a:cubicBez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400050" y="4381500"/>
            <a:ext cx="38100" cy="876300"/>
          </a:xfrm>
          <a:custGeom>
            <a:rect b="b" l="l" r="r" t="t"/>
            <a:pathLst>
              <a:path extrusionOk="0" h="876300" w="38100">
                <a:moveTo>
                  <a:pt x="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</p:sp>
      <p:sp>
        <p:nvSpPr>
          <p:cNvPr id="390" name="Google Shape;390;p12"/>
          <p:cNvSpPr/>
          <p:nvPr/>
        </p:nvSpPr>
        <p:spPr>
          <a:xfrm>
            <a:off x="647700" y="4619625"/>
            <a:ext cx="114300" cy="152400"/>
          </a:xfrm>
          <a:custGeom>
            <a:rect b="b" l="l" r="r" t="t"/>
            <a:pathLst>
              <a:path extrusionOk="0" h="152400" w="1143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857250" y="4572000"/>
            <a:ext cx="50101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Key Benefit:</a:t>
            </a: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Suricata provides </a:t>
            </a:r>
            <a:r>
              <a:rPr b="1" i="0" lang="en-US" sz="12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deep packet inspection</a:t>
            </a: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capabilities to detect sophisticated attacks at the application layer.</a:t>
            </a:r>
            <a:endParaRPr b="0" i="0" sz="1600" u="none" cap="none" strike="noStrike"/>
          </a:p>
        </p:txBody>
      </p:sp>
      <p:sp>
        <p:nvSpPr>
          <p:cNvPr id="392" name="Google Shape;392;p12"/>
          <p:cNvSpPr/>
          <p:nvPr/>
        </p:nvSpPr>
        <p:spPr>
          <a:xfrm>
            <a:off x="6219825" y="1304925"/>
            <a:ext cx="5581650" cy="2876550"/>
          </a:xfrm>
          <a:custGeom>
            <a:rect b="b" l="l" r="r" t="t"/>
            <a:pathLst>
              <a:path extrusionOk="0" h="2876550" w="5581650">
                <a:moveTo>
                  <a:pt x="76200" y="0"/>
                </a:moveTo>
                <a:lnTo>
                  <a:pt x="5505450" y="0"/>
                </a:lnTo>
                <a:cubicBezTo>
                  <a:pt x="5547534" y="0"/>
                  <a:pt x="5581650" y="34116"/>
                  <a:pt x="5581650" y="76200"/>
                </a:cubicBezTo>
                <a:lnTo>
                  <a:pt x="5581650" y="2800350"/>
                </a:lnTo>
                <a:cubicBezTo>
                  <a:pt x="5581650" y="2842434"/>
                  <a:pt x="5547534" y="2876550"/>
                  <a:pt x="5505450" y="2876550"/>
                </a:cubicBezTo>
                <a:lnTo>
                  <a:pt x="76200" y="2876550"/>
                </a:lnTo>
                <a:cubicBezTo>
                  <a:pt x="34116" y="2876550"/>
                  <a:pt x="0" y="2842434"/>
                  <a:pt x="0" y="2800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5F6B7A">
              <a:alpha val="14901"/>
            </a:srgbClr>
          </a:solidFill>
          <a:ln cap="flat" cmpd="sng" w="25400">
            <a:solidFill>
              <a:srgbClr val="5F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6457950" y="1543050"/>
            <a:ext cx="533400" cy="533400"/>
          </a:xfrm>
          <a:custGeom>
            <a:rect b="b" l="l" r="r" t="t"/>
            <a:pathLst>
              <a:path extrusionOk="0" h="533400" w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6610350" y="1695450"/>
            <a:ext cx="228600" cy="228600"/>
          </a:xfrm>
          <a:custGeom>
            <a:rect b="b" l="l" r="r" t="t"/>
            <a:pathLst>
              <a:path extrusionOk="0" h="228600" w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7143750" y="1543050"/>
            <a:ext cx="2905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Wazuh SIEM</a:t>
            </a:r>
            <a:endParaRPr b="0" i="0" sz="1600" u="none" cap="none" strike="noStrike"/>
          </a:p>
        </p:txBody>
      </p:sp>
      <p:sp>
        <p:nvSpPr>
          <p:cNvPr id="396" name="Google Shape;396;p12"/>
          <p:cNvSpPr/>
          <p:nvPr/>
        </p:nvSpPr>
        <p:spPr>
          <a:xfrm>
            <a:off x="7143750" y="1847850"/>
            <a:ext cx="2867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Information &amp; Event Management</a:t>
            </a:r>
            <a:endParaRPr b="0" i="0" sz="1600" u="none" cap="none" strike="noStrike"/>
          </a:p>
        </p:txBody>
      </p:sp>
      <p:sp>
        <p:nvSpPr>
          <p:cNvPr id="397" name="Google Shape;397;p12"/>
          <p:cNvSpPr/>
          <p:nvPr/>
        </p:nvSpPr>
        <p:spPr>
          <a:xfrm>
            <a:off x="6477000" y="230505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2"/>
          <p:cNvSpPr/>
          <p:nvPr/>
        </p:nvSpPr>
        <p:spPr>
          <a:xfrm>
            <a:off x="6762750" y="2266950"/>
            <a:ext cx="3019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Manager-Agent Architecture</a:t>
            </a:r>
            <a:endParaRPr b="0" i="0" sz="1600" u="none" cap="none" strike="noStrike"/>
          </a:p>
        </p:txBody>
      </p:sp>
      <p:sp>
        <p:nvSpPr>
          <p:cNvPr id="399" name="Google Shape;399;p12"/>
          <p:cNvSpPr/>
          <p:nvPr/>
        </p:nvSpPr>
        <p:spPr>
          <a:xfrm>
            <a:off x="6762750" y="2533650"/>
            <a:ext cx="3009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Scalable deployment with centralized management</a:t>
            </a:r>
            <a:endParaRPr b="0" i="0" sz="1600" u="none" cap="none" strike="noStrike"/>
          </a:p>
        </p:txBody>
      </p:sp>
      <p:sp>
        <p:nvSpPr>
          <p:cNvPr id="400" name="Google Shape;400;p12"/>
          <p:cNvSpPr/>
          <p:nvPr/>
        </p:nvSpPr>
        <p:spPr>
          <a:xfrm>
            <a:off x="6477000" y="291465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6762750" y="2876550"/>
            <a:ext cx="2990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Comprehensive Log Collection</a:t>
            </a:r>
            <a:endParaRPr b="0" i="0" sz="1600" u="none" cap="none" strike="noStrike"/>
          </a:p>
        </p:txBody>
      </p:sp>
      <p:sp>
        <p:nvSpPr>
          <p:cNvPr id="402" name="Google Shape;402;p12"/>
          <p:cNvSpPr/>
          <p:nvPr/>
        </p:nvSpPr>
        <p:spPr>
          <a:xfrm>
            <a:off x="6762750" y="3143250"/>
            <a:ext cx="2981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System, web, authentication, and file-integrity logs</a:t>
            </a:r>
            <a:endParaRPr b="0" i="0" sz="1600" u="none" cap="none" strike="noStrike"/>
          </a:p>
        </p:txBody>
      </p:sp>
      <p:sp>
        <p:nvSpPr>
          <p:cNvPr id="403" name="Google Shape;403;p12"/>
          <p:cNvSpPr/>
          <p:nvPr/>
        </p:nvSpPr>
        <p:spPr>
          <a:xfrm>
            <a:off x="6477000" y="3524250"/>
            <a:ext cx="152400" cy="152400"/>
          </a:xfrm>
          <a:custGeom>
            <a:rect b="b" l="l" r="r" t="t"/>
            <a:pathLst>
              <a:path extrusionOk="0" h="152400" w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6762750" y="3486150"/>
            <a:ext cx="2657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Active Response</a:t>
            </a:r>
            <a:endParaRPr b="0" i="0" sz="1600" u="none" cap="none" strike="noStrike"/>
          </a:p>
        </p:txBody>
      </p:sp>
      <p:sp>
        <p:nvSpPr>
          <p:cNvPr id="405" name="Google Shape;405;p12"/>
          <p:cNvSpPr/>
          <p:nvPr/>
        </p:nvSpPr>
        <p:spPr>
          <a:xfrm>
            <a:off x="6762750" y="3752850"/>
            <a:ext cx="26479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Automated actions triggered by critical alerts</a:t>
            </a:r>
            <a:endParaRPr b="0" i="0" sz="1600" u="none" cap="none" strike="noStrike"/>
          </a:p>
        </p:txBody>
      </p:sp>
      <p:sp>
        <p:nvSpPr>
          <p:cNvPr id="406" name="Google Shape;406;p12"/>
          <p:cNvSpPr/>
          <p:nvPr/>
        </p:nvSpPr>
        <p:spPr>
          <a:xfrm>
            <a:off x="6229350" y="4381500"/>
            <a:ext cx="5581650" cy="1257300"/>
          </a:xfrm>
          <a:custGeom>
            <a:rect b="b" l="l" r="r" t="t"/>
            <a:pathLst>
              <a:path extrusionOk="0" h="1257300" w="5581650">
                <a:moveTo>
                  <a:pt x="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181095"/>
                </a:lnTo>
                <a:cubicBezTo>
                  <a:pt x="5581650" y="1223182"/>
                  <a:pt x="5547532" y="1257300"/>
                  <a:pt x="5505445" y="1257300"/>
                </a:cubicBez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6229350" y="4381500"/>
            <a:ext cx="38100" cy="1257300"/>
          </a:xfrm>
          <a:custGeom>
            <a:rect b="b" l="l" r="r" t="t"/>
            <a:pathLst>
              <a:path extrusionOk="0" h="1257300" w="38100">
                <a:moveTo>
                  <a:pt x="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4A6D8C"/>
          </a:solidFill>
          <a:ln>
            <a:noFill/>
          </a:ln>
        </p:spPr>
      </p:sp>
      <p:sp>
        <p:nvSpPr>
          <p:cNvPr id="408" name="Google Shape;408;p12"/>
          <p:cNvSpPr/>
          <p:nvPr/>
        </p:nvSpPr>
        <p:spPr>
          <a:xfrm>
            <a:off x="6486525" y="4610100"/>
            <a:ext cx="142875" cy="190500"/>
          </a:xfrm>
          <a:custGeom>
            <a:rect b="b" l="l" r="r" t="t"/>
            <a:pathLst>
              <a:path extrusionOk="0" h="190500" w="142875">
                <a:moveTo>
                  <a:pt x="47625" y="35719"/>
                </a:moveTo>
                <a:lnTo>
                  <a:pt x="47625" y="59531"/>
                </a:lnTo>
                <a:lnTo>
                  <a:pt x="95250" y="59531"/>
                </a:lnTo>
                <a:lnTo>
                  <a:pt x="95250" y="35719"/>
                </a:lnTo>
                <a:cubicBezTo>
                  <a:pt x="95250" y="22585"/>
                  <a:pt x="84572" y="11906"/>
                  <a:pt x="71438" y="11906"/>
                </a:cubicBezTo>
                <a:cubicBezTo>
                  <a:pt x="58303" y="11906"/>
                  <a:pt x="47625" y="22585"/>
                  <a:pt x="47625" y="35719"/>
                </a:cubicBezTo>
                <a:close/>
                <a:moveTo>
                  <a:pt x="23812" y="59531"/>
                </a:moveTo>
                <a:lnTo>
                  <a:pt x="23812" y="35719"/>
                </a:lnTo>
                <a:cubicBezTo>
                  <a:pt x="23812" y="9413"/>
                  <a:pt x="45132" y="-11906"/>
                  <a:pt x="71438" y="-11906"/>
                </a:cubicBezTo>
                <a:cubicBezTo>
                  <a:pt x="97743" y="-11906"/>
                  <a:pt x="119063" y="9413"/>
                  <a:pt x="119063" y="35719"/>
                </a:cubicBezTo>
                <a:lnTo>
                  <a:pt x="119063" y="59531"/>
                </a:lnTo>
                <a:cubicBezTo>
                  <a:pt x="132197" y="59531"/>
                  <a:pt x="142875" y="70210"/>
                  <a:pt x="142875" y="83344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83344"/>
                </a:lnTo>
                <a:cubicBezTo>
                  <a:pt x="0" y="70210"/>
                  <a:pt x="10678" y="59531"/>
                  <a:pt x="23812" y="59531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6791325" y="4572000"/>
            <a:ext cx="1247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TLS Encryption</a:t>
            </a:r>
            <a:endParaRPr b="0" i="0" sz="1600" u="none" cap="none" strike="noStrike"/>
          </a:p>
        </p:txBody>
      </p:sp>
      <p:sp>
        <p:nvSpPr>
          <p:cNvPr id="410" name="Google Shape;410;p12"/>
          <p:cNvSpPr/>
          <p:nvPr/>
        </p:nvSpPr>
        <p:spPr>
          <a:xfrm>
            <a:off x="6438900" y="4953000"/>
            <a:ext cx="5257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inter-component communication secured with TLS encryption to protect data in transit and prevent eavesdropping.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3"/>
          <p:cNvSpPr/>
          <p:nvPr/>
        </p:nvSpPr>
        <p:spPr>
          <a:xfrm>
            <a:off x="354419" y="354419"/>
            <a:ext cx="11554047" cy="2126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6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Applications &amp; Use Cases</a:t>
            </a:r>
            <a:endParaRPr b="0" i="0" sz="1600" u="none" cap="none" strike="noStrike"/>
          </a:p>
        </p:txBody>
      </p:sp>
      <p:sp>
        <p:nvSpPr>
          <p:cNvPr id="417" name="Google Shape;417;p13"/>
          <p:cNvSpPr/>
          <p:nvPr/>
        </p:nvSpPr>
        <p:spPr>
          <a:xfrm>
            <a:off x="354419" y="637953"/>
            <a:ext cx="11642651" cy="35441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12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Practical Applications</a:t>
            </a:r>
            <a:endParaRPr b="0" i="0" sz="1600" u="none" cap="none" strike="noStrike"/>
          </a:p>
        </p:txBody>
      </p:sp>
      <p:sp>
        <p:nvSpPr>
          <p:cNvPr id="418" name="Google Shape;418;p13"/>
          <p:cNvSpPr/>
          <p:nvPr/>
        </p:nvSpPr>
        <p:spPr>
          <a:xfrm>
            <a:off x="363279" y="1213884"/>
            <a:ext cx="3694814" cy="2808767"/>
          </a:xfrm>
          <a:custGeom>
            <a:rect b="b" l="l" r="r" t="t"/>
            <a:pathLst>
              <a:path extrusionOk="0" h="2808767" w="3694814">
                <a:moveTo>
                  <a:pt x="70893" y="0"/>
                </a:moveTo>
                <a:lnTo>
                  <a:pt x="3623921" y="0"/>
                </a:lnTo>
                <a:cubicBezTo>
                  <a:pt x="3663074" y="0"/>
                  <a:pt x="3694814" y="31740"/>
                  <a:pt x="3694814" y="70893"/>
                </a:cubicBezTo>
                <a:lnTo>
                  <a:pt x="3694814" y="2737874"/>
                </a:lnTo>
                <a:cubicBezTo>
                  <a:pt x="3694814" y="2777027"/>
                  <a:pt x="3663074" y="2808767"/>
                  <a:pt x="3623921" y="2808767"/>
                </a:cubicBezTo>
                <a:lnTo>
                  <a:pt x="70893" y="2808767"/>
                </a:lnTo>
                <a:cubicBezTo>
                  <a:pt x="31740" y="2808767"/>
                  <a:pt x="0" y="2777027"/>
                  <a:pt x="0" y="2737874"/>
                </a:cubicBezTo>
                <a:lnTo>
                  <a:pt x="0" y="70893"/>
                </a:lnTo>
                <a:cubicBezTo>
                  <a:pt x="0" y="31740"/>
                  <a:pt x="31740" y="0"/>
                  <a:pt x="70893" y="0"/>
                </a:cubicBezTo>
                <a:close/>
              </a:path>
            </a:pathLst>
          </a:custGeom>
          <a:solidFill>
            <a:srgbClr val="4A6D8C">
              <a:alpha val="14901"/>
            </a:srgbClr>
          </a:solidFill>
          <a:ln cap="flat" cmpd="sng" w="25400">
            <a:solidFill>
              <a:srgbClr val="4A6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549349" y="1399953"/>
            <a:ext cx="425302" cy="425302"/>
          </a:xfrm>
          <a:custGeom>
            <a:rect b="b" l="l" r="r" t="t"/>
            <a:pathLst>
              <a:path extrusionOk="0" h="425302" w="425302">
                <a:moveTo>
                  <a:pt x="70885" y="0"/>
                </a:moveTo>
                <a:lnTo>
                  <a:pt x="354417" y="0"/>
                </a:lnTo>
                <a:cubicBezTo>
                  <a:pt x="393566" y="0"/>
                  <a:pt x="425302" y="31736"/>
                  <a:pt x="425302" y="70885"/>
                </a:cubicBezTo>
                <a:lnTo>
                  <a:pt x="425302" y="354417"/>
                </a:lnTo>
                <a:cubicBezTo>
                  <a:pt x="425302" y="393566"/>
                  <a:pt x="393566" y="425302"/>
                  <a:pt x="354417" y="425302"/>
                </a:cubicBezTo>
                <a:lnTo>
                  <a:pt x="70885" y="425302"/>
                </a:lnTo>
                <a:cubicBezTo>
                  <a:pt x="31736" y="425302"/>
                  <a:pt x="0" y="393566"/>
                  <a:pt x="0" y="354417"/>
                </a:cubicBezTo>
                <a:lnTo>
                  <a:pt x="0" y="70885"/>
                </a:lnTo>
                <a:cubicBezTo>
                  <a:pt x="0" y="31736"/>
                  <a:pt x="31736" y="0"/>
                  <a:pt x="70885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662320" y="1524000"/>
            <a:ext cx="199360" cy="177209"/>
          </a:xfrm>
          <a:custGeom>
            <a:rect b="b" l="l" r="r" t="t"/>
            <a:pathLst>
              <a:path extrusionOk="0" h="177209" w="199360">
                <a:moveTo>
                  <a:pt x="16613" y="67769"/>
                </a:moveTo>
                <a:lnTo>
                  <a:pt x="89020" y="97569"/>
                </a:lnTo>
                <a:cubicBezTo>
                  <a:pt x="92412" y="98953"/>
                  <a:pt x="96011" y="99680"/>
                  <a:pt x="99680" y="99680"/>
                </a:cubicBezTo>
                <a:cubicBezTo>
                  <a:pt x="103349" y="99680"/>
                  <a:pt x="106949" y="98953"/>
                  <a:pt x="110340" y="97569"/>
                </a:cubicBezTo>
                <a:lnTo>
                  <a:pt x="194238" y="63027"/>
                </a:lnTo>
                <a:cubicBezTo>
                  <a:pt x="197353" y="61746"/>
                  <a:pt x="199360" y="58735"/>
                  <a:pt x="199360" y="55378"/>
                </a:cubicBezTo>
                <a:cubicBezTo>
                  <a:pt x="199360" y="52021"/>
                  <a:pt x="197353" y="49009"/>
                  <a:pt x="194238" y="47729"/>
                </a:cubicBezTo>
                <a:lnTo>
                  <a:pt x="110340" y="13187"/>
                </a:lnTo>
                <a:cubicBezTo>
                  <a:pt x="106949" y="11802"/>
                  <a:pt x="103349" y="11076"/>
                  <a:pt x="99680" y="11076"/>
                </a:cubicBezTo>
                <a:cubicBezTo>
                  <a:pt x="96011" y="11076"/>
                  <a:pt x="92412" y="11802"/>
                  <a:pt x="89020" y="13187"/>
                </a:cubicBezTo>
                <a:lnTo>
                  <a:pt x="5122" y="47729"/>
                </a:lnTo>
                <a:cubicBezTo>
                  <a:pt x="2007" y="49009"/>
                  <a:pt x="0" y="52021"/>
                  <a:pt x="0" y="55378"/>
                </a:cubicBezTo>
                <a:lnTo>
                  <a:pt x="0" y="157827"/>
                </a:lnTo>
                <a:cubicBezTo>
                  <a:pt x="0" y="162430"/>
                  <a:pt x="3703" y="166134"/>
                  <a:pt x="8307" y="166134"/>
                </a:cubicBezTo>
                <a:cubicBezTo>
                  <a:pt x="12910" y="166134"/>
                  <a:pt x="16613" y="162430"/>
                  <a:pt x="16613" y="157827"/>
                </a:cubicBezTo>
                <a:lnTo>
                  <a:pt x="16613" y="67769"/>
                </a:lnTo>
                <a:close/>
                <a:moveTo>
                  <a:pt x="33227" y="92585"/>
                </a:moveTo>
                <a:lnTo>
                  <a:pt x="33227" y="132907"/>
                </a:lnTo>
                <a:cubicBezTo>
                  <a:pt x="33227" y="151251"/>
                  <a:pt x="62992" y="166134"/>
                  <a:pt x="99680" y="166134"/>
                </a:cubicBezTo>
                <a:cubicBezTo>
                  <a:pt x="136368" y="166134"/>
                  <a:pt x="166134" y="151251"/>
                  <a:pt x="166134" y="132907"/>
                </a:cubicBezTo>
                <a:lnTo>
                  <a:pt x="166134" y="92550"/>
                </a:lnTo>
                <a:lnTo>
                  <a:pt x="116674" y="112936"/>
                </a:lnTo>
                <a:cubicBezTo>
                  <a:pt x="111275" y="115151"/>
                  <a:pt x="105530" y="116294"/>
                  <a:pt x="99680" y="116294"/>
                </a:cubicBezTo>
                <a:cubicBezTo>
                  <a:pt x="93831" y="116294"/>
                  <a:pt x="88085" y="115151"/>
                  <a:pt x="82686" y="112936"/>
                </a:cubicBezTo>
                <a:lnTo>
                  <a:pt x="33227" y="925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1080977" y="1488558"/>
            <a:ext cx="1541721" cy="248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5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SOC Training Labs</a:t>
            </a:r>
            <a:endParaRPr b="0" i="0" sz="1600" u="none" cap="none" strike="noStrike"/>
          </a:p>
        </p:txBody>
      </p:sp>
      <p:sp>
        <p:nvSpPr>
          <p:cNvPr id="422" name="Google Shape;422;p13"/>
          <p:cNvSpPr/>
          <p:nvPr/>
        </p:nvSpPr>
        <p:spPr>
          <a:xfrm>
            <a:off x="549349" y="1967023"/>
            <a:ext cx="3393558" cy="770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Hands-on experience with real-time dashboards, alert correlation, and incident response workflows.</a:t>
            </a:r>
            <a:endParaRPr b="0" i="0" sz="1600" u="none" cap="none" strike="noStrike"/>
          </a:p>
        </p:txBody>
      </p:sp>
      <p:sp>
        <p:nvSpPr>
          <p:cNvPr id="423" name="Google Shape;423;p13"/>
          <p:cNvSpPr/>
          <p:nvPr/>
        </p:nvSpPr>
        <p:spPr>
          <a:xfrm>
            <a:off x="549349" y="2877159"/>
            <a:ext cx="3322674" cy="956930"/>
          </a:xfrm>
          <a:custGeom>
            <a:rect b="b" l="l" r="r" t="t"/>
            <a:pathLst>
              <a:path extrusionOk="0" h="956930" w="3322674">
                <a:moveTo>
                  <a:pt x="70880" y="0"/>
                </a:moveTo>
                <a:lnTo>
                  <a:pt x="3251795" y="0"/>
                </a:lnTo>
                <a:cubicBezTo>
                  <a:pt x="3290940" y="0"/>
                  <a:pt x="3322674" y="31734"/>
                  <a:pt x="3322674" y="70880"/>
                </a:cubicBezTo>
                <a:lnTo>
                  <a:pt x="3322674" y="886050"/>
                </a:lnTo>
                <a:cubicBezTo>
                  <a:pt x="3322674" y="925196"/>
                  <a:pt x="3290940" y="956930"/>
                  <a:pt x="3251795" y="956930"/>
                </a:cubicBezTo>
                <a:lnTo>
                  <a:pt x="70880" y="956930"/>
                </a:lnTo>
                <a:cubicBezTo>
                  <a:pt x="31760" y="956930"/>
                  <a:pt x="0" y="925170"/>
                  <a:pt x="0" y="886050"/>
                </a:cubicBezTo>
                <a:lnTo>
                  <a:pt x="0" y="70880"/>
                </a:lnTo>
                <a:cubicBezTo>
                  <a:pt x="0" y="31734"/>
                  <a:pt x="31734" y="0"/>
                  <a:pt x="7088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655674" y="3001206"/>
            <a:ext cx="712575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7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Simulations:</a:t>
            </a:r>
            <a:endParaRPr b="0" i="0" sz="1600" u="none" cap="none" strike="noStrike"/>
          </a:p>
        </p:txBody>
      </p:sp>
      <p:sp>
        <p:nvSpPr>
          <p:cNvPr id="425" name="Google Shape;425;p13"/>
          <p:cNvSpPr/>
          <p:nvPr/>
        </p:nvSpPr>
        <p:spPr>
          <a:xfrm>
            <a:off x="655674" y="3231578"/>
            <a:ext cx="3163186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Port scanning detection</a:t>
            </a:r>
            <a:endParaRPr b="0" i="0" sz="1600" u="none" cap="none" strike="noStrike"/>
          </a:p>
        </p:txBody>
      </p:sp>
      <p:sp>
        <p:nvSpPr>
          <p:cNvPr id="426" name="Google Shape;426;p13"/>
          <p:cNvSpPr/>
          <p:nvPr/>
        </p:nvSpPr>
        <p:spPr>
          <a:xfrm>
            <a:off x="655674" y="3408787"/>
            <a:ext cx="3163186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Web attack scenarios</a:t>
            </a:r>
            <a:endParaRPr b="0" i="0" sz="1600" u="none" cap="none" strike="noStrike"/>
          </a:p>
        </p:txBody>
      </p:sp>
      <p:sp>
        <p:nvSpPr>
          <p:cNvPr id="427" name="Google Shape;427;p13"/>
          <p:cNvSpPr/>
          <p:nvPr/>
        </p:nvSpPr>
        <p:spPr>
          <a:xfrm>
            <a:off x="655674" y="3585996"/>
            <a:ext cx="3163186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DoS mitigation exercises</a:t>
            </a:r>
            <a:endParaRPr b="0" i="0" sz="1600" u="none" cap="none" strike="noStrike"/>
          </a:p>
        </p:txBody>
      </p:sp>
      <p:sp>
        <p:nvSpPr>
          <p:cNvPr id="428" name="Google Shape;428;p13"/>
          <p:cNvSpPr/>
          <p:nvPr/>
        </p:nvSpPr>
        <p:spPr>
          <a:xfrm>
            <a:off x="4249977" y="1213884"/>
            <a:ext cx="3694814" cy="2808767"/>
          </a:xfrm>
          <a:custGeom>
            <a:rect b="b" l="l" r="r" t="t"/>
            <a:pathLst>
              <a:path extrusionOk="0" h="2808767" w="3694814">
                <a:moveTo>
                  <a:pt x="70893" y="0"/>
                </a:moveTo>
                <a:lnTo>
                  <a:pt x="3623921" y="0"/>
                </a:lnTo>
                <a:cubicBezTo>
                  <a:pt x="3663074" y="0"/>
                  <a:pt x="3694814" y="31740"/>
                  <a:pt x="3694814" y="70893"/>
                </a:cubicBezTo>
                <a:lnTo>
                  <a:pt x="3694814" y="2737874"/>
                </a:lnTo>
                <a:cubicBezTo>
                  <a:pt x="3694814" y="2777027"/>
                  <a:pt x="3663074" y="2808767"/>
                  <a:pt x="3623921" y="2808767"/>
                </a:cubicBezTo>
                <a:lnTo>
                  <a:pt x="70893" y="2808767"/>
                </a:lnTo>
                <a:cubicBezTo>
                  <a:pt x="31740" y="2808767"/>
                  <a:pt x="0" y="2777027"/>
                  <a:pt x="0" y="2737874"/>
                </a:cubicBezTo>
                <a:lnTo>
                  <a:pt x="0" y="70893"/>
                </a:lnTo>
                <a:cubicBezTo>
                  <a:pt x="0" y="31740"/>
                  <a:pt x="31740" y="0"/>
                  <a:pt x="70893" y="0"/>
                </a:cubicBezTo>
                <a:close/>
              </a:path>
            </a:pathLst>
          </a:custGeom>
          <a:solidFill>
            <a:srgbClr val="5F6B7A">
              <a:alpha val="14901"/>
            </a:srgbClr>
          </a:solidFill>
          <a:ln cap="flat" cmpd="sng" w="25400">
            <a:solidFill>
              <a:srgbClr val="5F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4436047" y="1399953"/>
            <a:ext cx="425302" cy="425302"/>
          </a:xfrm>
          <a:custGeom>
            <a:rect b="b" l="l" r="r" t="t"/>
            <a:pathLst>
              <a:path extrusionOk="0" h="425302" w="425302">
                <a:moveTo>
                  <a:pt x="70885" y="0"/>
                </a:moveTo>
                <a:lnTo>
                  <a:pt x="354417" y="0"/>
                </a:lnTo>
                <a:cubicBezTo>
                  <a:pt x="393566" y="0"/>
                  <a:pt x="425302" y="31736"/>
                  <a:pt x="425302" y="70885"/>
                </a:cubicBezTo>
                <a:lnTo>
                  <a:pt x="425302" y="354417"/>
                </a:lnTo>
                <a:cubicBezTo>
                  <a:pt x="425302" y="393566"/>
                  <a:pt x="393566" y="425302"/>
                  <a:pt x="354417" y="425302"/>
                </a:cubicBezTo>
                <a:lnTo>
                  <a:pt x="70885" y="425302"/>
                </a:lnTo>
                <a:cubicBezTo>
                  <a:pt x="31736" y="425302"/>
                  <a:pt x="0" y="393566"/>
                  <a:pt x="0" y="354417"/>
                </a:cubicBezTo>
                <a:lnTo>
                  <a:pt x="0" y="70885"/>
                </a:lnTo>
                <a:cubicBezTo>
                  <a:pt x="0" y="31736"/>
                  <a:pt x="31736" y="0"/>
                  <a:pt x="70885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3"/>
          <p:cNvSpPr/>
          <p:nvPr/>
        </p:nvSpPr>
        <p:spPr>
          <a:xfrm>
            <a:off x="4549018" y="1524000"/>
            <a:ext cx="199360" cy="177209"/>
          </a:xfrm>
          <a:custGeom>
            <a:rect b="b" l="l" r="r" t="t"/>
            <a:pathLst>
              <a:path extrusionOk="0" h="177209" w="199360">
                <a:moveTo>
                  <a:pt x="99680" y="11076"/>
                </a:moveTo>
                <a:cubicBezTo>
                  <a:pt x="71714" y="11076"/>
                  <a:pt x="49321" y="23812"/>
                  <a:pt x="33019" y="38972"/>
                </a:cubicBezTo>
                <a:cubicBezTo>
                  <a:pt x="16821" y="54028"/>
                  <a:pt x="5988" y="71991"/>
                  <a:pt x="831" y="84347"/>
                </a:cubicBezTo>
                <a:cubicBezTo>
                  <a:pt x="-312" y="87082"/>
                  <a:pt x="-312" y="90128"/>
                  <a:pt x="831" y="92862"/>
                </a:cubicBezTo>
                <a:cubicBezTo>
                  <a:pt x="5988" y="105218"/>
                  <a:pt x="16821" y="123216"/>
                  <a:pt x="33019" y="138237"/>
                </a:cubicBezTo>
                <a:cubicBezTo>
                  <a:pt x="49321" y="153362"/>
                  <a:pt x="71714" y="166134"/>
                  <a:pt x="99680" y="166134"/>
                </a:cubicBezTo>
                <a:cubicBezTo>
                  <a:pt x="127646" y="166134"/>
                  <a:pt x="150040" y="153397"/>
                  <a:pt x="166341" y="138237"/>
                </a:cubicBezTo>
                <a:cubicBezTo>
                  <a:pt x="182539" y="123181"/>
                  <a:pt x="193373" y="105218"/>
                  <a:pt x="198530" y="92862"/>
                </a:cubicBezTo>
                <a:cubicBezTo>
                  <a:pt x="199672" y="90128"/>
                  <a:pt x="199672" y="87082"/>
                  <a:pt x="198530" y="84347"/>
                </a:cubicBezTo>
                <a:cubicBezTo>
                  <a:pt x="193373" y="71991"/>
                  <a:pt x="182539" y="53993"/>
                  <a:pt x="166341" y="38972"/>
                </a:cubicBezTo>
                <a:cubicBezTo>
                  <a:pt x="150040" y="23847"/>
                  <a:pt x="127646" y="11076"/>
                  <a:pt x="99680" y="11076"/>
                </a:cubicBezTo>
                <a:close/>
                <a:moveTo>
                  <a:pt x="49840" y="88605"/>
                </a:moveTo>
                <a:cubicBezTo>
                  <a:pt x="49840" y="61097"/>
                  <a:pt x="72173" y="38765"/>
                  <a:pt x="99680" y="38765"/>
                </a:cubicBezTo>
                <a:cubicBezTo>
                  <a:pt x="127188" y="38765"/>
                  <a:pt x="149520" y="61097"/>
                  <a:pt x="149520" y="88605"/>
                </a:cubicBezTo>
                <a:cubicBezTo>
                  <a:pt x="149520" y="116112"/>
                  <a:pt x="127188" y="138445"/>
                  <a:pt x="99680" y="138445"/>
                </a:cubicBezTo>
                <a:cubicBezTo>
                  <a:pt x="72173" y="138445"/>
                  <a:pt x="49840" y="116112"/>
                  <a:pt x="49840" y="88605"/>
                </a:cubicBezTo>
                <a:close/>
                <a:moveTo>
                  <a:pt x="99680" y="66453"/>
                </a:moveTo>
                <a:cubicBezTo>
                  <a:pt x="99680" y="78671"/>
                  <a:pt x="89747" y="88605"/>
                  <a:pt x="77529" y="88605"/>
                </a:cubicBezTo>
                <a:cubicBezTo>
                  <a:pt x="73549" y="88605"/>
                  <a:pt x="69811" y="87566"/>
                  <a:pt x="66557" y="85697"/>
                </a:cubicBezTo>
                <a:cubicBezTo>
                  <a:pt x="66211" y="89470"/>
                  <a:pt x="66523" y="93346"/>
                  <a:pt x="67561" y="97188"/>
                </a:cubicBezTo>
                <a:cubicBezTo>
                  <a:pt x="72303" y="114909"/>
                  <a:pt x="90543" y="125431"/>
                  <a:pt x="108264" y="120689"/>
                </a:cubicBezTo>
                <a:cubicBezTo>
                  <a:pt x="125985" y="115947"/>
                  <a:pt x="136507" y="97707"/>
                  <a:pt x="131765" y="79986"/>
                </a:cubicBezTo>
                <a:cubicBezTo>
                  <a:pt x="127542" y="64169"/>
                  <a:pt x="112556" y="54097"/>
                  <a:pt x="96773" y="55482"/>
                </a:cubicBezTo>
                <a:cubicBezTo>
                  <a:pt x="98607" y="58701"/>
                  <a:pt x="99680" y="62439"/>
                  <a:pt x="99680" y="664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3"/>
          <p:cNvSpPr/>
          <p:nvPr/>
        </p:nvSpPr>
        <p:spPr>
          <a:xfrm>
            <a:off x="4967675" y="1488558"/>
            <a:ext cx="2729023" cy="248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5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Network Defense Demonstrations</a:t>
            </a:r>
            <a:endParaRPr b="0" i="0" sz="1600" u="none" cap="none" strike="noStrike"/>
          </a:p>
        </p:txBody>
      </p:sp>
      <p:sp>
        <p:nvSpPr>
          <p:cNvPr id="432" name="Google Shape;432;p13"/>
          <p:cNvSpPr/>
          <p:nvPr/>
        </p:nvSpPr>
        <p:spPr>
          <a:xfrm>
            <a:off x="4436047" y="1967023"/>
            <a:ext cx="3393558" cy="770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 explanation of security architecture components and their interactions for stakeholders and management.</a:t>
            </a:r>
            <a:endParaRPr b="0" i="0" sz="1600" u="none" cap="none" strike="noStrike"/>
          </a:p>
        </p:txBody>
      </p:sp>
      <p:sp>
        <p:nvSpPr>
          <p:cNvPr id="433" name="Google Shape;433;p13"/>
          <p:cNvSpPr/>
          <p:nvPr/>
        </p:nvSpPr>
        <p:spPr>
          <a:xfrm>
            <a:off x="4436047" y="2877159"/>
            <a:ext cx="3322674" cy="956930"/>
          </a:xfrm>
          <a:custGeom>
            <a:rect b="b" l="l" r="r" t="t"/>
            <a:pathLst>
              <a:path extrusionOk="0" h="956930" w="3322674">
                <a:moveTo>
                  <a:pt x="70880" y="0"/>
                </a:moveTo>
                <a:lnTo>
                  <a:pt x="3251795" y="0"/>
                </a:lnTo>
                <a:cubicBezTo>
                  <a:pt x="3290940" y="0"/>
                  <a:pt x="3322674" y="31734"/>
                  <a:pt x="3322674" y="70880"/>
                </a:cubicBezTo>
                <a:lnTo>
                  <a:pt x="3322674" y="886050"/>
                </a:lnTo>
                <a:cubicBezTo>
                  <a:pt x="3322674" y="925196"/>
                  <a:pt x="3290940" y="956930"/>
                  <a:pt x="3251795" y="956930"/>
                </a:cubicBezTo>
                <a:lnTo>
                  <a:pt x="70880" y="956930"/>
                </a:lnTo>
                <a:cubicBezTo>
                  <a:pt x="31760" y="956930"/>
                  <a:pt x="0" y="925170"/>
                  <a:pt x="0" y="886050"/>
                </a:cubicBezTo>
                <a:lnTo>
                  <a:pt x="0" y="70880"/>
                </a:lnTo>
                <a:cubicBezTo>
                  <a:pt x="0" y="31734"/>
                  <a:pt x="31734" y="0"/>
                  <a:pt x="7088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4542373" y="3001206"/>
            <a:ext cx="945716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7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Demonstrations:</a:t>
            </a:r>
            <a:endParaRPr b="0" i="0" sz="1600" u="none" cap="none" strike="noStrike"/>
          </a:p>
        </p:txBody>
      </p:sp>
      <p:sp>
        <p:nvSpPr>
          <p:cNvPr id="435" name="Google Shape;435;p13"/>
          <p:cNvSpPr/>
          <p:nvPr/>
        </p:nvSpPr>
        <p:spPr>
          <a:xfrm>
            <a:off x="4542373" y="3231578"/>
            <a:ext cx="3163186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DMZ architecture concepts</a:t>
            </a:r>
            <a:endParaRPr b="0" i="0" sz="1600" u="none" cap="none" strike="noStrike"/>
          </a:p>
        </p:txBody>
      </p:sp>
      <p:sp>
        <p:nvSpPr>
          <p:cNvPr id="436" name="Google Shape;436;p13"/>
          <p:cNvSpPr/>
          <p:nvPr/>
        </p:nvSpPr>
        <p:spPr>
          <a:xfrm>
            <a:off x="4542373" y="3408787"/>
            <a:ext cx="3163186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Firewall segmentation logic</a:t>
            </a:r>
            <a:endParaRPr b="0" i="0" sz="1600" u="none" cap="none" strike="noStrike"/>
          </a:p>
        </p:txBody>
      </p:sp>
      <p:sp>
        <p:nvSpPr>
          <p:cNvPr id="437" name="Google Shape;437;p13"/>
          <p:cNvSpPr/>
          <p:nvPr/>
        </p:nvSpPr>
        <p:spPr>
          <a:xfrm>
            <a:off x="4542373" y="3585996"/>
            <a:ext cx="3163186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IDS &amp; SIEM integration</a:t>
            </a:r>
            <a:endParaRPr b="0" i="0" sz="1600" u="none" cap="none" strike="noStrike"/>
          </a:p>
        </p:txBody>
      </p:sp>
      <p:sp>
        <p:nvSpPr>
          <p:cNvPr id="438" name="Google Shape;438;p13"/>
          <p:cNvSpPr/>
          <p:nvPr/>
        </p:nvSpPr>
        <p:spPr>
          <a:xfrm>
            <a:off x="8136814" y="1213884"/>
            <a:ext cx="3694814" cy="2808767"/>
          </a:xfrm>
          <a:custGeom>
            <a:rect b="b" l="l" r="r" t="t"/>
            <a:pathLst>
              <a:path extrusionOk="0" h="2808767" w="3694814">
                <a:moveTo>
                  <a:pt x="70893" y="0"/>
                </a:moveTo>
                <a:lnTo>
                  <a:pt x="3623921" y="0"/>
                </a:lnTo>
                <a:cubicBezTo>
                  <a:pt x="3663074" y="0"/>
                  <a:pt x="3694814" y="31740"/>
                  <a:pt x="3694814" y="70893"/>
                </a:cubicBezTo>
                <a:lnTo>
                  <a:pt x="3694814" y="2737874"/>
                </a:lnTo>
                <a:cubicBezTo>
                  <a:pt x="3694814" y="2777027"/>
                  <a:pt x="3663074" y="2808767"/>
                  <a:pt x="3623921" y="2808767"/>
                </a:cubicBezTo>
                <a:lnTo>
                  <a:pt x="70893" y="2808767"/>
                </a:lnTo>
                <a:cubicBezTo>
                  <a:pt x="31740" y="2808767"/>
                  <a:pt x="0" y="2777027"/>
                  <a:pt x="0" y="2737874"/>
                </a:cubicBezTo>
                <a:lnTo>
                  <a:pt x="0" y="70893"/>
                </a:lnTo>
                <a:cubicBezTo>
                  <a:pt x="0" y="31740"/>
                  <a:pt x="31740" y="0"/>
                  <a:pt x="70893" y="0"/>
                </a:cubicBezTo>
                <a:close/>
              </a:path>
            </a:pathLst>
          </a:custGeom>
          <a:solidFill>
            <a:srgbClr val="C9A86A">
              <a:alpha val="14901"/>
            </a:srgbClr>
          </a:solidFill>
          <a:ln cap="flat" cmpd="sng" w="25400">
            <a:solidFill>
              <a:srgbClr val="C9A8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8322884" y="1399953"/>
            <a:ext cx="425302" cy="425302"/>
          </a:xfrm>
          <a:custGeom>
            <a:rect b="b" l="l" r="r" t="t"/>
            <a:pathLst>
              <a:path extrusionOk="0" h="425302" w="425302">
                <a:moveTo>
                  <a:pt x="70885" y="0"/>
                </a:moveTo>
                <a:lnTo>
                  <a:pt x="354417" y="0"/>
                </a:lnTo>
                <a:cubicBezTo>
                  <a:pt x="393566" y="0"/>
                  <a:pt x="425302" y="31736"/>
                  <a:pt x="425302" y="70885"/>
                </a:cubicBezTo>
                <a:lnTo>
                  <a:pt x="425302" y="354417"/>
                </a:lnTo>
                <a:cubicBezTo>
                  <a:pt x="425302" y="393566"/>
                  <a:pt x="393566" y="425302"/>
                  <a:pt x="354417" y="425302"/>
                </a:cubicBezTo>
                <a:lnTo>
                  <a:pt x="70885" y="425302"/>
                </a:lnTo>
                <a:cubicBezTo>
                  <a:pt x="31736" y="425302"/>
                  <a:pt x="0" y="393566"/>
                  <a:pt x="0" y="354417"/>
                </a:cubicBezTo>
                <a:lnTo>
                  <a:pt x="0" y="70885"/>
                </a:lnTo>
                <a:cubicBezTo>
                  <a:pt x="0" y="31736"/>
                  <a:pt x="31736" y="0"/>
                  <a:pt x="70885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8446931" y="1524000"/>
            <a:ext cx="177209" cy="177209"/>
          </a:xfrm>
          <a:custGeom>
            <a:rect b="b" l="l" r="r" t="t"/>
            <a:pathLst>
              <a:path extrusionOk="0" h="177209" w="177209">
                <a:moveTo>
                  <a:pt x="22151" y="22151"/>
                </a:moveTo>
                <a:cubicBezTo>
                  <a:pt x="9933" y="22151"/>
                  <a:pt x="0" y="32085"/>
                  <a:pt x="0" y="44302"/>
                </a:cubicBezTo>
                <a:lnTo>
                  <a:pt x="0" y="132907"/>
                </a:lnTo>
                <a:cubicBezTo>
                  <a:pt x="0" y="145125"/>
                  <a:pt x="9933" y="155058"/>
                  <a:pt x="22151" y="155058"/>
                </a:cubicBezTo>
                <a:lnTo>
                  <a:pt x="27689" y="155058"/>
                </a:lnTo>
                <a:lnTo>
                  <a:pt x="27689" y="22151"/>
                </a:lnTo>
                <a:lnTo>
                  <a:pt x="22151" y="22151"/>
                </a:lnTo>
                <a:close/>
                <a:moveTo>
                  <a:pt x="44302" y="22151"/>
                </a:moveTo>
                <a:lnTo>
                  <a:pt x="44302" y="155058"/>
                </a:lnTo>
                <a:lnTo>
                  <a:pt x="132907" y="155058"/>
                </a:lnTo>
                <a:lnTo>
                  <a:pt x="132907" y="22151"/>
                </a:lnTo>
                <a:lnTo>
                  <a:pt x="44302" y="22151"/>
                </a:lnTo>
                <a:close/>
                <a:moveTo>
                  <a:pt x="155058" y="155058"/>
                </a:moveTo>
                <a:cubicBezTo>
                  <a:pt x="167276" y="155058"/>
                  <a:pt x="177209" y="145125"/>
                  <a:pt x="177209" y="132907"/>
                </a:cubicBezTo>
                <a:lnTo>
                  <a:pt x="177209" y="44302"/>
                </a:lnTo>
                <a:cubicBezTo>
                  <a:pt x="177209" y="32085"/>
                  <a:pt x="167276" y="22151"/>
                  <a:pt x="155058" y="22151"/>
                </a:cubicBezTo>
                <a:lnTo>
                  <a:pt x="149520" y="22151"/>
                </a:lnTo>
                <a:lnTo>
                  <a:pt x="149520" y="155058"/>
                </a:lnTo>
                <a:lnTo>
                  <a:pt x="155058" y="155058"/>
                </a:lnTo>
                <a:close/>
                <a:moveTo>
                  <a:pt x="77529" y="63685"/>
                </a:moveTo>
                <a:cubicBezTo>
                  <a:pt x="77529" y="60639"/>
                  <a:pt x="80021" y="58147"/>
                  <a:pt x="83067" y="58147"/>
                </a:cubicBezTo>
                <a:lnTo>
                  <a:pt x="94142" y="58147"/>
                </a:lnTo>
                <a:cubicBezTo>
                  <a:pt x="97188" y="58147"/>
                  <a:pt x="99680" y="60639"/>
                  <a:pt x="99680" y="63685"/>
                </a:cubicBezTo>
                <a:lnTo>
                  <a:pt x="99680" y="77529"/>
                </a:lnTo>
                <a:lnTo>
                  <a:pt x="113525" y="77529"/>
                </a:lnTo>
                <a:cubicBezTo>
                  <a:pt x="116570" y="77529"/>
                  <a:pt x="119063" y="80021"/>
                  <a:pt x="119063" y="83067"/>
                </a:cubicBezTo>
                <a:lnTo>
                  <a:pt x="119063" y="94142"/>
                </a:lnTo>
                <a:cubicBezTo>
                  <a:pt x="119063" y="97188"/>
                  <a:pt x="116570" y="99680"/>
                  <a:pt x="113525" y="99680"/>
                </a:cubicBezTo>
                <a:lnTo>
                  <a:pt x="99680" y="99680"/>
                </a:lnTo>
                <a:lnTo>
                  <a:pt x="99680" y="113525"/>
                </a:lnTo>
                <a:cubicBezTo>
                  <a:pt x="99680" y="116570"/>
                  <a:pt x="97188" y="119063"/>
                  <a:pt x="94142" y="119063"/>
                </a:cubicBezTo>
                <a:lnTo>
                  <a:pt x="83067" y="119063"/>
                </a:lnTo>
                <a:cubicBezTo>
                  <a:pt x="80021" y="119063"/>
                  <a:pt x="77529" y="116570"/>
                  <a:pt x="77529" y="113525"/>
                </a:cubicBezTo>
                <a:lnTo>
                  <a:pt x="77529" y="99680"/>
                </a:lnTo>
                <a:lnTo>
                  <a:pt x="63685" y="99680"/>
                </a:lnTo>
                <a:cubicBezTo>
                  <a:pt x="60639" y="99680"/>
                  <a:pt x="58147" y="97188"/>
                  <a:pt x="58147" y="94142"/>
                </a:cubicBezTo>
                <a:lnTo>
                  <a:pt x="58147" y="83067"/>
                </a:lnTo>
                <a:cubicBezTo>
                  <a:pt x="58147" y="80021"/>
                  <a:pt x="60639" y="77529"/>
                  <a:pt x="63685" y="77529"/>
                </a:cubicBezTo>
                <a:lnTo>
                  <a:pt x="77529" y="77529"/>
                </a:lnTo>
                <a:lnTo>
                  <a:pt x="77529" y="636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3"/>
          <p:cNvSpPr/>
          <p:nvPr/>
        </p:nvSpPr>
        <p:spPr>
          <a:xfrm>
            <a:off x="8854512" y="1488558"/>
            <a:ext cx="2312581" cy="248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5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Incident Response Exercises</a:t>
            </a:r>
            <a:endParaRPr b="0" i="0" sz="1600" u="none" cap="none" strike="noStrike"/>
          </a:p>
        </p:txBody>
      </p:sp>
      <p:sp>
        <p:nvSpPr>
          <p:cNvPr id="442" name="Google Shape;442;p13"/>
          <p:cNvSpPr/>
          <p:nvPr/>
        </p:nvSpPr>
        <p:spPr>
          <a:xfrm>
            <a:off x="8322884" y="1967023"/>
            <a:ext cx="3393558" cy="770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Practice detection, containment, forensic analysis, and recovery procedures in a controlled environment.</a:t>
            </a:r>
            <a:endParaRPr b="0" i="0" sz="1600" u="none" cap="none" strike="noStrike"/>
          </a:p>
        </p:txBody>
      </p:sp>
      <p:sp>
        <p:nvSpPr>
          <p:cNvPr id="443" name="Google Shape;443;p13"/>
          <p:cNvSpPr/>
          <p:nvPr/>
        </p:nvSpPr>
        <p:spPr>
          <a:xfrm>
            <a:off x="8322884" y="2877159"/>
            <a:ext cx="3322674" cy="956930"/>
          </a:xfrm>
          <a:custGeom>
            <a:rect b="b" l="l" r="r" t="t"/>
            <a:pathLst>
              <a:path extrusionOk="0" h="956930" w="3322674">
                <a:moveTo>
                  <a:pt x="70880" y="0"/>
                </a:moveTo>
                <a:lnTo>
                  <a:pt x="3251795" y="0"/>
                </a:lnTo>
                <a:cubicBezTo>
                  <a:pt x="3290940" y="0"/>
                  <a:pt x="3322674" y="31734"/>
                  <a:pt x="3322674" y="70880"/>
                </a:cubicBezTo>
                <a:lnTo>
                  <a:pt x="3322674" y="886050"/>
                </a:lnTo>
                <a:cubicBezTo>
                  <a:pt x="3322674" y="925196"/>
                  <a:pt x="3290940" y="956930"/>
                  <a:pt x="3251795" y="956930"/>
                </a:cubicBezTo>
                <a:lnTo>
                  <a:pt x="70880" y="956930"/>
                </a:lnTo>
                <a:cubicBezTo>
                  <a:pt x="31760" y="956930"/>
                  <a:pt x="0" y="925170"/>
                  <a:pt x="0" y="886050"/>
                </a:cubicBezTo>
                <a:lnTo>
                  <a:pt x="0" y="70880"/>
                </a:lnTo>
                <a:cubicBezTo>
                  <a:pt x="0" y="31734"/>
                  <a:pt x="31734" y="0"/>
                  <a:pt x="7088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8429210" y="3001206"/>
            <a:ext cx="578976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7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Activities:</a:t>
            </a:r>
            <a:endParaRPr b="0" i="0" sz="1600" u="none" cap="none" strike="noStrike"/>
          </a:p>
        </p:txBody>
      </p:sp>
      <p:sp>
        <p:nvSpPr>
          <p:cNvPr id="445" name="Google Shape;445;p13"/>
          <p:cNvSpPr/>
          <p:nvPr/>
        </p:nvSpPr>
        <p:spPr>
          <a:xfrm>
            <a:off x="8429210" y="3231578"/>
            <a:ext cx="3163186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Packet capture analysis</a:t>
            </a:r>
            <a:endParaRPr b="0" i="0" sz="1600" u="none" cap="none" strike="noStrike"/>
          </a:p>
        </p:txBody>
      </p:sp>
      <p:sp>
        <p:nvSpPr>
          <p:cNvPr id="446" name="Google Shape;446;p13"/>
          <p:cNvSpPr/>
          <p:nvPr/>
        </p:nvSpPr>
        <p:spPr>
          <a:xfrm>
            <a:off x="8429210" y="3408787"/>
            <a:ext cx="3163186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SIEM alert correlation</a:t>
            </a:r>
            <a:endParaRPr b="0" i="0" sz="1600" u="none" cap="none" strike="noStrike"/>
          </a:p>
        </p:txBody>
      </p:sp>
      <p:sp>
        <p:nvSpPr>
          <p:cNvPr id="447" name="Google Shape;447;p13"/>
          <p:cNvSpPr/>
          <p:nvPr/>
        </p:nvSpPr>
        <p:spPr>
          <a:xfrm>
            <a:off x="8429210" y="3585996"/>
            <a:ext cx="3163186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Forensic investigation</a:t>
            </a:r>
            <a:endParaRPr b="0" i="0" sz="1600" u="none" cap="none" strike="noStrike"/>
          </a:p>
        </p:txBody>
      </p:sp>
      <p:sp>
        <p:nvSpPr>
          <p:cNvPr id="448" name="Google Shape;448;p13"/>
          <p:cNvSpPr/>
          <p:nvPr/>
        </p:nvSpPr>
        <p:spPr>
          <a:xfrm>
            <a:off x="363279" y="4215089"/>
            <a:ext cx="3694814" cy="2720163"/>
          </a:xfrm>
          <a:custGeom>
            <a:rect b="b" l="l" r="r" t="t"/>
            <a:pathLst>
              <a:path extrusionOk="0" h="2720163" w="3694814">
                <a:moveTo>
                  <a:pt x="70887" y="0"/>
                </a:moveTo>
                <a:lnTo>
                  <a:pt x="3623927" y="0"/>
                </a:lnTo>
                <a:cubicBezTo>
                  <a:pt x="3663077" y="0"/>
                  <a:pt x="3694814" y="31737"/>
                  <a:pt x="3694814" y="70887"/>
                </a:cubicBezTo>
                <a:lnTo>
                  <a:pt x="3694814" y="2649275"/>
                </a:lnTo>
                <a:cubicBezTo>
                  <a:pt x="3694814" y="2688425"/>
                  <a:pt x="3663077" y="2720163"/>
                  <a:pt x="3623927" y="2720163"/>
                </a:cubicBezTo>
                <a:lnTo>
                  <a:pt x="70887" y="2720163"/>
                </a:lnTo>
                <a:cubicBezTo>
                  <a:pt x="31737" y="2720163"/>
                  <a:pt x="0" y="2688425"/>
                  <a:pt x="0" y="2649275"/>
                </a:cubicBezTo>
                <a:lnTo>
                  <a:pt x="0" y="70887"/>
                </a:lnTo>
                <a:cubicBezTo>
                  <a:pt x="0" y="31737"/>
                  <a:pt x="31737" y="0"/>
                  <a:pt x="70887" y="0"/>
                </a:cubicBezTo>
                <a:close/>
              </a:path>
            </a:pathLst>
          </a:custGeom>
          <a:solidFill>
            <a:srgbClr val="4A6D8C">
              <a:alpha val="14901"/>
            </a:srgbClr>
          </a:solidFill>
          <a:ln cap="flat" cmpd="sng" w="25400">
            <a:solidFill>
              <a:srgbClr val="4A6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3"/>
          <p:cNvSpPr/>
          <p:nvPr/>
        </p:nvSpPr>
        <p:spPr>
          <a:xfrm>
            <a:off x="549349" y="4401159"/>
            <a:ext cx="425302" cy="425302"/>
          </a:xfrm>
          <a:custGeom>
            <a:rect b="b" l="l" r="r" t="t"/>
            <a:pathLst>
              <a:path extrusionOk="0" h="425302" w="425302">
                <a:moveTo>
                  <a:pt x="70885" y="0"/>
                </a:moveTo>
                <a:lnTo>
                  <a:pt x="354417" y="0"/>
                </a:lnTo>
                <a:cubicBezTo>
                  <a:pt x="393566" y="0"/>
                  <a:pt x="425302" y="31736"/>
                  <a:pt x="425302" y="70885"/>
                </a:cubicBezTo>
                <a:lnTo>
                  <a:pt x="425302" y="354417"/>
                </a:lnTo>
                <a:cubicBezTo>
                  <a:pt x="425302" y="393566"/>
                  <a:pt x="393566" y="425302"/>
                  <a:pt x="354417" y="425302"/>
                </a:cubicBezTo>
                <a:lnTo>
                  <a:pt x="70885" y="425302"/>
                </a:lnTo>
                <a:cubicBezTo>
                  <a:pt x="31736" y="425302"/>
                  <a:pt x="0" y="393566"/>
                  <a:pt x="0" y="354417"/>
                </a:cubicBezTo>
                <a:lnTo>
                  <a:pt x="0" y="70885"/>
                </a:lnTo>
                <a:cubicBezTo>
                  <a:pt x="0" y="31736"/>
                  <a:pt x="31736" y="0"/>
                  <a:pt x="70885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3"/>
          <p:cNvSpPr/>
          <p:nvPr/>
        </p:nvSpPr>
        <p:spPr>
          <a:xfrm>
            <a:off x="684471" y="4525206"/>
            <a:ext cx="155058" cy="177209"/>
          </a:xfrm>
          <a:custGeom>
            <a:rect b="b" l="l" r="r" t="t"/>
            <a:pathLst>
              <a:path extrusionOk="0" h="177209" w="155058">
                <a:moveTo>
                  <a:pt x="132907" y="177209"/>
                </a:moveTo>
                <a:lnTo>
                  <a:pt x="33227" y="177209"/>
                </a:lnTo>
                <a:cubicBezTo>
                  <a:pt x="14883" y="177209"/>
                  <a:pt x="0" y="162326"/>
                  <a:pt x="0" y="143983"/>
                </a:cubicBezTo>
                <a:lnTo>
                  <a:pt x="0" y="33227"/>
                </a:lnTo>
                <a:cubicBezTo>
                  <a:pt x="0" y="14883"/>
                  <a:pt x="14883" y="0"/>
                  <a:pt x="33227" y="0"/>
                </a:cubicBezTo>
                <a:lnTo>
                  <a:pt x="138445" y="0"/>
                </a:lnTo>
                <a:cubicBezTo>
                  <a:pt x="147617" y="0"/>
                  <a:pt x="155058" y="7441"/>
                  <a:pt x="155058" y="16613"/>
                </a:cubicBezTo>
                <a:lnTo>
                  <a:pt x="155058" y="116294"/>
                </a:lnTo>
                <a:cubicBezTo>
                  <a:pt x="155058" y="123527"/>
                  <a:pt x="150420" y="129688"/>
                  <a:pt x="143983" y="131972"/>
                </a:cubicBezTo>
                <a:lnTo>
                  <a:pt x="143983" y="155058"/>
                </a:lnTo>
                <a:cubicBezTo>
                  <a:pt x="150109" y="155058"/>
                  <a:pt x="155058" y="160008"/>
                  <a:pt x="155058" y="166134"/>
                </a:cubicBezTo>
                <a:cubicBezTo>
                  <a:pt x="155058" y="172260"/>
                  <a:pt x="150109" y="177209"/>
                  <a:pt x="143983" y="177209"/>
                </a:cubicBezTo>
                <a:lnTo>
                  <a:pt x="132907" y="177209"/>
                </a:lnTo>
                <a:close/>
                <a:moveTo>
                  <a:pt x="33227" y="132907"/>
                </a:moveTo>
                <a:cubicBezTo>
                  <a:pt x="27101" y="132907"/>
                  <a:pt x="22151" y="137856"/>
                  <a:pt x="22151" y="143983"/>
                </a:cubicBezTo>
                <a:cubicBezTo>
                  <a:pt x="22151" y="150109"/>
                  <a:pt x="27101" y="155058"/>
                  <a:pt x="33227" y="155058"/>
                </a:cubicBezTo>
                <a:lnTo>
                  <a:pt x="121831" y="155058"/>
                </a:lnTo>
                <a:lnTo>
                  <a:pt x="121831" y="132907"/>
                </a:lnTo>
                <a:lnTo>
                  <a:pt x="33227" y="132907"/>
                </a:lnTo>
                <a:close/>
                <a:moveTo>
                  <a:pt x="44302" y="52609"/>
                </a:moveTo>
                <a:cubicBezTo>
                  <a:pt x="44302" y="57212"/>
                  <a:pt x="48006" y="60916"/>
                  <a:pt x="52609" y="60916"/>
                </a:cubicBezTo>
                <a:lnTo>
                  <a:pt x="113525" y="60916"/>
                </a:lnTo>
                <a:cubicBezTo>
                  <a:pt x="118128" y="60916"/>
                  <a:pt x="121831" y="57212"/>
                  <a:pt x="121831" y="52609"/>
                </a:cubicBezTo>
                <a:cubicBezTo>
                  <a:pt x="121831" y="48006"/>
                  <a:pt x="118128" y="44302"/>
                  <a:pt x="113525" y="44302"/>
                </a:cubicBezTo>
                <a:lnTo>
                  <a:pt x="52609" y="44302"/>
                </a:lnTo>
                <a:cubicBezTo>
                  <a:pt x="48006" y="44302"/>
                  <a:pt x="44302" y="48006"/>
                  <a:pt x="44302" y="52609"/>
                </a:cubicBezTo>
                <a:close/>
                <a:moveTo>
                  <a:pt x="52609" y="77529"/>
                </a:moveTo>
                <a:cubicBezTo>
                  <a:pt x="48006" y="77529"/>
                  <a:pt x="44302" y="81232"/>
                  <a:pt x="44302" y="85836"/>
                </a:cubicBezTo>
                <a:cubicBezTo>
                  <a:pt x="44302" y="90439"/>
                  <a:pt x="48006" y="94142"/>
                  <a:pt x="52609" y="94142"/>
                </a:cubicBezTo>
                <a:lnTo>
                  <a:pt x="113525" y="94142"/>
                </a:lnTo>
                <a:cubicBezTo>
                  <a:pt x="118128" y="94142"/>
                  <a:pt x="121831" y="90439"/>
                  <a:pt x="121831" y="85836"/>
                </a:cubicBezTo>
                <a:cubicBezTo>
                  <a:pt x="121831" y="81232"/>
                  <a:pt x="118128" y="77529"/>
                  <a:pt x="113525" y="77529"/>
                </a:cubicBezTo>
                <a:lnTo>
                  <a:pt x="52609" y="775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3"/>
          <p:cNvSpPr/>
          <p:nvPr/>
        </p:nvSpPr>
        <p:spPr>
          <a:xfrm>
            <a:off x="1080977" y="4489764"/>
            <a:ext cx="2011326" cy="248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5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Cybersecurity Education</a:t>
            </a:r>
            <a:endParaRPr b="0" i="0" sz="1600" u="none" cap="none" strike="noStrike"/>
          </a:p>
        </p:txBody>
      </p:sp>
      <p:sp>
        <p:nvSpPr>
          <p:cNvPr id="452" name="Google Shape;452;p13"/>
          <p:cNvSpPr/>
          <p:nvPr/>
        </p:nvSpPr>
        <p:spPr>
          <a:xfrm>
            <a:off x="549349" y="4968229"/>
            <a:ext cx="3393558" cy="682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Academic and professional training using industry-standard tools like Suricata and Wazuh.</a:t>
            </a:r>
            <a:endParaRPr b="0" i="0" sz="1600" u="none" cap="none" strike="noStrike"/>
          </a:p>
        </p:txBody>
      </p:sp>
      <p:sp>
        <p:nvSpPr>
          <p:cNvPr id="453" name="Google Shape;453;p13"/>
          <p:cNvSpPr/>
          <p:nvPr/>
        </p:nvSpPr>
        <p:spPr>
          <a:xfrm>
            <a:off x="549349" y="5789760"/>
            <a:ext cx="3322674" cy="956930"/>
          </a:xfrm>
          <a:custGeom>
            <a:rect b="b" l="l" r="r" t="t"/>
            <a:pathLst>
              <a:path extrusionOk="0" h="956930" w="3322674">
                <a:moveTo>
                  <a:pt x="70880" y="0"/>
                </a:moveTo>
                <a:lnTo>
                  <a:pt x="3251795" y="0"/>
                </a:lnTo>
                <a:cubicBezTo>
                  <a:pt x="3290940" y="0"/>
                  <a:pt x="3322674" y="31734"/>
                  <a:pt x="3322674" y="70880"/>
                </a:cubicBezTo>
                <a:lnTo>
                  <a:pt x="3322674" y="886050"/>
                </a:lnTo>
                <a:cubicBezTo>
                  <a:pt x="3322674" y="925196"/>
                  <a:pt x="3290940" y="956930"/>
                  <a:pt x="3251795" y="956930"/>
                </a:cubicBezTo>
                <a:lnTo>
                  <a:pt x="70880" y="956930"/>
                </a:lnTo>
                <a:cubicBezTo>
                  <a:pt x="31760" y="956930"/>
                  <a:pt x="0" y="925170"/>
                  <a:pt x="0" y="886050"/>
                </a:cubicBezTo>
                <a:lnTo>
                  <a:pt x="0" y="70880"/>
                </a:lnTo>
                <a:cubicBezTo>
                  <a:pt x="0" y="31734"/>
                  <a:pt x="31734" y="0"/>
                  <a:pt x="7088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3"/>
          <p:cNvSpPr/>
          <p:nvPr/>
        </p:nvSpPr>
        <p:spPr>
          <a:xfrm>
            <a:off x="655674" y="5913807"/>
            <a:ext cx="600020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7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Concepts:</a:t>
            </a:r>
            <a:endParaRPr b="0" i="0" sz="1600" u="none" cap="none" strike="noStrike"/>
          </a:p>
        </p:txBody>
      </p:sp>
      <p:sp>
        <p:nvSpPr>
          <p:cNvPr id="455" name="Google Shape;455;p13"/>
          <p:cNvSpPr/>
          <p:nvPr/>
        </p:nvSpPr>
        <p:spPr>
          <a:xfrm>
            <a:off x="655674" y="6144179"/>
            <a:ext cx="3163186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Defense-in-depth principles</a:t>
            </a:r>
            <a:endParaRPr b="0" i="0" sz="1600" u="none" cap="none" strike="noStrike"/>
          </a:p>
        </p:txBody>
      </p:sp>
      <p:sp>
        <p:nvSpPr>
          <p:cNvPr id="456" name="Google Shape;456;p13"/>
          <p:cNvSpPr/>
          <p:nvPr/>
        </p:nvSpPr>
        <p:spPr>
          <a:xfrm>
            <a:off x="655674" y="6321388"/>
            <a:ext cx="3163186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Network zoning strategies</a:t>
            </a:r>
            <a:endParaRPr b="0" i="0" sz="1600" u="none" cap="none" strike="noStrike"/>
          </a:p>
        </p:txBody>
      </p:sp>
      <p:sp>
        <p:nvSpPr>
          <p:cNvPr id="457" name="Google Shape;457;p13"/>
          <p:cNvSpPr/>
          <p:nvPr/>
        </p:nvSpPr>
        <p:spPr>
          <a:xfrm>
            <a:off x="655674" y="6498597"/>
            <a:ext cx="3163186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Secure design patterns</a:t>
            </a:r>
            <a:endParaRPr b="0" i="0" sz="1600" u="none" cap="none" strike="noStrike"/>
          </a:p>
        </p:txBody>
      </p:sp>
      <p:sp>
        <p:nvSpPr>
          <p:cNvPr id="458" name="Google Shape;458;p13"/>
          <p:cNvSpPr/>
          <p:nvPr/>
        </p:nvSpPr>
        <p:spPr>
          <a:xfrm>
            <a:off x="4249977" y="4215089"/>
            <a:ext cx="7575698" cy="2720163"/>
          </a:xfrm>
          <a:custGeom>
            <a:rect b="b" l="l" r="r" t="t"/>
            <a:pathLst>
              <a:path extrusionOk="0" h="2720163" w="7575698">
                <a:moveTo>
                  <a:pt x="70887" y="0"/>
                </a:moveTo>
                <a:lnTo>
                  <a:pt x="7504810" y="0"/>
                </a:lnTo>
                <a:cubicBezTo>
                  <a:pt x="7543960" y="0"/>
                  <a:pt x="7575698" y="31737"/>
                  <a:pt x="7575698" y="70887"/>
                </a:cubicBezTo>
                <a:lnTo>
                  <a:pt x="7575698" y="2649275"/>
                </a:lnTo>
                <a:cubicBezTo>
                  <a:pt x="7575698" y="2688425"/>
                  <a:pt x="7543960" y="2720163"/>
                  <a:pt x="7504810" y="2720163"/>
                </a:cubicBezTo>
                <a:lnTo>
                  <a:pt x="70887" y="2720163"/>
                </a:lnTo>
                <a:cubicBezTo>
                  <a:pt x="31737" y="2720163"/>
                  <a:pt x="0" y="2688425"/>
                  <a:pt x="0" y="2649275"/>
                </a:cubicBezTo>
                <a:lnTo>
                  <a:pt x="0" y="70887"/>
                </a:lnTo>
                <a:cubicBezTo>
                  <a:pt x="0" y="31737"/>
                  <a:pt x="31737" y="0"/>
                  <a:pt x="70887" y="0"/>
                </a:cubicBezTo>
                <a:close/>
              </a:path>
            </a:pathLst>
          </a:custGeom>
          <a:solidFill>
            <a:srgbClr val="5F6B7A">
              <a:alpha val="14901"/>
            </a:srgbClr>
          </a:solidFill>
          <a:ln cap="flat" cmpd="sng" w="25400">
            <a:solidFill>
              <a:srgbClr val="5F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3"/>
          <p:cNvSpPr/>
          <p:nvPr/>
        </p:nvSpPr>
        <p:spPr>
          <a:xfrm>
            <a:off x="4436047" y="4401159"/>
            <a:ext cx="425302" cy="425302"/>
          </a:xfrm>
          <a:custGeom>
            <a:rect b="b" l="l" r="r" t="t"/>
            <a:pathLst>
              <a:path extrusionOk="0" h="425302" w="425302">
                <a:moveTo>
                  <a:pt x="70885" y="0"/>
                </a:moveTo>
                <a:lnTo>
                  <a:pt x="354417" y="0"/>
                </a:lnTo>
                <a:cubicBezTo>
                  <a:pt x="393566" y="0"/>
                  <a:pt x="425302" y="31736"/>
                  <a:pt x="425302" y="70885"/>
                </a:cubicBezTo>
                <a:lnTo>
                  <a:pt x="425302" y="354417"/>
                </a:lnTo>
                <a:cubicBezTo>
                  <a:pt x="425302" y="393566"/>
                  <a:pt x="393566" y="425302"/>
                  <a:pt x="354417" y="425302"/>
                </a:cubicBezTo>
                <a:lnTo>
                  <a:pt x="70885" y="425302"/>
                </a:lnTo>
                <a:cubicBezTo>
                  <a:pt x="31736" y="425302"/>
                  <a:pt x="0" y="393566"/>
                  <a:pt x="0" y="354417"/>
                </a:cubicBezTo>
                <a:lnTo>
                  <a:pt x="0" y="70885"/>
                </a:lnTo>
                <a:cubicBezTo>
                  <a:pt x="0" y="31736"/>
                  <a:pt x="31736" y="0"/>
                  <a:pt x="70885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3"/>
          <p:cNvSpPr/>
          <p:nvPr/>
        </p:nvSpPr>
        <p:spPr>
          <a:xfrm>
            <a:off x="4549018" y="4525206"/>
            <a:ext cx="199360" cy="177209"/>
          </a:xfrm>
          <a:custGeom>
            <a:rect b="b" l="l" r="r" t="t"/>
            <a:pathLst>
              <a:path extrusionOk="0" h="177209" w="199360">
                <a:moveTo>
                  <a:pt x="77529" y="85836"/>
                </a:moveTo>
                <a:cubicBezTo>
                  <a:pt x="100452" y="85836"/>
                  <a:pt x="119063" y="67225"/>
                  <a:pt x="119063" y="44302"/>
                </a:cubicBezTo>
                <a:cubicBezTo>
                  <a:pt x="119063" y="21379"/>
                  <a:pt x="100452" y="2769"/>
                  <a:pt x="77529" y="2769"/>
                </a:cubicBezTo>
                <a:cubicBezTo>
                  <a:pt x="54606" y="2769"/>
                  <a:pt x="35996" y="21379"/>
                  <a:pt x="35996" y="44302"/>
                </a:cubicBezTo>
                <a:cubicBezTo>
                  <a:pt x="35996" y="67225"/>
                  <a:pt x="54606" y="85836"/>
                  <a:pt x="77529" y="85836"/>
                </a:cubicBezTo>
                <a:close/>
                <a:moveTo>
                  <a:pt x="67250" y="105218"/>
                </a:moveTo>
                <a:cubicBezTo>
                  <a:pt x="33158" y="105218"/>
                  <a:pt x="5538" y="132838"/>
                  <a:pt x="5538" y="166930"/>
                </a:cubicBezTo>
                <a:cubicBezTo>
                  <a:pt x="5538" y="172606"/>
                  <a:pt x="10141" y="177209"/>
                  <a:pt x="15817" y="177209"/>
                </a:cubicBezTo>
                <a:lnTo>
                  <a:pt x="102864" y="177209"/>
                </a:lnTo>
                <a:cubicBezTo>
                  <a:pt x="90335" y="162465"/>
                  <a:pt x="83067" y="143463"/>
                  <a:pt x="83067" y="123354"/>
                </a:cubicBezTo>
                <a:lnTo>
                  <a:pt x="83067" y="112590"/>
                </a:lnTo>
                <a:cubicBezTo>
                  <a:pt x="83067" y="110064"/>
                  <a:pt x="83413" y="107572"/>
                  <a:pt x="84071" y="105218"/>
                </a:cubicBezTo>
                <a:lnTo>
                  <a:pt x="67250" y="105218"/>
                </a:lnTo>
                <a:close/>
                <a:moveTo>
                  <a:pt x="154124" y="169076"/>
                </a:moveTo>
                <a:lnTo>
                  <a:pt x="149520" y="171256"/>
                </a:lnTo>
                <a:lnTo>
                  <a:pt x="149520" y="106153"/>
                </a:lnTo>
                <a:lnTo>
                  <a:pt x="182747" y="117228"/>
                </a:lnTo>
                <a:lnTo>
                  <a:pt x="182747" y="124012"/>
                </a:lnTo>
                <a:cubicBezTo>
                  <a:pt x="182747" y="143325"/>
                  <a:pt x="171602" y="160873"/>
                  <a:pt x="154124" y="169110"/>
                </a:cubicBezTo>
                <a:close/>
                <a:moveTo>
                  <a:pt x="146025" y="89816"/>
                </a:moveTo>
                <a:lnTo>
                  <a:pt x="107260" y="102726"/>
                </a:lnTo>
                <a:cubicBezTo>
                  <a:pt x="102726" y="104249"/>
                  <a:pt x="99680" y="108471"/>
                  <a:pt x="99680" y="113248"/>
                </a:cubicBezTo>
                <a:lnTo>
                  <a:pt x="99680" y="124012"/>
                </a:lnTo>
                <a:cubicBezTo>
                  <a:pt x="99680" y="149763"/>
                  <a:pt x="114563" y="173194"/>
                  <a:pt x="137822" y="184132"/>
                </a:cubicBezTo>
                <a:lnTo>
                  <a:pt x="144225" y="187143"/>
                </a:lnTo>
                <a:cubicBezTo>
                  <a:pt x="145886" y="187904"/>
                  <a:pt x="147686" y="188319"/>
                  <a:pt x="149486" y="188319"/>
                </a:cubicBezTo>
                <a:cubicBezTo>
                  <a:pt x="151286" y="188319"/>
                  <a:pt x="153120" y="187904"/>
                  <a:pt x="154747" y="187143"/>
                </a:cubicBezTo>
                <a:lnTo>
                  <a:pt x="161150" y="184132"/>
                </a:lnTo>
                <a:cubicBezTo>
                  <a:pt x="184478" y="173160"/>
                  <a:pt x="199360" y="149728"/>
                  <a:pt x="199360" y="123977"/>
                </a:cubicBezTo>
                <a:lnTo>
                  <a:pt x="199360" y="113213"/>
                </a:lnTo>
                <a:cubicBezTo>
                  <a:pt x="199360" y="108437"/>
                  <a:pt x="196315" y="104214"/>
                  <a:pt x="191781" y="102691"/>
                </a:cubicBezTo>
                <a:lnTo>
                  <a:pt x="153016" y="89781"/>
                </a:lnTo>
                <a:cubicBezTo>
                  <a:pt x="150732" y="89020"/>
                  <a:pt x="148274" y="89020"/>
                  <a:pt x="146025" y="897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3"/>
          <p:cNvSpPr/>
          <p:nvPr/>
        </p:nvSpPr>
        <p:spPr>
          <a:xfrm>
            <a:off x="4967675" y="4489764"/>
            <a:ext cx="2587256" cy="248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95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Blue Team &amp; Compliance Audits</a:t>
            </a:r>
            <a:endParaRPr b="0" i="0" sz="1600" u="none" cap="none" strike="noStrike"/>
          </a:p>
        </p:txBody>
      </p:sp>
      <p:sp>
        <p:nvSpPr>
          <p:cNvPr id="462" name="Google Shape;462;p13"/>
          <p:cNvSpPr/>
          <p:nvPr/>
        </p:nvSpPr>
        <p:spPr>
          <a:xfrm>
            <a:off x="4436047" y="4968229"/>
            <a:ext cx="3606209" cy="460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Evaluate detection coverage using frameworks like </a:t>
            </a:r>
            <a:r>
              <a:rPr b="1" i="0" lang="en-US" sz="1116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MITRE ATT&amp;CK</a:t>
            </a:r>
            <a:r>
              <a:rPr b="0" i="0" lang="en-US" sz="111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validate security posture.</a:t>
            </a:r>
            <a:endParaRPr b="0" i="0" sz="1600" u="none" cap="none" strike="noStrike"/>
          </a:p>
        </p:txBody>
      </p:sp>
      <p:sp>
        <p:nvSpPr>
          <p:cNvPr id="463" name="Google Shape;463;p13"/>
          <p:cNvSpPr/>
          <p:nvPr/>
        </p:nvSpPr>
        <p:spPr>
          <a:xfrm>
            <a:off x="4436047" y="5535299"/>
            <a:ext cx="3535326" cy="1134140"/>
          </a:xfrm>
          <a:custGeom>
            <a:rect b="b" l="l" r="r" t="t"/>
            <a:pathLst>
              <a:path extrusionOk="0" h="1134140" w="3535326">
                <a:moveTo>
                  <a:pt x="70884" y="0"/>
                </a:moveTo>
                <a:lnTo>
                  <a:pt x="3464442" y="0"/>
                </a:lnTo>
                <a:cubicBezTo>
                  <a:pt x="3503590" y="0"/>
                  <a:pt x="3535326" y="31736"/>
                  <a:pt x="3535326" y="70884"/>
                </a:cubicBezTo>
                <a:lnTo>
                  <a:pt x="3535326" y="1063256"/>
                </a:lnTo>
                <a:cubicBezTo>
                  <a:pt x="3535326" y="1102404"/>
                  <a:pt x="3503590" y="1134140"/>
                  <a:pt x="3464442" y="1134140"/>
                </a:cubicBezTo>
                <a:lnTo>
                  <a:pt x="70884" y="1134140"/>
                </a:lnTo>
                <a:cubicBezTo>
                  <a:pt x="31736" y="1134140"/>
                  <a:pt x="0" y="1102404"/>
                  <a:pt x="0" y="1063256"/>
                </a:cubicBezTo>
                <a:lnTo>
                  <a:pt x="0" y="70884"/>
                </a:lnTo>
                <a:cubicBezTo>
                  <a:pt x="0" y="31762"/>
                  <a:pt x="31762" y="0"/>
                  <a:pt x="7088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4542373" y="5659345"/>
            <a:ext cx="1036121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7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Verification Areas:</a:t>
            </a:r>
            <a:endParaRPr b="0" i="0" sz="1600" u="none" cap="none" strike="noStrike"/>
          </a:p>
        </p:txBody>
      </p:sp>
      <p:sp>
        <p:nvSpPr>
          <p:cNvPr id="465" name="Google Shape;465;p13"/>
          <p:cNvSpPr/>
          <p:nvPr/>
        </p:nvSpPr>
        <p:spPr>
          <a:xfrm>
            <a:off x="4542373" y="5889717"/>
            <a:ext cx="3375837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Comprehensive logging</a:t>
            </a:r>
            <a:endParaRPr b="0" i="0" sz="1600" u="none" cap="none" strike="noStrike"/>
          </a:p>
        </p:txBody>
      </p:sp>
      <p:sp>
        <p:nvSpPr>
          <p:cNvPr id="466" name="Google Shape;466;p13"/>
          <p:cNvSpPr/>
          <p:nvPr/>
        </p:nvSpPr>
        <p:spPr>
          <a:xfrm>
            <a:off x="4542373" y="6066927"/>
            <a:ext cx="3375837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Access control effectiveness</a:t>
            </a:r>
            <a:endParaRPr b="0" i="0" sz="1600" u="none" cap="none" strike="noStrike"/>
          </a:p>
        </p:txBody>
      </p:sp>
      <p:sp>
        <p:nvSpPr>
          <p:cNvPr id="467" name="Google Shape;467;p13"/>
          <p:cNvSpPr/>
          <p:nvPr/>
        </p:nvSpPr>
        <p:spPr>
          <a:xfrm>
            <a:off x="4542373" y="6244136"/>
            <a:ext cx="3375837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Encryption implementation</a:t>
            </a:r>
            <a:endParaRPr b="0" i="0" sz="1600" u="none" cap="none" strike="noStrike"/>
          </a:p>
        </p:txBody>
      </p:sp>
      <p:sp>
        <p:nvSpPr>
          <p:cNvPr id="468" name="Google Shape;468;p13"/>
          <p:cNvSpPr/>
          <p:nvPr/>
        </p:nvSpPr>
        <p:spPr>
          <a:xfrm>
            <a:off x="4542373" y="6421345"/>
            <a:ext cx="3375837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Network isolation validation</a:t>
            </a:r>
            <a:endParaRPr b="0" i="0" sz="1600" u="none" cap="none" strike="noStrike"/>
          </a:p>
        </p:txBody>
      </p:sp>
      <p:sp>
        <p:nvSpPr>
          <p:cNvPr id="469" name="Google Shape;469;p13"/>
          <p:cNvSpPr/>
          <p:nvPr/>
        </p:nvSpPr>
        <p:spPr>
          <a:xfrm>
            <a:off x="8110094" y="4968229"/>
            <a:ext cx="3535326" cy="1780953"/>
          </a:xfrm>
          <a:custGeom>
            <a:rect b="b" l="l" r="r" t="t"/>
            <a:pathLst>
              <a:path extrusionOk="0" h="1780953" w="3535326">
                <a:moveTo>
                  <a:pt x="70882" y="0"/>
                </a:moveTo>
                <a:lnTo>
                  <a:pt x="3464444" y="0"/>
                </a:lnTo>
                <a:cubicBezTo>
                  <a:pt x="3503591" y="0"/>
                  <a:pt x="3535326" y="31735"/>
                  <a:pt x="3535326" y="70882"/>
                </a:cubicBezTo>
                <a:lnTo>
                  <a:pt x="3535326" y="1710072"/>
                </a:lnTo>
                <a:cubicBezTo>
                  <a:pt x="3535326" y="1749219"/>
                  <a:pt x="3503591" y="1780953"/>
                  <a:pt x="3464444" y="1780953"/>
                </a:cubicBezTo>
                <a:lnTo>
                  <a:pt x="70882" y="1780953"/>
                </a:lnTo>
                <a:cubicBezTo>
                  <a:pt x="31735" y="1780953"/>
                  <a:pt x="0" y="1749219"/>
                  <a:pt x="0" y="1710072"/>
                </a:cubicBezTo>
                <a:lnTo>
                  <a:pt x="0" y="70882"/>
                </a:lnTo>
                <a:cubicBezTo>
                  <a:pt x="0" y="31761"/>
                  <a:pt x="31761" y="0"/>
                  <a:pt x="7088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3"/>
          <p:cNvSpPr/>
          <p:nvPr/>
        </p:nvSpPr>
        <p:spPr>
          <a:xfrm>
            <a:off x="9756618" y="5148622"/>
            <a:ext cx="239233" cy="318977"/>
          </a:xfrm>
          <a:custGeom>
            <a:rect b="b" l="l" r="r" t="t"/>
            <a:pathLst>
              <a:path extrusionOk="0" h="318977" w="239233">
                <a:moveTo>
                  <a:pt x="194003" y="19936"/>
                </a:moveTo>
                <a:lnTo>
                  <a:pt x="199360" y="19936"/>
                </a:lnTo>
                <a:cubicBezTo>
                  <a:pt x="221352" y="19936"/>
                  <a:pt x="239233" y="37816"/>
                  <a:pt x="239233" y="59808"/>
                </a:cubicBezTo>
                <a:lnTo>
                  <a:pt x="239233" y="279105"/>
                </a:lnTo>
                <a:cubicBezTo>
                  <a:pt x="239233" y="301097"/>
                  <a:pt x="221352" y="318977"/>
                  <a:pt x="199360" y="318977"/>
                </a:cubicBezTo>
                <a:lnTo>
                  <a:pt x="39872" y="318977"/>
                </a:lnTo>
                <a:cubicBezTo>
                  <a:pt x="17880" y="318977"/>
                  <a:pt x="0" y="301097"/>
                  <a:pt x="0" y="279105"/>
                </a:cubicBezTo>
                <a:lnTo>
                  <a:pt x="0" y="59808"/>
                </a:lnTo>
                <a:cubicBezTo>
                  <a:pt x="0" y="37816"/>
                  <a:pt x="17880" y="19936"/>
                  <a:pt x="39872" y="19936"/>
                </a:cubicBezTo>
                <a:lnTo>
                  <a:pt x="45230" y="19936"/>
                </a:lnTo>
                <a:cubicBezTo>
                  <a:pt x="52083" y="8037"/>
                  <a:pt x="64979" y="0"/>
                  <a:pt x="79744" y="0"/>
                </a:cubicBezTo>
                <a:lnTo>
                  <a:pt x="159488" y="0"/>
                </a:lnTo>
                <a:cubicBezTo>
                  <a:pt x="174254" y="0"/>
                  <a:pt x="187150" y="8037"/>
                  <a:pt x="194003" y="19936"/>
                </a:cubicBezTo>
                <a:close/>
                <a:moveTo>
                  <a:pt x="154504" y="69776"/>
                </a:moveTo>
                <a:cubicBezTo>
                  <a:pt x="162790" y="69776"/>
                  <a:pt x="169456" y="63110"/>
                  <a:pt x="169456" y="54824"/>
                </a:cubicBezTo>
                <a:cubicBezTo>
                  <a:pt x="169456" y="46538"/>
                  <a:pt x="162790" y="39872"/>
                  <a:pt x="154504" y="39872"/>
                </a:cubicBezTo>
                <a:lnTo>
                  <a:pt x="84728" y="39872"/>
                </a:lnTo>
                <a:cubicBezTo>
                  <a:pt x="76442" y="39872"/>
                  <a:pt x="69776" y="46538"/>
                  <a:pt x="69776" y="54824"/>
                </a:cubicBezTo>
                <a:cubicBezTo>
                  <a:pt x="69776" y="63110"/>
                  <a:pt x="76442" y="69776"/>
                  <a:pt x="84728" y="69776"/>
                </a:cubicBezTo>
                <a:lnTo>
                  <a:pt x="154504" y="69776"/>
                </a:lnTo>
                <a:close/>
                <a:moveTo>
                  <a:pt x="172198" y="162416"/>
                </a:moveTo>
                <a:cubicBezTo>
                  <a:pt x="176559" y="155439"/>
                  <a:pt x="174440" y="146218"/>
                  <a:pt x="167463" y="141795"/>
                </a:cubicBezTo>
                <a:cubicBezTo>
                  <a:pt x="160485" y="137372"/>
                  <a:pt x="151265" y="139552"/>
                  <a:pt x="146841" y="146530"/>
                </a:cubicBezTo>
                <a:lnTo>
                  <a:pt x="108589" y="207771"/>
                </a:lnTo>
                <a:lnTo>
                  <a:pt x="91768" y="185343"/>
                </a:lnTo>
                <a:cubicBezTo>
                  <a:pt x="86784" y="178739"/>
                  <a:pt x="77439" y="177369"/>
                  <a:pt x="70835" y="182353"/>
                </a:cubicBezTo>
                <a:cubicBezTo>
                  <a:pt x="64231" y="187337"/>
                  <a:pt x="62861" y="196682"/>
                  <a:pt x="67845" y="203285"/>
                </a:cubicBezTo>
                <a:lnTo>
                  <a:pt x="97749" y="243157"/>
                </a:lnTo>
                <a:cubicBezTo>
                  <a:pt x="100677" y="247082"/>
                  <a:pt x="105412" y="249325"/>
                  <a:pt x="110334" y="249138"/>
                </a:cubicBezTo>
                <a:cubicBezTo>
                  <a:pt x="115255" y="248951"/>
                  <a:pt x="119741" y="246335"/>
                  <a:pt x="122357" y="242098"/>
                </a:cubicBezTo>
                <a:lnTo>
                  <a:pt x="172198" y="162354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3"/>
          <p:cNvSpPr/>
          <p:nvPr/>
        </p:nvSpPr>
        <p:spPr>
          <a:xfrm>
            <a:off x="8211990" y="5538483"/>
            <a:ext cx="3331535" cy="248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6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Compliance Ready</a:t>
            </a:r>
            <a:endParaRPr b="0" i="0" sz="1600" u="none" cap="none" strike="noStrike"/>
          </a:p>
        </p:txBody>
      </p:sp>
      <p:sp>
        <p:nvSpPr>
          <p:cNvPr id="472" name="Google Shape;472;p13"/>
          <p:cNvSpPr/>
          <p:nvPr/>
        </p:nvSpPr>
        <p:spPr>
          <a:xfrm>
            <a:off x="8251862" y="5928343"/>
            <a:ext cx="1586023" cy="283535"/>
          </a:xfrm>
          <a:custGeom>
            <a:rect b="b" l="l" r="r" t="t"/>
            <a:pathLst>
              <a:path extrusionOk="0" h="283535" w="1586023">
                <a:moveTo>
                  <a:pt x="35442" y="0"/>
                </a:moveTo>
                <a:lnTo>
                  <a:pt x="1550581" y="0"/>
                </a:lnTo>
                <a:cubicBezTo>
                  <a:pt x="1570155" y="0"/>
                  <a:pt x="1586023" y="15868"/>
                  <a:pt x="1586023" y="35442"/>
                </a:cubicBezTo>
                <a:lnTo>
                  <a:pt x="1586023" y="248093"/>
                </a:lnTo>
                <a:cubicBezTo>
                  <a:pt x="1586023" y="267667"/>
                  <a:pt x="1570155" y="283535"/>
                  <a:pt x="1550581" y="283535"/>
                </a:cubicBezTo>
                <a:lnTo>
                  <a:pt x="35442" y="283535"/>
                </a:lnTo>
                <a:cubicBezTo>
                  <a:pt x="15868" y="283535"/>
                  <a:pt x="0" y="267667"/>
                  <a:pt x="0" y="248093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8296164" y="5999227"/>
            <a:ext cx="1497419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ISO 27001</a:t>
            </a:r>
            <a:endParaRPr b="0" i="0" sz="1600" u="none" cap="none" strike="noStrike"/>
          </a:p>
        </p:txBody>
      </p:sp>
      <p:sp>
        <p:nvSpPr>
          <p:cNvPr id="474" name="Google Shape;474;p13"/>
          <p:cNvSpPr/>
          <p:nvPr/>
        </p:nvSpPr>
        <p:spPr>
          <a:xfrm>
            <a:off x="9911676" y="5928343"/>
            <a:ext cx="1586023" cy="283535"/>
          </a:xfrm>
          <a:custGeom>
            <a:rect b="b" l="l" r="r" t="t"/>
            <a:pathLst>
              <a:path extrusionOk="0" h="283535" w="1586023">
                <a:moveTo>
                  <a:pt x="35442" y="0"/>
                </a:moveTo>
                <a:lnTo>
                  <a:pt x="1550581" y="0"/>
                </a:lnTo>
                <a:cubicBezTo>
                  <a:pt x="1570155" y="0"/>
                  <a:pt x="1586023" y="15868"/>
                  <a:pt x="1586023" y="35442"/>
                </a:cubicBezTo>
                <a:lnTo>
                  <a:pt x="1586023" y="248093"/>
                </a:lnTo>
                <a:cubicBezTo>
                  <a:pt x="1586023" y="267667"/>
                  <a:pt x="1570155" y="283535"/>
                  <a:pt x="1550581" y="283535"/>
                </a:cubicBezTo>
                <a:lnTo>
                  <a:pt x="35442" y="283535"/>
                </a:lnTo>
                <a:cubicBezTo>
                  <a:pt x="15868" y="283535"/>
                  <a:pt x="0" y="267667"/>
                  <a:pt x="0" y="248093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3"/>
          <p:cNvSpPr/>
          <p:nvPr/>
        </p:nvSpPr>
        <p:spPr>
          <a:xfrm>
            <a:off x="9955979" y="5999227"/>
            <a:ext cx="1497419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NIST CSF</a:t>
            </a:r>
            <a:endParaRPr b="0" i="0" sz="1600" u="none" cap="none" strike="noStrike"/>
          </a:p>
        </p:txBody>
      </p:sp>
      <p:sp>
        <p:nvSpPr>
          <p:cNvPr id="476" name="Google Shape;476;p13"/>
          <p:cNvSpPr/>
          <p:nvPr/>
        </p:nvSpPr>
        <p:spPr>
          <a:xfrm>
            <a:off x="8251862" y="6282762"/>
            <a:ext cx="1586023" cy="283535"/>
          </a:xfrm>
          <a:custGeom>
            <a:rect b="b" l="l" r="r" t="t"/>
            <a:pathLst>
              <a:path extrusionOk="0" h="283535" w="1586023">
                <a:moveTo>
                  <a:pt x="35442" y="0"/>
                </a:moveTo>
                <a:lnTo>
                  <a:pt x="1550581" y="0"/>
                </a:lnTo>
                <a:cubicBezTo>
                  <a:pt x="1570155" y="0"/>
                  <a:pt x="1586023" y="15868"/>
                  <a:pt x="1586023" y="35442"/>
                </a:cubicBezTo>
                <a:lnTo>
                  <a:pt x="1586023" y="248093"/>
                </a:lnTo>
                <a:cubicBezTo>
                  <a:pt x="1586023" y="267667"/>
                  <a:pt x="1570155" y="283535"/>
                  <a:pt x="1550581" y="283535"/>
                </a:cubicBezTo>
                <a:lnTo>
                  <a:pt x="35442" y="283535"/>
                </a:lnTo>
                <a:cubicBezTo>
                  <a:pt x="15868" y="283535"/>
                  <a:pt x="0" y="267667"/>
                  <a:pt x="0" y="248093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3"/>
          <p:cNvSpPr/>
          <p:nvPr/>
        </p:nvSpPr>
        <p:spPr>
          <a:xfrm>
            <a:off x="8296164" y="6353646"/>
            <a:ext cx="1497419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PCI DSS</a:t>
            </a:r>
            <a:endParaRPr b="0" i="0" sz="1600" u="none" cap="none" strike="noStrike"/>
          </a:p>
        </p:txBody>
      </p:sp>
      <p:sp>
        <p:nvSpPr>
          <p:cNvPr id="478" name="Google Shape;478;p13"/>
          <p:cNvSpPr/>
          <p:nvPr/>
        </p:nvSpPr>
        <p:spPr>
          <a:xfrm>
            <a:off x="9911676" y="6282762"/>
            <a:ext cx="1586023" cy="283535"/>
          </a:xfrm>
          <a:custGeom>
            <a:rect b="b" l="l" r="r" t="t"/>
            <a:pathLst>
              <a:path extrusionOk="0" h="283535" w="1586023">
                <a:moveTo>
                  <a:pt x="35442" y="0"/>
                </a:moveTo>
                <a:lnTo>
                  <a:pt x="1550581" y="0"/>
                </a:lnTo>
                <a:cubicBezTo>
                  <a:pt x="1570155" y="0"/>
                  <a:pt x="1586023" y="15868"/>
                  <a:pt x="1586023" y="35442"/>
                </a:cubicBezTo>
                <a:lnTo>
                  <a:pt x="1586023" y="248093"/>
                </a:lnTo>
                <a:cubicBezTo>
                  <a:pt x="1586023" y="267667"/>
                  <a:pt x="1570155" y="283535"/>
                  <a:pt x="1550581" y="283535"/>
                </a:cubicBezTo>
                <a:lnTo>
                  <a:pt x="35442" y="283535"/>
                </a:lnTo>
                <a:cubicBezTo>
                  <a:pt x="15868" y="283535"/>
                  <a:pt x="0" y="267667"/>
                  <a:pt x="0" y="248093"/>
                </a:cubicBezTo>
                <a:lnTo>
                  <a:pt x="0" y="35442"/>
                </a:lnTo>
                <a:cubicBezTo>
                  <a:pt x="0" y="15881"/>
                  <a:pt x="15881" y="0"/>
                  <a:pt x="3544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3"/>
          <p:cNvSpPr/>
          <p:nvPr/>
        </p:nvSpPr>
        <p:spPr>
          <a:xfrm>
            <a:off x="9955979" y="6353646"/>
            <a:ext cx="1497419" cy="141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7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SOC 2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4"/>
          <p:cNvSpPr/>
          <p:nvPr/>
        </p:nvSpPr>
        <p:spPr>
          <a:xfrm>
            <a:off x="352625" y="352625"/>
            <a:ext cx="11557275" cy="21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1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Analysis</a:t>
            </a:r>
            <a:endParaRPr b="0" i="0" sz="1600" u="none" cap="none" strike="noStrike"/>
          </a:p>
        </p:txBody>
      </p:sp>
      <p:sp>
        <p:nvSpPr>
          <p:cNvPr id="486" name="Google Shape;486;p14"/>
          <p:cNvSpPr/>
          <p:nvPr/>
        </p:nvSpPr>
        <p:spPr>
          <a:xfrm>
            <a:off x="352625" y="634725"/>
            <a:ext cx="11645432" cy="35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Advantages &amp; Limitations</a:t>
            </a:r>
            <a:endParaRPr b="0" i="0" sz="1600" u="none" cap="none" strike="noStrike"/>
          </a:p>
        </p:txBody>
      </p:sp>
      <p:sp>
        <p:nvSpPr>
          <p:cNvPr id="487" name="Google Shape;487;p14"/>
          <p:cNvSpPr/>
          <p:nvPr/>
        </p:nvSpPr>
        <p:spPr>
          <a:xfrm>
            <a:off x="361440" y="1207740"/>
            <a:ext cx="5624364" cy="5271740"/>
          </a:xfrm>
          <a:custGeom>
            <a:rect b="b" l="l" r="r" t="t"/>
            <a:pathLst>
              <a:path extrusionOk="0" h="5271740" w="5624364">
                <a:moveTo>
                  <a:pt x="70536" y="0"/>
                </a:moveTo>
                <a:lnTo>
                  <a:pt x="5553829" y="0"/>
                </a:lnTo>
                <a:cubicBezTo>
                  <a:pt x="5592784" y="0"/>
                  <a:pt x="5624364" y="31580"/>
                  <a:pt x="5624364" y="70536"/>
                </a:cubicBezTo>
                <a:lnTo>
                  <a:pt x="5624364" y="5201204"/>
                </a:lnTo>
                <a:cubicBezTo>
                  <a:pt x="5624364" y="5240160"/>
                  <a:pt x="5592784" y="5271740"/>
                  <a:pt x="5553829" y="5271740"/>
                </a:cubicBezTo>
                <a:lnTo>
                  <a:pt x="70536" y="5271740"/>
                </a:lnTo>
                <a:cubicBezTo>
                  <a:pt x="31580" y="5271740"/>
                  <a:pt x="0" y="5240160"/>
                  <a:pt x="0" y="5201204"/>
                </a:cubicBezTo>
                <a:lnTo>
                  <a:pt x="0" y="70536"/>
                </a:lnTo>
                <a:cubicBezTo>
                  <a:pt x="0" y="31580"/>
                  <a:pt x="31580" y="0"/>
                  <a:pt x="70536" y="0"/>
                </a:cubicBezTo>
                <a:close/>
              </a:path>
            </a:pathLst>
          </a:custGeom>
          <a:solidFill>
            <a:srgbClr val="4A6D8C">
              <a:alpha val="14901"/>
            </a:srgbClr>
          </a:solidFill>
          <a:ln cap="flat" cmpd="sng" w="25400">
            <a:solidFill>
              <a:srgbClr val="4A6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4"/>
          <p:cNvSpPr/>
          <p:nvPr/>
        </p:nvSpPr>
        <p:spPr>
          <a:xfrm>
            <a:off x="546568" y="1392868"/>
            <a:ext cx="423150" cy="423150"/>
          </a:xfrm>
          <a:custGeom>
            <a:rect b="b" l="l" r="r" t="t"/>
            <a:pathLst>
              <a:path extrusionOk="0" h="423150" w="423150">
                <a:moveTo>
                  <a:pt x="70526" y="0"/>
                </a:moveTo>
                <a:lnTo>
                  <a:pt x="352623" y="0"/>
                </a:lnTo>
                <a:cubicBezTo>
                  <a:pt x="391548" y="0"/>
                  <a:pt x="423150" y="31602"/>
                  <a:pt x="423150" y="70526"/>
                </a:cubicBezTo>
                <a:lnTo>
                  <a:pt x="423150" y="352623"/>
                </a:lnTo>
                <a:cubicBezTo>
                  <a:pt x="423150" y="391574"/>
                  <a:pt x="391574" y="423150"/>
                  <a:pt x="352623" y="423150"/>
                </a:cubicBezTo>
                <a:lnTo>
                  <a:pt x="70526" y="423150"/>
                </a:lnTo>
                <a:cubicBezTo>
                  <a:pt x="31602" y="423150"/>
                  <a:pt x="0" y="391548"/>
                  <a:pt x="0" y="352623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4"/>
          <p:cNvSpPr/>
          <p:nvPr/>
        </p:nvSpPr>
        <p:spPr>
          <a:xfrm>
            <a:off x="669987" y="1516286"/>
            <a:ext cx="176312" cy="176312"/>
          </a:xfrm>
          <a:custGeom>
            <a:rect b="b" l="l" r="r" t="t"/>
            <a:pathLst>
              <a:path extrusionOk="0" h="176312" w="176312">
                <a:moveTo>
                  <a:pt x="88156" y="176312"/>
                </a:moveTo>
                <a:cubicBezTo>
                  <a:pt x="136811" y="176312"/>
                  <a:pt x="176312" y="136811"/>
                  <a:pt x="176312" y="88156"/>
                </a:cubicBezTo>
                <a:cubicBezTo>
                  <a:pt x="176312" y="39501"/>
                  <a:pt x="136811" y="0"/>
                  <a:pt x="88156" y="0"/>
                </a:cubicBezTo>
                <a:cubicBezTo>
                  <a:pt x="39501" y="0"/>
                  <a:pt x="0" y="39501"/>
                  <a:pt x="0" y="88156"/>
                </a:cubicBezTo>
                <a:cubicBezTo>
                  <a:pt x="0" y="136811"/>
                  <a:pt x="39501" y="176312"/>
                  <a:pt x="88156" y="176312"/>
                </a:cubicBezTo>
                <a:close/>
                <a:moveTo>
                  <a:pt x="79892" y="118460"/>
                </a:moveTo>
                <a:lnTo>
                  <a:pt x="79892" y="96421"/>
                </a:lnTo>
                <a:lnTo>
                  <a:pt x="57852" y="96421"/>
                </a:lnTo>
                <a:cubicBezTo>
                  <a:pt x="53273" y="96421"/>
                  <a:pt x="49588" y="92736"/>
                  <a:pt x="49588" y="88156"/>
                </a:cubicBezTo>
                <a:cubicBezTo>
                  <a:pt x="49588" y="83576"/>
                  <a:pt x="53273" y="79892"/>
                  <a:pt x="57852" y="79892"/>
                </a:cubicBezTo>
                <a:lnTo>
                  <a:pt x="79892" y="79892"/>
                </a:lnTo>
                <a:lnTo>
                  <a:pt x="79892" y="57852"/>
                </a:lnTo>
                <a:cubicBezTo>
                  <a:pt x="79892" y="53273"/>
                  <a:pt x="83576" y="49588"/>
                  <a:pt x="88156" y="49588"/>
                </a:cubicBezTo>
                <a:cubicBezTo>
                  <a:pt x="92736" y="49588"/>
                  <a:pt x="96421" y="53273"/>
                  <a:pt x="96421" y="57852"/>
                </a:cubicBezTo>
                <a:lnTo>
                  <a:pt x="96421" y="79892"/>
                </a:lnTo>
                <a:lnTo>
                  <a:pt x="118460" y="79892"/>
                </a:lnTo>
                <a:cubicBezTo>
                  <a:pt x="123040" y="79892"/>
                  <a:pt x="126725" y="83576"/>
                  <a:pt x="126725" y="88156"/>
                </a:cubicBezTo>
                <a:cubicBezTo>
                  <a:pt x="126725" y="92736"/>
                  <a:pt x="123040" y="96421"/>
                  <a:pt x="118460" y="96421"/>
                </a:cubicBezTo>
                <a:lnTo>
                  <a:pt x="96421" y="96421"/>
                </a:lnTo>
                <a:lnTo>
                  <a:pt x="96421" y="118460"/>
                </a:lnTo>
                <a:cubicBezTo>
                  <a:pt x="96421" y="123040"/>
                  <a:pt x="92736" y="126725"/>
                  <a:pt x="88156" y="126725"/>
                </a:cubicBezTo>
                <a:cubicBezTo>
                  <a:pt x="83576" y="126725"/>
                  <a:pt x="79892" y="123040"/>
                  <a:pt x="79892" y="11846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4"/>
          <p:cNvSpPr/>
          <p:nvPr/>
        </p:nvSpPr>
        <p:spPr>
          <a:xfrm>
            <a:off x="1075505" y="1463393"/>
            <a:ext cx="1216555" cy="2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Advantages</a:t>
            </a:r>
            <a:endParaRPr b="0" i="0" sz="1600" u="none" cap="none" strike="noStrike"/>
          </a:p>
        </p:txBody>
      </p:sp>
      <p:sp>
        <p:nvSpPr>
          <p:cNvPr id="491" name="Google Shape;491;p14"/>
          <p:cNvSpPr/>
          <p:nvPr/>
        </p:nvSpPr>
        <p:spPr>
          <a:xfrm>
            <a:off x="564200" y="1957067"/>
            <a:ext cx="5236477" cy="634725"/>
          </a:xfrm>
          <a:custGeom>
            <a:rect b="b" l="l" r="r" t="t"/>
            <a:pathLst>
              <a:path extrusionOk="0" h="634725" w="5236477">
                <a:moveTo>
                  <a:pt x="35262" y="0"/>
                </a:moveTo>
                <a:lnTo>
                  <a:pt x="5165953" y="0"/>
                </a:lnTo>
                <a:cubicBezTo>
                  <a:pt x="5204902" y="0"/>
                  <a:pt x="5236477" y="31575"/>
                  <a:pt x="5236477" y="70524"/>
                </a:cubicBezTo>
                <a:lnTo>
                  <a:pt x="5236477" y="564200"/>
                </a:lnTo>
                <a:cubicBezTo>
                  <a:pt x="5236477" y="603150"/>
                  <a:pt x="5204902" y="634725"/>
                  <a:pt x="51659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4"/>
          <p:cNvSpPr/>
          <p:nvPr/>
        </p:nvSpPr>
        <p:spPr>
          <a:xfrm>
            <a:off x="564200" y="1957067"/>
            <a:ext cx="35262" cy="634725"/>
          </a:xfrm>
          <a:custGeom>
            <a:rect b="b" l="l" r="r" t="t"/>
            <a:pathLst>
              <a:path extrusionOk="0" h="634725" w="35262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4"/>
          <p:cNvSpPr/>
          <p:nvPr/>
        </p:nvSpPr>
        <p:spPr>
          <a:xfrm>
            <a:off x="705249" y="2098117"/>
            <a:ext cx="141050" cy="141050"/>
          </a:xfrm>
          <a:custGeom>
            <a:rect b="b" l="l" r="r" t="t"/>
            <a:pathLst>
              <a:path extrusionOk="0" h="141050" w="141050">
                <a:moveTo>
                  <a:pt x="64051" y="1433"/>
                </a:moveTo>
                <a:cubicBezTo>
                  <a:pt x="68156" y="-468"/>
                  <a:pt x="72894" y="-468"/>
                  <a:pt x="76999" y="1433"/>
                </a:cubicBezTo>
                <a:lnTo>
                  <a:pt x="137221" y="29257"/>
                </a:lnTo>
                <a:cubicBezTo>
                  <a:pt x="139562" y="30331"/>
                  <a:pt x="141050" y="32673"/>
                  <a:pt x="141050" y="35262"/>
                </a:cubicBezTo>
                <a:cubicBezTo>
                  <a:pt x="141050" y="37852"/>
                  <a:pt x="139562" y="40194"/>
                  <a:pt x="137221" y="41268"/>
                </a:cubicBezTo>
                <a:lnTo>
                  <a:pt x="76999" y="69092"/>
                </a:lnTo>
                <a:cubicBezTo>
                  <a:pt x="72894" y="70993"/>
                  <a:pt x="68156" y="70993"/>
                  <a:pt x="64051" y="69092"/>
                </a:cubicBezTo>
                <a:lnTo>
                  <a:pt x="3829" y="41268"/>
                </a:lnTo>
                <a:cubicBezTo>
                  <a:pt x="1488" y="40166"/>
                  <a:pt x="0" y="37825"/>
                  <a:pt x="0" y="35262"/>
                </a:cubicBezTo>
                <a:cubicBezTo>
                  <a:pt x="0" y="32700"/>
                  <a:pt x="1488" y="30331"/>
                  <a:pt x="3829" y="29257"/>
                </a:cubicBezTo>
                <a:lnTo>
                  <a:pt x="64051" y="1433"/>
                </a:lnTo>
                <a:close/>
                <a:moveTo>
                  <a:pt x="13251" y="60167"/>
                </a:moveTo>
                <a:lnTo>
                  <a:pt x="58514" y="81076"/>
                </a:lnTo>
                <a:cubicBezTo>
                  <a:pt x="66145" y="84602"/>
                  <a:pt x="74933" y="84602"/>
                  <a:pt x="82564" y="81076"/>
                </a:cubicBezTo>
                <a:lnTo>
                  <a:pt x="127826" y="60167"/>
                </a:lnTo>
                <a:lnTo>
                  <a:pt x="137221" y="64519"/>
                </a:lnTo>
                <a:cubicBezTo>
                  <a:pt x="139562" y="65594"/>
                  <a:pt x="141050" y="67935"/>
                  <a:pt x="141050" y="70525"/>
                </a:cubicBezTo>
                <a:cubicBezTo>
                  <a:pt x="141050" y="73115"/>
                  <a:pt x="139562" y="75456"/>
                  <a:pt x="137221" y="76531"/>
                </a:cubicBezTo>
                <a:lnTo>
                  <a:pt x="76999" y="104355"/>
                </a:lnTo>
                <a:cubicBezTo>
                  <a:pt x="72894" y="106256"/>
                  <a:pt x="68156" y="106256"/>
                  <a:pt x="64051" y="104355"/>
                </a:cubicBezTo>
                <a:lnTo>
                  <a:pt x="3829" y="76531"/>
                </a:lnTo>
                <a:cubicBezTo>
                  <a:pt x="1488" y="75429"/>
                  <a:pt x="0" y="73087"/>
                  <a:pt x="0" y="70525"/>
                </a:cubicBezTo>
                <a:cubicBezTo>
                  <a:pt x="0" y="67963"/>
                  <a:pt x="1488" y="65594"/>
                  <a:pt x="3829" y="64519"/>
                </a:cubicBezTo>
                <a:lnTo>
                  <a:pt x="13223" y="60167"/>
                </a:lnTo>
                <a:close/>
                <a:moveTo>
                  <a:pt x="3829" y="99782"/>
                </a:moveTo>
                <a:lnTo>
                  <a:pt x="13223" y="95429"/>
                </a:lnTo>
                <a:lnTo>
                  <a:pt x="58486" y="116339"/>
                </a:lnTo>
                <a:cubicBezTo>
                  <a:pt x="66117" y="119865"/>
                  <a:pt x="74905" y="119865"/>
                  <a:pt x="82536" y="116339"/>
                </a:cubicBezTo>
                <a:lnTo>
                  <a:pt x="127799" y="95429"/>
                </a:lnTo>
                <a:lnTo>
                  <a:pt x="137193" y="99782"/>
                </a:lnTo>
                <a:cubicBezTo>
                  <a:pt x="139535" y="100856"/>
                  <a:pt x="141022" y="103198"/>
                  <a:pt x="141022" y="105787"/>
                </a:cubicBezTo>
                <a:cubicBezTo>
                  <a:pt x="141022" y="108377"/>
                  <a:pt x="139535" y="110719"/>
                  <a:pt x="137193" y="111793"/>
                </a:cubicBezTo>
                <a:lnTo>
                  <a:pt x="76971" y="139617"/>
                </a:lnTo>
                <a:cubicBezTo>
                  <a:pt x="72867" y="141518"/>
                  <a:pt x="68128" y="141518"/>
                  <a:pt x="64023" y="139617"/>
                </a:cubicBezTo>
                <a:lnTo>
                  <a:pt x="3829" y="111793"/>
                </a:lnTo>
                <a:cubicBezTo>
                  <a:pt x="1488" y="110691"/>
                  <a:pt x="0" y="108349"/>
                  <a:pt x="0" y="105787"/>
                </a:cubicBezTo>
                <a:cubicBezTo>
                  <a:pt x="0" y="103225"/>
                  <a:pt x="1488" y="100856"/>
                  <a:pt x="3829" y="99782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4"/>
          <p:cNvSpPr/>
          <p:nvPr/>
        </p:nvSpPr>
        <p:spPr>
          <a:xfrm>
            <a:off x="969718" y="2062855"/>
            <a:ext cx="4275575" cy="21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Defense-in-Depth</a:t>
            </a:r>
            <a:endParaRPr b="0" i="0" sz="1600" u="none" cap="none" strike="noStrike"/>
          </a:p>
        </p:txBody>
      </p:sp>
      <p:sp>
        <p:nvSpPr>
          <p:cNvPr id="495" name="Google Shape;495;p14"/>
          <p:cNvSpPr/>
          <p:nvPr/>
        </p:nvSpPr>
        <p:spPr>
          <a:xfrm>
            <a:off x="969718" y="2309692"/>
            <a:ext cx="4266759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Layered security using segmentation, firewalls, IDS, encryption, and monitoring</a:t>
            </a:r>
            <a:endParaRPr b="0" i="0" sz="1600" u="none" cap="none" strike="noStrike"/>
          </a:p>
        </p:txBody>
      </p:sp>
      <p:sp>
        <p:nvSpPr>
          <p:cNvPr id="496" name="Google Shape;496;p14"/>
          <p:cNvSpPr/>
          <p:nvPr/>
        </p:nvSpPr>
        <p:spPr>
          <a:xfrm>
            <a:off x="564200" y="2697579"/>
            <a:ext cx="5236477" cy="634725"/>
          </a:xfrm>
          <a:custGeom>
            <a:rect b="b" l="l" r="r" t="t"/>
            <a:pathLst>
              <a:path extrusionOk="0" h="634725" w="5236477">
                <a:moveTo>
                  <a:pt x="35262" y="0"/>
                </a:moveTo>
                <a:lnTo>
                  <a:pt x="5165953" y="0"/>
                </a:lnTo>
                <a:cubicBezTo>
                  <a:pt x="5204902" y="0"/>
                  <a:pt x="5236477" y="31575"/>
                  <a:pt x="5236477" y="70524"/>
                </a:cubicBezTo>
                <a:lnTo>
                  <a:pt x="5236477" y="564200"/>
                </a:lnTo>
                <a:cubicBezTo>
                  <a:pt x="5236477" y="603150"/>
                  <a:pt x="5204902" y="634725"/>
                  <a:pt x="51659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4"/>
          <p:cNvSpPr/>
          <p:nvPr/>
        </p:nvSpPr>
        <p:spPr>
          <a:xfrm>
            <a:off x="564200" y="2697579"/>
            <a:ext cx="35262" cy="634725"/>
          </a:xfrm>
          <a:custGeom>
            <a:rect b="b" l="l" r="r" t="t"/>
            <a:pathLst>
              <a:path extrusionOk="0" h="634725" w="35262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4"/>
          <p:cNvSpPr/>
          <p:nvPr/>
        </p:nvSpPr>
        <p:spPr>
          <a:xfrm>
            <a:off x="722881" y="2838629"/>
            <a:ext cx="105787" cy="141050"/>
          </a:xfrm>
          <a:custGeom>
            <a:rect b="b" l="l" r="r" t="t"/>
            <a:pathLst>
              <a:path extrusionOk="0" h="141050" w="105787">
                <a:moveTo>
                  <a:pt x="17631" y="0"/>
                </a:moveTo>
                <a:cubicBezTo>
                  <a:pt x="7907" y="0"/>
                  <a:pt x="0" y="7907"/>
                  <a:pt x="0" y="17631"/>
                </a:cubicBezTo>
                <a:lnTo>
                  <a:pt x="0" y="123419"/>
                </a:lnTo>
                <a:cubicBezTo>
                  <a:pt x="0" y="133143"/>
                  <a:pt x="7907" y="141050"/>
                  <a:pt x="17631" y="141050"/>
                </a:cubicBezTo>
                <a:lnTo>
                  <a:pt x="88156" y="141050"/>
                </a:lnTo>
                <a:cubicBezTo>
                  <a:pt x="97881" y="141050"/>
                  <a:pt x="105787" y="133143"/>
                  <a:pt x="105787" y="123419"/>
                </a:cubicBezTo>
                <a:lnTo>
                  <a:pt x="105787" y="17631"/>
                </a:lnTo>
                <a:cubicBezTo>
                  <a:pt x="105787" y="7907"/>
                  <a:pt x="97881" y="0"/>
                  <a:pt x="88156" y="0"/>
                </a:cubicBezTo>
                <a:lnTo>
                  <a:pt x="17631" y="0"/>
                </a:lnTo>
                <a:close/>
                <a:moveTo>
                  <a:pt x="48486" y="96972"/>
                </a:moveTo>
                <a:lnTo>
                  <a:pt x="57302" y="96972"/>
                </a:lnTo>
                <a:cubicBezTo>
                  <a:pt x="62178" y="96972"/>
                  <a:pt x="66117" y="100911"/>
                  <a:pt x="66117" y="105787"/>
                </a:cubicBezTo>
                <a:lnTo>
                  <a:pt x="66117" y="127826"/>
                </a:lnTo>
                <a:lnTo>
                  <a:pt x="39670" y="127826"/>
                </a:lnTo>
                <a:lnTo>
                  <a:pt x="39670" y="105787"/>
                </a:lnTo>
                <a:cubicBezTo>
                  <a:pt x="39670" y="100911"/>
                  <a:pt x="43610" y="96972"/>
                  <a:pt x="48486" y="96972"/>
                </a:cubicBezTo>
                <a:close/>
                <a:moveTo>
                  <a:pt x="26447" y="30855"/>
                </a:moveTo>
                <a:cubicBezTo>
                  <a:pt x="26447" y="28430"/>
                  <a:pt x="28430" y="26447"/>
                  <a:pt x="30855" y="26447"/>
                </a:cubicBezTo>
                <a:lnTo>
                  <a:pt x="39670" y="26447"/>
                </a:lnTo>
                <a:cubicBezTo>
                  <a:pt x="42095" y="26447"/>
                  <a:pt x="44078" y="28430"/>
                  <a:pt x="44078" y="30855"/>
                </a:cubicBezTo>
                <a:lnTo>
                  <a:pt x="44078" y="39670"/>
                </a:lnTo>
                <a:cubicBezTo>
                  <a:pt x="44078" y="42095"/>
                  <a:pt x="42095" y="44078"/>
                  <a:pt x="39670" y="44078"/>
                </a:cubicBezTo>
                <a:lnTo>
                  <a:pt x="30855" y="44078"/>
                </a:lnTo>
                <a:cubicBezTo>
                  <a:pt x="28430" y="44078"/>
                  <a:pt x="26447" y="42095"/>
                  <a:pt x="26447" y="39670"/>
                </a:cubicBezTo>
                <a:lnTo>
                  <a:pt x="26447" y="30855"/>
                </a:lnTo>
                <a:close/>
                <a:moveTo>
                  <a:pt x="66117" y="26447"/>
                </a:moveTo>
                <a:lnTo>
                  <a:pt x="74933" y="26447"/>
                </a:lnTo>
                <a:cubicBezTo>
                  <a:pt x="77357" y="26447"/>
                  <a:pt x="79341" y="28430"/>
                  <a:pt x="79341" y="30855"/>
                </a:cubicBezTo>
                <a:lnTo>
                  <a:pt x="79341" y="39670"/>
                </a:lnTo>
                <a:cubicBezTo>
                  <a:pt x="79341" y="42095"/>
                  <a:pt x="77357" y="44078"/>
                  <a:pt x="74933" y="44078"/>
                </a:cubicBezTo>
                <a:lnTo>
                  <a:pt x="66117" y="44078"/>
                </a:lnTo>
                <a:cubicBezTo>
                  <a:pt x="63693" y="44078"/>
                  <a:pt x="61709" y="42095"/>
                  <a:pt x="61709" y="39670"/>
                </a:cubicBezTo>
                <a:lnTo>
                  <a:pt x="61709" y="30855"/>
                </a:lnTo>
                <a:cubicBezTo>
                  <a:pt x="61709" y="28430"/>
                  <a:pt x="63693" y="26447"/>
                  <a:pt x="66117" y="26447"/>
                </a:cubicBezTo>
                <a:close/>
                <a:moveTo>
                  <a:pt x="26447" y="66117"/>
                </a:moveTo>
                <a:cubicBezTo>
                  <a:pt x="26447" y="63693"/>
                  <a:pt x="28430" y="61709"/>
                  <a:pt x="30855" y="61709"/>
                </a:cubicBezTo>
                <a:lnTo>
                  <a:pt x="39670" y="61709"/>
                </a:lnTo>
                <a:cubicBezTo>
                  <a:pt x="42095" y="61709"/>
                  <a:pt x="44078" y="63693"/>
                  <a:pt x="44078" y="66117"/>
                </a:cubicBezTo>
                <a:lnTo>
                  <a:pt x="44078" y="74933"/>
                </a:lnTo>
                <a:cubicBezTo>
                  <a:pt x="44078" y="77357"/>
                  <a:pt x="42095" y="79341"/>
                  <a:pt x="39670" y="79341"/>
                </a:cubicBezTo>
                <a:lnTo>
                  <a:pt x="30855" y="79341"/>
                </a:lnTo>
                <a:cubicBezTo>
                  <a:pt x="28430" y="79341"/>
                  <a:pt x="26447" y="77357"/>
                  <a:pt x="26447" y="74933"/>
                </a:cubicBezTo>
                <a:lnTo>
                  <a:pt x="26447" y="66117"/>
                </a:lnTo>
                <a:close/>
                <a:moveTo>
                  <a:pt x="66117" y="61709"/>
                </a:moveTo>
                <a:lnTo>
                  <a:pt x="74933" y="61709"/>
                </a:lnTo>
                <a:cubicBezTo>
                  <a:pt x="77357" y="61709"/>
                  <a:pt x="79341" y="63693"/>
                  <a:pt x="79341" y="66117"/>
                </a:cubicBezTo>
                <a:lnTo>
                  <a:pt x="79341" y="74933"/>
                </a:lnTo>
                <a:cubicBezTo>
                  <a:pt x="79341" y="77357"/>
                  <a:pt x="77357" y="79341"/>
                  <a:pt x="74933" y="79341"/>
                </a:cubicBezTo>
                <a:lnTo>
                  <a:pt x="66117" y="79341"/>
                </a:lnTo>
                <a:cubicBezTo>
                  <a:pt x="63693" y="79341"/>
                  <a:pt x="61709" y="77357"/>
                  <a:pt x="61709" y="74933"/>
                </a:cubicBezTo>
                <a:lnTo>
                  <a:pt x="61709" y="66117"/>
                </a:lnTo>
                <a:cubicBezTo>
                  <a:pt x="61709" y="63693"/>
                  <a:pt x="63693" y="61709"/>
                  <a:pt x="66117" y="61709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4"/>
          <p:cNvSpPr/>
          <p:nvPr/>
        </p:nvSpPr>
        <p:spPr>
          <a:xfrm>
            <a:off x="969718" y="2803367"/>
            <a:ext cx="4081631" cy="21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Enterprise-Like Architecture</a:t>
            </a:r>
            <a:endParaRPr b="0" i="0" sz="1600" u="none" cap="none" strike="noStrike"/>
          </a:p>
        </p:txBody>
      </p:sp>
      <p:sp>
        <p:nvSpPr>
          <p:cNvPr id="500" name="Google Shape;500;p14"/>
          <p:cNvSpPr/>
          <p:nvPr/>
        </p:nvSpPr>
        <p:spPr>
          <a:xfrm>
            <a:off x="969718" y="3050204"/>
            <a:ext cx="4072816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DMZ and internal network separation mirrors real production environments</a:t>
            </a:r>
            <a:endParaRPr b="0" i="0" sz="1600" u="none" cap="none" strike="noStrike"/>
          </a:p>
        </p:txBody>
      </p:sp>
      <p:sp>
        <p:nvSpPr>
          <p:cNvPr id="501" name="Google Shape;501;p14"/>
          <p:cNvSpPr/>
          <p:nvPr/>
        </p:nvSpPr>
        <p:spPr>
          <a:xfrm>
            <a:off x="564200" y="3438091"/>
            <a:ext cx="5236477" cy="634725"/>
          </a:xfrm>
          <a:custGeom>
            <a:rect b="b" l="l" r="r" t="t"/>
            <a:pathLst>
              <a:path extrusionOk="0" h="634725" w="5236477">
                <a:moveTo>
                  <a:pt x="35262" y="0"/>
                </a:moveTo>
                <a:lnTo>
                  <a:pt x="5165953" y="0"/>
                </a:lnTo>
                <a:cubicBezTo>
                  <a:pt x="5204902" y="0"/>
                  <a:pt x="5236477" y="31575"/>
                  <a:pt x="5236477" y="70524"/>
                </a:cubicBezTo>
                <a:lnTo>
                  <a:pt x="5236477" y="564200"/>
                </a:lnTo>
                <a:cubicBezTo>
                  <a:pt x="5236477" y="603150"/>
                  <a:pt x="5204902" y="634725"/>
                  <a:pt x="51659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4"/>
          <p:cNvSpPr/>
          <p:nvPr/>
        </p:nvSpPr>
        <p:spPr>
          <a:xfrm>
            <a:off x="564200" y="3438091"/>
            <a:ext cx="35262" cy="634725"/>
          </a:xfrm>
          <a:custGeom>
            <a:rect b="b" l="l" r="r" t="t"/>
            <a:pathLst>
              <a:path extrusionOk="0" h="634725" w="35262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696434" y="3579141"/>
            <a:ext cx="158681" cy="141050"/>
          </a:xfrm>
          <a:custGeom>
            <a:rect b="b" l="l" r="r" t="t"/>
            <a:pathLst>
              <a:path extrusionOk="0" h="141050" w="158681">
                <a:moveTo>
                  <a:pt x="79341" y="8816"/>
                </a:moveTo>
                <a:cubicBezTo>
                  <a:pt x="57081" y="8816"/>
                  <a:pt x="39257" y="18954"/>
                  <a:pt x="26282" y="31020"/>
                </a:cubicBezTo>
                <a:cubicBezTo>
                  <a:pt x="13389" y="43004"/>
                  <a:pt x="4766" y="57302"/>
                  <a:pt x="661" y="67136"/>
                </a:cubicBezTo>
                <a:cubicBezTo>
                  <a:pt x="-248" y="69313"/>
                  <a:pt x="-248" y="71737"/>
                  <a:pt x="661" y="73913"/>
                </a:cubicBezTo>
                <a:cubicBezTo>
                  <a:pt x="4766" y="83748"/>
                  <a:pt x="13389" y="98074"/>
                  <a:pt x="26282" y="110030"/>
                </a:cubicBezTo>
                <a:cubicBezTo>
                  <a:pt x="39257" y="122069"/>
                  <a:pt x="57081" y="132234"/>
                  <a:pt x="79341" y="132234"/>
                </a:cubicBezTo>
                <a:cubicBezTo>
                  <a:pt x="101600" y="132234"/>
                  <a:pt x="119424" y="122096"/>
                  <a:pt x="132400" y="110030"/>
                </a:cubicBezTo>
                <a:cubicBezTo>
                  <a:pt x="145292" y="98046"/>
                  <a:pt x="153915" y="83748"/>
                  <a:pt x="158020" y="73913"/>
                </a:cubicBezTo>
                <a:cubicBezTo>
                  <a:pt x="158929" y="71737"/>
                  <a:pt x="158929" y="69313"/>
                  <a:pt x="158020" y="67136"/>
                </a:cubicBezTo>
                <a:cubicBezTo>
                  <a:pt x="153915" y="57302"/>
                  <a:pt x="145292" y="42976"/>
                  <a:pt x="132400" y="31020"/>
                </a:cubicBezTo>
                <a:cubicBezTo>
                  <a:pt x="119424" y="18981"/>
                  <a:pt x="101600" y="8816"/>
                  <a:pt x="79341" y="8816"/>
                </a:cubicBezTo>
                <a:close/>
                <a:moveTo>
                  <a:pt x="39670" y="70525"/>
                </a:moveTo>
                <a:cubicBezTo>
                  <a:pt x="39670" y="48630"/>
                  <a:pt x="57446" y="30855"/>
                  <a:pt x="79341" y="30855"/>
                </a:cubicBezTo>
                <a:cubicBezTo>
                  <a:pt x="101235" y="30855"/>
                  <a:pt x="119011" y="48630"/>
                  <a:pt x="119011" y="70525"/>
                </a:cubicBezTo>
                <a:cubicBezTo>
                  <a:pt x="119011" y="92420"/>
                  <a:pt x="101235" y="110195"/>
                  <a:pt x="79341" y="110195"/>
                </a:cubicBezTo>
                <a:cubicBezTo>
                  <a:pt x="57446" y="110195"/>
                  <a:pt x="39670" y="92420"/>
                  <a:pt x="39670" y="70525"/>
                </a:cubicBezTo>
                <a:close/>
                <a:moveTo>
                  <a:pt x="79341" y="52894"/>
                </a:moveTo>
                <a:cubicBezTo>
                  <a:pt x="79341" y="62618"/>
                  <a:pt x="71434" y="70525"/>
                  <a:pt x="61709" y="70525"/>
                </a:cubicBezTo>
                <a:cubicBezTo>
                  <a:pt x="58541" y="70525"/>
                  <a:pt x="55566" y="69698"/>
                  <a:pt x="52976" y="68211"/>
                </a:cubicBezTo>
                <a:cubicBezTo>
                  <a:pt x="52701" y="71214"/>
                  <a:pt x="52949" y="74299"/>
                  <a:pt x="53775" y="77357"/>
                </a:cubicBezTo>
                <a:cubicBezTo>
                  <a:pt x="57549" y="91462"/>
                  <a:pt x="72068" y="99837"/>
                  <a:pt x="86173" y="96063"/>
                </a:cubicBezTo>
                <a:cubicBezTo>
                  <a:pt x="100278" y="92289"/>
                  <a:pt x="108652" y="77770"/>
                  <a:pt x="104878" y="63665"/>
                </a:cubicBezTo>
                <a:cubicBezTo>
                  <a:pt x="101517" y="51075"/>
                  <a:pt x="89589" y="43059"/>
                  <a:pt x="77026" y="44161"/>
                </a:cubicBezTo>
                <a:cubicBezTo>
                  <a:pt x="78487" y="46723"/>
                  <a:pt x="79341" y="49698"/>
                  <a:pt x="79341" y="52894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4"/>
          <p:cNvSpPr/>
          <p:nvPr/>
        </p:nvSpPr>
        <p:spPr>
          <a:xfrm>
            <a:off x="969718" y="3543879"/>
            <a:ext cx="4011106" cy="21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SOC Visibility</a:t>
            </a:r>
            <a:endParaRPr b="0" i="0" sz="1600" u="none" cap="none" strike="noStrike"/>
          </a:p>
        </p:txBody>
      </p:sp>
      <p:sp>
        <p:nvSpPr>
          <p:cNvPr id="505" name="Google Shape;505;p14"/>
          <p:cNvSpPr/>
          <p:nvPr/>
        </p:nvSpPr>
        <p:spPr>
          <a:xfrm>
            <a:off x="969718" y="3790716"/>
            <a:ext cx="4002291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Centralized logging and correlation via Wazuh SIEM enables fast detection</a:t>
            </a:r>
            <a:endParaRPr b="0" i="0" sz="1600" u="none" cap="none" strike="noStrike"/>
          </a:p>
        </p:txBody>
      </p:sp>
      <p:sp>
        <p:nvSpPr>
          <p:cNvPr id="506" name="Google Shape;506;p14"/>
          <p:cNvSpPr/>
          <p:nvPr/>
        </p:nvSpPr>
        <p:spPr>
          <a:xfrm>
            <a:off x="564200" y="4178603"/>
            <a:ext cx="5236477" cy="634725"/>
          </a:xfrm>
          <a:custGeom>
            <a:rect b="b" l="l" r="r" t="t"/>
            <a:pathLst>
              <a:path extrusionOk="0" h="634725" w="5236477">
                <a:moveTo>
                  <a:pt x="35262" y="0"/>
                </a:moveTo>
                <a:lnTo>
                  <a:pt x="5165953" y="0"/>
                </a:lnTo>
                <a:cubicBezTo>
                  <a:pt x="5204902" y="0"/>
                  <a:pt x="5236477" y="31575"/>
                  <a:pt x="5236477" y="70524"/>
                </a:cubicBezTo>
                <a:lnTo>
                  <a:pt x="5236477" y="564200"/>
                </a:lnTo>
                <a:cubicBezTo>
                  <a:pt x="5236477" y="603150"/>
                  <a:pt x="5204902" y="634725"/>
                  <a:pt x="51659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4"/>
          <p:cNvSpPr/>
          <p:nvPr/>
        </p:nvSpPr>
        <p:spPr>
          <a:xfrm>
            <a:off x="564200" y="4178603"/>
            <a:ext cx="35262" cy="634725"/>
          </a:xfrm>
          <a:custGeom>
            <a:rect b="b" l="l" r="r" t="t"/>
            <a:pathLst>
              <a:path extrusionOk="0" h="634725" w="35262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4"/>
          <p:cNvSpPr/>
          <p:nvPr/>
        </p:nvSpPr>
        <p:spPr>
          <a:xfrm>
            <a:off x="731696" y="4319653"/>
            <a:ext cx="88156" cy="141050"/>
          </a:xfrm>
          <a:custGeom>
            <a:rect b="b" l="l" r="r" t="t"/>
            <a:pathLst>
              <a:path extrusionOk="0" h="141050" w="88156">
                <a:moveTo>
                  <a:pt x="37466" y="6612"/>
                </a:moveTo>
                <a:cubicBezTo>
                  <a:pt x="37466" y="2948"/>
                  <a:pt x="40414" y="0"/>
                  <a:pt x="44078" y="0"/>
                </a:cubicBezTo>
                <a:cubicBezTo>
                  <a:pt x="47742" y="0"/>
                  <a:pt x="50690" y="2948"/>
                  <a:pt x="50690" y="6612"/>
                </a:cubicBezTo>
                <a:lnTo>
                  <a:pt x="50690" y="17631"/>
                </a:lnTo>
                <a:lnTo>
                  <a:pt x="66117" y="17631"/>
                </a:lnTo>
                <a:cubicBezTo>
                  <a:pt x="70993" y="17631"/>
                  <a:pt x="74933" y="21571"/>
                  <a:pt x="74933" y="26447"/>
                </a:cubicBezTo>
                <a:cubicBezTo>
                  <a:pt x="74933" y="31323"/>
                  <a:pt x="70993" y="35262"/>
                  <a:pt x="66117" y="35262"/>
                </a:cubicBezTo>
                <a:lnTo>
                  <a:pt x="34464" y="35262"/>
                </a:lnTo>
                <a:cubicBezTo>
                  <a:pt x="27604" y="35262"/>
                  <a:pt x="22039" y="40827"/>
                  <a:pt x="22039" y="47687"/>
                </a:cubicBezTo>
                <a:cubicBezTo>
                  <a:pt x="22039" y="53885"/>
                  <a:pt x="26585" y="59120"/>
                  <a:pt x="32700" y="60001"/>
                </a:cubicBezTo>
                <a:lnTo>
                  <a:pt x="57935" y="63610"/>
                </a:lnTo>
                <a:cubicBezTo>
                  <a:pt x="72756" y="65731"/>
                  <a:pt x="83748" y="78404"/>
                  <a:pt x="83748" y="93363"/>
                </a:cubicBezTo>
                <a:cubicBezTo>
                  <a:pt x="83748" y="109975"/>
                  <a:pt x="70277" y="123419"/>
                  <a:pt x="53693" y="123419"/>
                </a:cubicBezTo>
                <a:lnTo>
                  <a:pt x="50690" y="123419"/>
                </a:lnTo>
                <a:lnTo>
                  <a:pt x="50690" y="134438"/>
                </a:lnTo>
                <a:cubicBezTo>
                  <a:pt x="50690" y="138102"/>
                  <a:pt x="47742" y="141050"/>
                  <a:pt x="44078" y="141050"/>
                </a:cubicBezTo>
                <a:cubicBezTo>
                  <a:pt x="40414" y="141050"/>
                  <a:pt x="37466" y="138102"/>
                  <a:pt x="37466" y="134438"/>
                </a:cubicBezTo>
                <a:lnTo>
                  <a:pt x="37466" y="123419"/>
                </a:lnTo>
                <a:lnTo>
                  <a:pt x="17631" y="123419"/>
                </a:lnTo>
                <a:cubicBezTo>
                  <a:pt x="12755" y="123419"/>
                  <a:pt x="8816" y="119479"/>
                  <a:pt x="8816" y="114603"/>
                </a:cubicBezTo>
                <a:cubicBezTo>
                  <a:pt x="8816" y="109727"/>
                  <a:pt x="12755" y="105787"/>
                  <a:pt x="17631" y="105787"/>
                </a:cubicBezTo>
                <a:lnTo>
                  <a:pt x="53693" y="105787"/>
                </a:lnTo>
                <a:cubicBezTo>
                  <a:pt x="60552" y="105787"/>
                  <a:pt x="66117" y="100223"/>
                  <a:pt x="66117" y="93363"/>
                </a:cubicBezTo>
                <a:cubicBezTo>
                  <a:pt x="66117" y="87164"/>
                  <a:pt x="61572" y="81930"/>
                  <a:pt x="55456" y="81049"/>
                </a:cubicBezTo>
                <a:lnTo>
                  <a:pt x="30221" y="77440"/>
                </a:lnTo>
                <a:cubicBezTo>
                  <a:pt x="15400" y="75346"/>
                  <a:pt x="4408" y="62646"/>
                  <a:pt x="4408" y="47687"/>
                </a:cubicBezTo>
                <a:cubicBezTo>
                  <a:pt x="4408" y="31103"/>
                  <a:pt x="17879" y="17631"/>
                  <a:pt x="34464" y="17631"/>
                </a:cubicBezTo>
                <a:lnTo>
                  <a:pt x="37466" y="17631"/>
                </a:lnTo>
                <a:lnTo>
                  <a:pt x="37466" y="6612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4"/>
          <p:cNvSpPr/>
          <p:nvPr/>
        </p:nvSpPr>
        <p:spPr>
          <a:xfrm>
            <a:off x="969718" y="4284390"/>
            <a:ext cx="3367566" cy="21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Open-Source &amp; Cost Effective</a:t>
            </a:r>
            <a:endParaRPr b="0" i="0" sz="1600" u="none" cap="none" strike="noStrike"/>
          </a:p>
        </p:txBody>
      </p:sp>
      <p:sp>
        <p:nvSpPr>
          <p:cNvPr id="510" name="Google Shape;510;p14"/>
          <p:cNvSpPr/>
          <p:nvPr/>
        </p:nvSpPr>
        <p:spPr>
          <a:xfrm>
            <a:off x="969718" y="4531228"/>
            <a:ext cx="3358751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Uses Suricata and Wazuh with professional-grade capabilities</a:t>
            </a:r>
            <a:endParaRPr b="0" i="0" sz="1600" u="none" cap="none" strike="noStrike"/>
          </a:p>
        </p:txBody>
      </p:sp>
      <p:sp>
        <p:nvSpPr>
          <p:cNvPr id="511" name="Google Shape;511;p14"/>
          <p:cNvSpPr/>
          <p:nvPr/>
        </p:nvSpPr>
        <p:spPr>
          <a:xfrm>
            <a:off x="564200" y="4919115"/>
            <a:ext cx="5236477" cy="634725"/>
          </a:xfrm>
          <a:custGeom>
            <a:rect b="b" l="l" r="r" t="t"/>
            <a:pathLst>
              <a:path extrusionOk="0" h="634725" w="5236477">
                <a:moveTo>
                  <a:pt x="35262" y="0"/>
                </a:moveTo>
                <a:lnTo>
                  <a:pt x="5165953" y="0"/>
                </a:lnTo>
                <a:cubicBezTo>
                  <a:pt x="5204902" y="0"/>
                  <a:pt x="5236477" y="31575"/>
                  <a:pt x="5236477" y="70524"/>
                </a:cubicBezTo>
                <a:lnTo>
                  <a:pt x="5236477" y="564200"/>
                </a:lnTo>
                <a:cubicBezTo>
                  <a:pt x="5236477" y="603150"/>
                  <a:pt x="5204902" y="634725"/>
                  <a:pt x="51659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4"/>
          <p:cNvSpPr/>
          <p:nvPr/>
        </p:nvSpPr>
        <p:spPr>
          <a:xfrm>
            <a:off x="564200" y="4919115"/>
            <a:ext cx="35262" cy="634725"/>
          </a:xfrm>
          <a:custGeom>
            <a:rect b="b" l="l" r="r" t="t"/>
            <a:pathLst>
              <a:path extrusionOk="0" h="634725" w="35262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4"/>
          <p:cNvSpPr/>
          <p:nvPr/>
        </p:nvSpPr>
        <p:spPr>
          <a:xfrm>
            <a:off x="696434" y="5060165"/>
            <a:ext cx="158681" cy="141050"/>
          </a:xfrm>
          <a:custGeom>
            <a:rect b="b" l="l" r="r" t="t"/>
            <a:pathLst>
              <a:path extrusionOk="0" h="141050" w="158681">
                <a:moveTo>
                  <a:pt x="52894" y="26447"/>
                </a:moveTo>
                <a:cubicBezTo>
                  <a:pt x="52894" y="11846"/>
                  <a:pt x="64740" y="0"/>
                  <a:pt x="79341" y="0"/>
                </a:cubicBezTo>
                <a:cubicBezTo>
                  <a:pt x="93941" y="0"/>
                  <a:pt x="105787" y="11846"/>
                  <a:pt x="105787" y="26447"/>
                </a:cubicBezTo>
                <a:lnTo>
                  <a:pt x="105787" y="27439"/>
                </a:lnTo>
                <a:cubicBezTo>
                  <a:pt x="105787" y="31764"/>
                  <a:pt x="102289" y="35262"/>
                  <a:pt x="97964" y="35262"/>
                </a:cubicBezTo>
                <a:lnTo>
                  <a:pt x="60745" y="35262"/>
                </a:lnTo>
                <a:cubicBezTo>
                  <a:pt x="56420" y="35262"/>
                  <a:pt x="52921" y="31764"/>
                  <a:pt x="52921" y="27439"/>
                </a:cubicBezTo>
                <a:lnTo>
                  <a:pt x="52921" y="26447"/>
                </a:lnTo>
                <a:close/>
                <a:moveTo>
                  <a:pt x="148102" y="29973"/>
                </a:moveTo>
                <a:cubicBezTo>
                  <a:pt x="151023" y="33857"/>
                  <a:pt x="150224" y="39395"/>
                  <a:pt x="146339" y="42315"/>
                </a:cubicBezTo>
                <a:lnTo>
                  <a:pt x="119397" y="62508"/>
                </a:lnTo>
                <a:cubicBezTo>
                  <a:pt x="120857" y="64960"/>
                  <a:pt x="121959" y="67660"/>
                  <a:pt x="122647" y="70525"/>
                </a:cubicBezTo>
                <a:lnTo>
                  <a:pt x="149866" y="70525"/>
                </a:lnTo>
                <a:cubicBezTo>
                  <a:pt x="154742" y="70525"/>
                  <a:pt x="158681" y="74464"/>
                  <a:pt x="158681" y="79341"/>
                </a:cubicBezTo>
                <a:cubicBezTo>
                  <a:pt x="158681" y="84217"/>
                  <a:pt x="154742" y="88156"/>
                  <a:pt x="149866" y="88156"/>
                </a:cubicBezTo>
                <a:lnTo>
                  <a:pt x="123419" y="88156"/>
                </a:lnTo>
                <a:lnTo>
                  <a:pt x="123419" y="96972"/>
                </a:lnTo>
                <a:cubicBezTo>
                  <a:pt x="123419" y="97688"/>
                  <a:pt x="123391" y="98432"/>
                  <a:pt x="123364" y="99148"/>
                </a:cubicBezTo>
                <a:lnTo>
                  <a:pt x="146339" y="116366"/>
                </a:lnTo>
                <a:cubicBezTo>
                  <a:pt x="150224" y="119286"/>
                  <a:pt x="151023" y="124824"/>
                  <a:pt x="148102" y="128708"/>
                </a:cubicBezTo>
                <a:cubicBezTo>
                  <a:pt x="145182" y="132592"/>
                  <a:pt x="139645" y="133391"/>
                  <a:pt x="135761" y="130471"/>
                </a:cubicBezTo>
                <a:lnTo>
                  <a:pt x="118377" y="117441"/>
                </a:lnTo>
                <a:cubicBezTo>
                  <a:pt x="111986" y="129617"/>
                  <a:pt x="100057" y="138433"/>
                  <a:pt x="85952" y="140554"/>
                </a:cubicBezTo>
                <a:lnTo>
                  <a:pt x="85952" y="77137"/>
                </a:lnTo>
                <a:cubicBezTo>
                  <a:pt x="85952" y="73473"/>
                  <a:pt x="83005" y="70525"/>
                  <a:pt x="79341" y="70525"/>
                </a:cubicBezTo>
                <a:cubicBezTo>
                  <a:pt x="75677" y="70525"/>
                  <a:pt x="72729" y="73473"/>
                  <a:pt x="72729" y="77137"/>
                </a:cubicBezTo>
                <a:lnTo>
                  <a:pt x="72729" y="140554"/>
                </a:lnTo>
                <a:cubicBezTo>
                  <a:pt x="58624" y="138433"/>
                  <a:pt x="46695" y="129617"/>
                  <a:pt x="40304" y="117441"/>
                </a:cubicBezTo>
                <a:lnTo>
                  <a:pt x="22921" y="130471"/>
                </a:lnTo>
                <a:cubicBezTo>
                  <a:pt x="19036" y="133391"/>
                  <a:pt x="13499" y="132592"/>
                  <a:pt x="10579" y="128708"/>
                </a:cubicBezTo>
                <a:cubicBezTo>
                  <a:pt x="7659" y="124824"/>
                  <a:pt x="8457" y="119286"/>
                  <a:pt x="12342" y="116366"/>
                </a:cubicBezTo>
                <a:lnTo>
                  <a:pt x="35318" y="99148"/>
                </a:lnTo>
                <a:cubicBezTo>
                  <a:pt x="35290" y="98432"/>
                  <a:pt x="35262" y="97716"/>
                  <a:pt x="35262" y="96972"/>
                </a:cubicBezTo>
                <a:lnTo>
                  <a:pt x="35262" y="88156"/>
                </a:lnTo>
                <a:lnTo>
                  <a:pt x="8816" y="88156"/>
                </a:lnTo>
                <a:cubicBezTo>
                  <a:pt x="3939" y="88156"/>
                  <a:pt x="0" y="84217"/>
                  <a:pt x="0" y="79341"/>
                </a:cubicBezTo>
                <a:cubicBezTo>
                  <a:pt x="0" y="74464"/>
                  <a:pt x="3939" y="70525"/>
                  <a:pt x="8816" y="70525"/>
                </a:cubicBezTo>
                <a:lnTo>
                  <a:pt x="36034" y="70525"/>
                </a:lnTo>
                <a:cubicBezTo>
                  <a:pt x="36723" y="67660"/>
                  <a:pt x="37825" y="64960"/>
                  <a:pt x="39285" y="62508"/>
                </a:cubicBezTo>
                <a:lnTo>
                  <a:pt x="12342" y="42315"/>
                </a:lnTo>
                <a:cubicBezTo>
                  <a:pt x="8457" y="39395"/>
                  <a:pt x="7659" y="33857"/>
                  <a:pt x="10579" y="29973"/>
                </a:cubicBezTo>
                <a:cubicBezTo>
                  <a:pt x="13499" y="26089"/>
                  <a:pt x="19036" y="25290"/>
                  <a:pt x="22921" y="28210"/>
                </a:cubicBezTo>
                <a:lnTo>
                  <a:pt x="52894" y="50690"/>
                </a:lnTo>
                <a:cubicBezTo>
                  <a:pt x="56282" y="49285"/>
                  <a:pt x="60001" y="48486"/>
                  <a:pt x="63913" y="48486"/>
                </a:cubicBezTo>
                <a:lnTo>
                  <a:pt x="94768" y="48486"/>
                </a:lnTo>
                <a:cubicBezTo>
                  <a:pt x="98680" y="48486"/>
                  <a:pt x="102399" y="49257"/>
                  <a:pt x="105787" y="50690"/>
                </a:cubicBezTo>
                <a:lnTo>
                  <a:pt x="135761" y="28210"/>
                </a:lnTo>
                <a:cubicBezTo>
                  <a:pt x="139645" y="25290"/>
                  <a:pt x="145182" y="26089"/>
                  <a:pt x="148102" y="29973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4"/>
          <p:cNvSpPr/>
          <p:nvPr/>
        </p:nvSpPr>
        <p:spPr>
          <a:xfrm>
            <a:off x="969718" y="5024902"/>
            <a:ext cx="2882707" cy="21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Multi-Attack Detection</a:t>
            </a:r>
            <a:endParaRPr b="0" i="0" sz="1600" u="none" cap="none" strike="noStrike"/>
          </a:p>
        </p:txBody>
      </p:sp>
      <p:sp>
        <p:nvSpPr>
          <p:cNvPr id="515" name="Google Shape;515;p14"/>
          <p:cNvSpPr/>
          <p:nvPr/>
        </p:nvSpPr>
        <p:spPr>
          <a:xfrm>
            <a:off x="969718" y="5271740"/>
            <a:ext cx="2873892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Detects scans, DoS, and OWASP Top 10 web attacks</a:t>
            </a:r>
            <a:endParaRPr b="0" i="0" sz="1600" u="none" cap="none" strike="noStrike"/>
          </a:p>
        </p:txBody>
      </p:sp>
      <p:sp>
        <p:nvSpPr>
          <p:cNvPr id="516" name="Google Shape;516;p14"/>
          <p:cNvSpPr/>
          <p:nvPr/>
        </p:nvSpPr>
        <p:spPr>
          <a:xfrm>
            <a:off x="564200" y="5659627"/>
            <a:ext cx="5236477" cy="634725"/>
          </a:xfrm>
          <a:custGeom>
            <a:rect b="b" l="l" r="r" t="t"/>
            <a:pathLst>
              <a:path extrusionOk="0" h="634725" w="5236477">
                <a:moveTo>
                  <a:pt x="35262" y="0"/>
                </a:moveTo>
                <a:lnTo>
                  <a:pt x="5165953" y="0"/>
                </a:lnTo>
                <a:cubicBezTo>
                  <a:pt x="5204902" y="0"/>
                  <a:pt x="5236477" y="31575"/>
                  <a:pt x="5236477" y="70524"/>
                </a:cubicBezTo>
                <a:lnTo>
                  <a:pt x="5236477" y="564200"/>
                </a:lnTo>
                <a:cubicBezTo>
                  <a:pt x="5236477" y="603150"/>
                  <a:pt x="5204902" y="634725"/>
                  <a:pt x="51659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4"/>
          <p:cNvSpPr/>
          <p:nvPr/>
        </p:nvSpPr>
        <p:spPr>
          <a:xfrm>
            <a:off x="564200" y="5659627"/>
            <a:ext cx="35262" cy="634725"/>
          </a:xfrm>
          <a:custGeom>
            <a:rect b="b" l="l" r="r" t="t"/>
            <a:pathLst>
              <a:path extrusionOk="0" h="634725" w="35262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4"/>
          <p:cNvSpPr/>
          <p:nvPr/>
        </p:nvSpPr>
        <p:spPr>
          <a:xfrm>
            <a:off x="714065" y="5800677"/>
            <a:ext cx="123419" cy="141050"/>
          </a:xfrm>
          <a:custGeom>
            <a:rect b="b" l="l" r="r" t="t"/>
            <a:pathLst>
              <a:path extrusionOk="0" h="141050" w="123419">
                <a:moveTo>
                  <a:pt x="46282" y="8816"/>
                </a:moveTo>
                <a:lnTo>
                  <a:pt x="6612" y="8816"/>
                </a:lnTo>
                <a:cubicBezTo>
                  <a:pt x="2948" y="8816"/>
                  <a:pt x="0" y="11763"/>
                  <a:pt x="0" y="15427"/>
                </a:cubicBezTo>
                <a:lnTo>
                  <a:pt x="0" y="55098"/>
                </a:lnTo>
                <a:cubicBezTo>
                  <a:pt x="0" y="57770"/>
                  <a:pt x="1598" y="60194"/>
                  <a:pt x="4077" y="61213"/>
                </a:cubicBezTo>
                <a:cubicBezTo>
                  <a:pt x="6557" y="62233"/>
                  <a:pt x="9394" y="61654"/>
                  <a:pt x="11295" y="59781"/>
                </a:cubicBezTo>
                <a:lnTo>
                  <a:pt x="22315" y="48761"/>
                </a:lnTo>
                <a:lnTo>
                  <a:pt x="44078" y="70525"/>
                </a:lnTo>
                <a:lnTo>
                  <a:pt x="22315" y="92289"/>
                </a:lnTo>
                <a:lnTo>
                  <a:pt x="11295" y="81269"/>
                </a:lnTo>
                <a:cubicBezTo>
                  <a:pt x="9394" y="79368"/>
                  <a:pt x="6557" y="78817"/>
                  <a:pt x="4077" y="79836"/>
                </a:cubicBezTo>
                <a:cubicBezTo>
                  <a:pt x="1598" y="80856"/>
                  <a:pt x="0" y="83280"/>
                  <a:pt x="0" y="85952"/>
                </a:cubicBezTo>
                <a:lnTo>
                  <a:pt x="0" y="125623"/>
                </a:lnTo>
                <a:cubicBezTo>
                  <a:pt x="0" y="129287"/>
                  <a:pt x="2948" y="132234"/>
                  <a:pt x="6612" y="132234"/>
                </a:cubicBezTo>
                <a:lnTo>
                  <a:pt x="46282" y="132234"/>
                </a:lnTo>
                <a:cubicBezTo>
                  <a:pt x="48954" y="132234"/>
                  <a:pt x="51379" y="130636"/>
                  <a:pt x="52398" y="128157"/>
                </a:cubicBezTo>
                <a:cubicBezTo>
                  <a:pt x="53417" y="125678"/>
                  <a:pt x="52866" y="122840"/>
                  <a:pt x="50965" y="120939"/>
                </a:cubicBezTo>
                <a:lnTo>
                  <a:pt x="39946" y="109920"/>
                </a:lnTo>
                <a:lnTo>
                  <a:pt x="61709" y="88156"/>
                </a:lnTo>
                <a:lnTo>
                  <a:pt x="83473" y="109920"/>
                </a:lnTo>
                <a:lnTo>
                  <a:pt x="72453" y="120939"/>
                </a:lnTo>
                <a:cubicBezTo>
                  <a:pt x="70552" y="122840"/>
                  <a:pt x="70002" y="125678"/>
                  <a:pt x="71021" y="128157"/>
                </a:cubicBezTo>
                <a:cubicBezTo>
                  <a:pt x="72040" y="130636"/>
                  <a:pt x="74464" y="132234"/>
                  <a:pt x="77137" y="132234"/>
                </a:cubicBezTo>
                <a:lnTo>
                  <a:pt x="116807" y="132234"/>
                </a:lnTo>
                <a:cubicBezTo>
                  <a:pt x="120471" y="132234"/>
                  <a:pt x="123419" y="129287"/>
                  <a:pt x="123419" y="125623"/>
                </a:cubicBezTo>
                <a:lnTo>
                  <a:pt x="123419" y="85952"/>
                </a:lnTo>
                <a:cubicBezTo>
                  <a:pt x="123419" y="83280"/>
                  <a:pt x="121821" y="80856"/>
                  <a:pt x="119341" y="79836"/>
                </a:cubicBezTo>
                <a:cubicBezTo>
                  <a:pt x="116862" y="78817"/>
                  <a:pt x="114025" y="79368"/>
                  <a:pt x="112124" y="81269"/>
                </a:cubicBezTo>
                <a:lnTo>
                  <a:pt x="101104" y="92289"/>
                </a:lnTo>
                <a:lnTo>
                  <a:pt x="79341" y="70525"/>
                </a:lnTo>
                <a:lnTo>
                  <a:pt x="101104" y="48761"/>
                </a:lnTo>
                <a:lnTo>
                  <a:pt x="112124" y="59781"/>
                </a:lnTo>
                <a:cubicBezTo>
                  <a:pt x="114025" y="61682"/>
                  <a:pt x="116862" y="62233"/>
                  <a:pt x="119341" y="61213"/>
                </a:cubicBezTo>
                <a:cubicBezTo>
                  <a:pt x="121821" y="60194"/>
                  <a:pt x="123419" y="57770"/>
                  <a:pt x="123419" y="55098"/>
                </a:cubicBezTo>
                <a:lnTo>
                  <a:pt x="123419" y="15427"/>
                </a:lnTo>
                <a:cubicBezTo>
                  <a:pt x="123419" y="11763"/>
                  <a:pt x="120471" y="8816"/>
                  <a:pt x="116807" y="8816"/>
                </a:cubicBezTo>
                <a:lnTo>
                  <a:pt x="77137" y="8816"/>
                </a:lnTo>
                <a:cubicBezTo>
                  <a:pt x="74464" y="8816"/>
                  <a:pt x="72040" y="10413"/>
                  <a:pt x="71021" y="12893"/>
                </a:cubicBezTo>
                <a:cubicBezTo>
                  <a:pt x="70002" y="15372"/>
                  <a:pt x="70580" y="18210"/>
                  <a:pt x="72453" y="20111"/>
                </a:cubicBezTo>
                <a:lnTo>
                  <a:pt x="83473" y="31130"/>
                </a:lnTo>
                <a:lnTo>
                  <a:pt x="61709" y="52894"/>
                </a:lnTo>
                <a:lnTo>
                  <a:pt x="39946" y="31130"/>
                </a:lnTo>
                <a:lnTo>
                  <a:pt x="50965" y="20111"/>
                </a:lnTo>
                <a:cubicBezTo>
                  <a:pt x="52866" y="18210"/>
                  <a:pt x="53417" y="15372"/>
                  <a:pt x="52398" y="12893"/>
                </a:cubicBezTo>
                <a:cubicBezTo>
                  <a:pt x="51379" y="10413"/>
                  <a:pt x="48954" y="8816"/>
                  <a:pt x="46282" y="8816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4"/>
          <p:cNvSpPr/>
          <p:nvPr/>
        </p:nvSpPr>
        <p:spPr>
          <a:xfrm>
            <a:off x="969718" y="5765414"/>
            <a:ext cx="3341119" cy="21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Modular &amp; Scalable</a:t>
            </a:r>
            <a:endParaRPr b="0" i="0" sz="1600" u="none" cap="none" strike="noStrike"/>
          </a:p>
        </p:txBody>
      </p:sp>
      <p:sp>
        <p:nvSpPr>
          <p:cNvPr id="520" name="Google Shape;520;p14"/>
          <p:cNvSpPr/>
          <p:nvPr/>
        </p:nvSpPr>
        <p:spPr>
          <a:xfrm>
            <a:off x="969718" y="6012252"/>
            <a:ext cx="3332304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Easy integration of new sensors, automation, and threat feeds</a:t>
            </a:r>
            <a:endParaRPr b="0" i="0" sz="1600" u="none" cap="none" strike="noStrike"/>
          </a:p>
        </p:txBody>
      </p:sp>
      <p:sp>
        <p:nvSpPr>
          <p:cNvPr id="521" name="Google Shape;521;p14"/>
          <p:cNvSpPr/>
          <p:nvPr/>
        </p:nvSpPr>
        <p:spPr>
          <a:xfrm>
            <a:off x="6211016" y="1207740"/>
            <a:ext cx="5624364" cy="4531228"/>
          </a:xfrm>
          <a:custGeom>
            <a:rect b="b" l="l" r="r" t="t"/>
            <a:pathLst>
              <a:path extrusionOk="0" h="4531228" w="5624364">
                <a:moveTo>
                  <a:pt x="70506" y="0"/>
                </a:moveTo>
                <a:lnTo>
                  <a:pt x="5553859" y="0"/>
                </a:lnTo>
                <a:cubicBezTo>
                  <a:pt x="5592798" y="0"/>
                  <a:pt x="5624364" y="31567"/>
                  <a:pt x="5624364" y="70506"/>
                </a:cubicBezTo>
                <a:lnTo>
                  <a:pt x="5624364" y="4460722"/>
                </a:lnTo>
                <a:cubicBezTo>
                  <a:pt x="5624364" y="4499661"/>
                  <a:pt x="5592798" y="4531228"/>
                  <a:pt x="5553859" y="4531228"/>
                </a:cubicBezTo>
                <a:lnTo>
                  <a:pt x="70506" y="4531228"/>
                </a:lnTo>
                <a:cubicBezTo>
                  <a:pt x="31567" y="4531228"/>
                  <a:pt x="0" y="4499661"/>
                  <a:pt x="0" y="4460722"/>
                </a:cubicBezTo>
                <a:lnTo>
                  <a:pt x="0" y="70506"/>
                </a:lnTo>
                <a:cubicBezTo>
                  <a:pt x="0" y="31567"/>
                  <a:pt x="31567" y="0"/>
                  <a:pt x="70506" y="0"/>
                </a:cubicBezTo>
                <a:close/>
              </a:path>
            </a:pathLst>
          </a:custGeom>
          <a:solidFill>
            <a:srgbClr val="5F6B7A">
              <a:alpha val="14901"/>
            </a:srgbClr>
          </a:solidFill>
          <a:ln cap="flat" cmpd="sng" w="25400">
            <a:solidFill>
              <a:srgbClr val="5F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4"/>
          <p:cNvSpPr/>
          <p:nvPr/>
        </p:nvSpPr>
        <p:spPr>
          <a:xfrm>
            <a:off x="6396144" y="1392868"/>
            <a:ext cx="423150" cy="423150"/>
          </a:xfrm>
          <a:custGeom>
            <a:rect b="b" l="l" r="r" t="t"/>
            <a:pathLst>
              <a:path extrusionOk="0" h="423150" w="423150">
                <a:moveTo>
                  <a:pt x="70526" y="0"/>
                </a:moveTo>
                <a:lnTo>
                  <a:pt x="352623" y="0"/>
                </a:lnTo>
                <a:cubicBezTo>
                  <a:pt x="391548" y="0"/>
                  <a:pt x="423150" y="31602"/>
                  <a:pt x="423150" y="70526"/>
                </a:cubicBezTo>
                <a:lnTo>
                  <a:pt x="423150" y="352623"/>
                </a:lnTo>
                <a:cubicBezTo>
                  <a:pt x="423150" y="391574"/>
                  <a:pt x="391574" y="423150"/>
                  <a:pt x="352623" y="423150"/>
                </a:cubicBezTo>
                <a:lnTo>
                  <a:pt x="70526" y="423150"/>
                </a:lnTo>
                <a:cubicBezTo>
                  <a:pt x="31602" y="423150"/>
                  <a:pt x="0" y="391548"/>
                  <a:pt x="0" y="352623"/>
                </a:cubicBezTo>
                <a:lnTo>
                  <a:pt x="0" y="70526"/>
                </a:lnTo>
                <a:cubicBezTo>
                  <a:pt x="0" y="31602"/>
                  <a:pt x="31602" y="0"/>
                  <a:pt x="70526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4"/>
          <p:cNvSpPr/>
          <p:nvPr/>
        </p:nvSpPr>
        <p:spPr>
          <a:xfrm>
            <a:off x="6519563" y="1516286"/>
            <a:ext cx="176312" cy="176312"/>
          </a:xfrm>
          <a:custGeom>
            <a:rect b="b" l="l" r="r" t="t"/>
            <a:pathLst>
              <a:path extrusionOk="0" h="176312" w="176312">
                <a:moveTo>
                  <a:pt x="88156" y="176312"/>
                </a:moveTo>
                <a:cubicBezTo>
                  <a:pt x="136811" y="176312"/>
                  <a:pt x="176312" y="136811"/>
                  <a:pt x="176312" y="88156"/>
                </a:cubicBezTo>
                <a:cubicBezTo>
                  <a:pt x="176312" y="39501"/>
                  <a:pt x="136811" y="0"/>
                  <a:pt x="88156" y="0"/>
                </a:cubicBezTo>
                <a:cubicBezTo>
                  <a:pt x="39501" y="0"/>
                  <a:pt x="0" y="39501"/>
                  <a:pt x="0" y="88156"/>
                </a:cubicBezTo>
                <a:cubicBezTo>
                  <a:pt x="0" y="136811"/>
                  <a:pt x="39501" y="176312"/>
                  <a:pt x="88156" y="176312"/>
                </a:cubicBezTo>
                <a:close/>
                <a:moveTo>
                  <a:pt x="57852" y="79892"/>
                </a:moveTo>
                <a:lnTo>
                  <a:pt x="118460" y="79892"/>
                </a:lnTo>
                <a:cubicBezTo>
                  <a:pt x="123040" y="79892"/>
                  <a:pt x="126725" y="83576"/>
                  <a:pt x="126725" y="88156"/>
                </a:cubicBezTo>
                <a:cubicBezTo>
                  <a:pt x="126725" y="92736"/>
                  <a:pt x="123040" y="96421"/>
                  <a:pt x="118460" y="96421"/>
                </a:cubicBezTo>
                <a:lnTo>
                  <a:pt x="57852" y="96421"/>
                </a:lnTo>
                <a:cubicBezTo>
                  <a:pt x="53273" y="96421"/>
                  <a:pt x="49588" y="92736"/>
                  <a:pt x="49588" y="88156"/>
                </a:cubicBezTo>
                <a:cubicBezTo>
                  <a:pt x="49588" y="83576"/>
                  <a:pt x="53273" y="79892"/>
                  <a:pt x="57852" y="7989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4"/>
          <p:cNvSpPr/>
          <p:nvPr/>
        </p:nvSpPr>
        <p:spPr>
          <a:xfrm>
            <a:off x="6925081" y="1463393"/>
            <a:ext cx="1146030" cy="28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Limitations</a:t>
            </a:r>
            <a:endParaRPr b="0" i="0" sz="1600" u="none" cap="none" strike="noStrike"/>
          </a:p>
        </p:txBody>
      </p:sp>
      <p:sp>
        <p:nvSpPr>
          <p:cNvPr id="525" name="Google Shape;525;p14"/>
          <p:cNvSpPr/>
          <p:nvPr/>
        </p:nvSpPr>
        <p:spPr>
          <a:xfrm>
            <a:off x="6413775" y="1957067"/>
            <a:ext cx="5236477" cy="634725"/>
          </a:xfrm>
          <a:custGeom>
            <a:rect b="b" l="l" r="r" t="t"/>
            <a:pathLst>
              <a:path extrusionOk="0" h="634725" w="5236477">
                <a:moveTo>
                  <a:pt x="35262" y="0"/>
                </a:moveTo>
                <a:lnTo>
                  <a:pt x="5165953" y="0"/>
                </a:lnTo>
                <a:cubicBezTo>
                  <a:pt x="5204902" y="0"/>
                  <a:pt x="5236477" y="31575"/>
                  <a:pt x="5236477" y="70524"/>
                </a:cubicBezTo>
                <a:lnTo>
                  <a:pt x="5236477" y="564200"/>
                </a:lnTo>
                <a:cubicBezTo>
                  <a:pt x="5236477" y="603150"/>
                  <a:pt x="5204902" y="634725"/>
                  <a:pt x="51659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4"/>
          <p:cNvSpPr/>
          <p:nvPr/>
        </p:nvSpPr>
        <p:spPr>
          <a:xfrm>
            <a:off x="6413775" y="1957067"/>
            <a:ext cx="35262" cy="634725"/>
          </a:xfrm>
          <a:custGeom>
            <a:rect b="b" l="l" r="r" t="t"/>
            <a:pathLst>
              <a:path extrusionOk="0" h="634725" w="35262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4"/>
          <p:cNvSpPr/>
          <p:nvPr/>
        </p:nvSpPr>
        <p:spPr>
          <a:xfrm>
            <a:off x="6554825" y="2098117"/>
            <a:ext cx="141050" cy="141050"/>
          </a:xfrm>
          <a:custGeom>
            <a:rect b="b" l="l" r="r" t="t"/>
            <a:pathLst>
              <a:path extrusionOk="0" h="141050" w="141050">
                <a:moveTo>
                  <a:pt x="61709" y="0"/>
                </a:moveTo>
                <a:cubicBezTo>
                  <a:pt x="71434" y="0"/>
                  <a:pt x="79341" y="5923"/>
                  <a:pt x="79341" y="13223"/>
                </a:cubicBezTo>
                <a:cubicBezTo>
                  <a:pt x="79341" y="16089"/>
                  <a:pt x="78128" y="18733"/>
                  <a:pt x="76035" y="20910"/>
                </a:cubicBezTo>
                <a:cubicBezTo>
                  <a:pt x="74216" y="22810"/>
                  <a:pt x="72729" y="25125"/>
                  <a:pt x="72729" y="27769"/>
                </a:cubicBezTo>
                <a:cubicBezTo>
                  <a:pt x="72729" y="31902"/>
                  <a:pt x="76090" y="35262"/>
                  <a:pt x="80222" y="35262"/>
                </a:cubicBezTo>
                <a:lnTo>
                  <a:pt x="92564" y="35262"/>
                </a:lnTo>
                <a:cubicBezTo>
                  <a:pt x="99864" y="35262"/>
                  <a:pt x="105787" y="41185"/>
                  <a:pt x="105787" y="48486"/>
                </a:cubicBezTo>
                <a:lnTo>
                  <a:pt x="105787" y="60828"/>
                </a:lnTo>
                <a:cubicBezTo>
                  <a:pt x="105787" y="64960"/>
                  <a:pt x="109148" y="68321"/>
                  <a:pt x="113281" y="68321"/>
                </a:cubicBezTo>
                <a:cubicBezTo>
                  <a:pt x="115898" y="68321"/>
                  <a:pt x="118239" y="66833"/>
                  <a:pt x="120140" y="65015"/>
                </a:cubicBezTo>
                <a:cubicBezTo>
                  <a:pt x="122317" y="62949"/>
                  <a:pt x="124961" y="61709"/>
                  <a:pt x="127826" y="61709"/>
                </a:cubicBezTo>
                <a:cubicBezTo>
                  <a:pt x="135127" y="61709"/>
                  <a:pt x="141050" y="69616"/>
                  <a:pt x="141050" y="79341"/>
                </a:cubicBezTo>
                <a:cubicBezTo>
                  <a:pt x="141050" y="89065"/>
                  <a:pt x="135127" y="96972"/>
                  <a:pt x="127826" y="96972"/>
                </a:cubicBezTo>
                <a:cubicBezTo>
                  <a:pt x="124961" y="96972"/>
                  <a:pt x="122289" y="95760"/>
                  <a:pt x="120140" y="93666"/>
                </a:cubicBezTo>
                <a:cubicBezTo>
                  <a:pt x="118239" y="91848"/>
                  <a:pt x="115925" y="90360"/>
                  <a:pt x="113281" y="90360"/>
                </a:cubicBezTo>
                <a:cubicBezTo>
                  <a:pt x="109148" y="90360"/>
                  <a:pt x="105787" y="93721"/>
                  <a:pt x="105787" y="97853"/>
                </a:cubicBezTo>
                <a:lnTo>
                  <a:pt x="105787" y="127826"/>
                </a:lnTo>
                <a:cubicBezTo>
                  <a:pt x="105787" y="135127"/>
                  <a:pt x="99864" y="141050"/>
                  <a:pt x="92564" y="141050"/>
                </a:cubicBezTo>
                <a:lnTo>
                  <a:pt x="76916" y="141050"/>
                </a:lnTo>
                <a:cubicBezTo>
                  <a:pt x="73390" y="141050"/>
                  <a:pt x="70525" y="138185"/>
                  <a:pt x="70525" y="134659"/>
                </a:cubicBezTo>
                <a:cubicBezTo>
                  <a:pt x="70525" y="132124"/>
                  <a:pt x="72123" y="129893"/>
                  <a:pt x="74161" y="128377"/>
                </a:cubicBezTo>
                <a:cubicBezTo>
                  <a:pt x="77357" y="125981"/>
                  <a:pt x="79341" y="122675"/>
                  <a:pt x="79341" y="119011"/>
                </a:cubicBezTo>
                <a:cubicBezTo>
                  <a:pt x="79341" y="111710"/>
                  <a:pt x="71434" y="105787"/>
                  <a:pt x="61709" y="105787"/>
                </a:cubicBezTo>
                <a:cubicBezTo>
                  <a:pt x="51985" y="105787"/>
                  <a:pt x="44078" y="111710"/>
                  <a:pt x="44078" y="119011"/>
                </a:cubicBezTo>
                <a:cubicBezTo>
                  <a:pt x="44078" y="122675"/>
                  <a:pt x="46062" y="125981"/>
                  <a:pt x="49257" y="128377"/>
                </a:cubicBezTo>
                <a:cubicBezTo>
                  <a:pt x="51296" y="129893"/>
                  <a:pt x="52894" y="132097"/>
                  <a:pt x="52894" y="134659"/>
                </a:cubicBezTo>
                <a:cubicBezTo>
                  <a:pt x="52894" y="138185"/>
                  <a:pt x="50029" y="141050"/>
                  <a:pt x="46502" y="141050"/>
                </a:cubicBezTo>
                <a:lnTo>
                  <a:pt x="13223" y="141050"/>
                </a:lnTo>
                <a:cubicBezTo>
                  <a:pt x="5923" y="141050"/>
                  <a:pt x="0" y="135127"/>
                  <a:pt x="0" y="127826"/>
                </a:cubicBezTo>
                <a:lnTo>
                  <a:pt x="0" y="94548"/>
                </a:lnTo>
                <a:cubicBezTo>
                  <a:pt x="0" y="91021"/>
                  <a:pt x="2865" y="88156"/>
                  <a:pt x="6391" y="88156"/>
                </a:cubicBezTo>
                <a:cubicBezTo>
                  <a:pt x="8926" y="88156"/>
                  <a:pt x="11157" y="89754"/>
                  <a:pt x="12672" y="91793"/>
                </a:cubicBezTo>
                <a:cubicBezTo>
                  <a:pt x="15069" y="94988"/>
                  <a:pt x="18375" y="96972"/>
                  <a:pt x="22039" y="96972"/>
                </a:cubicBezTo>
                <a:cubicBezTo>
                  <a:pt x="29339" y="96972"/>
                  <a:pt x="35262" y="89065"/>
                  <a:pt x="35262" y="79341"/>
                </a:cubicBezTo>
                <a:cubicBezTo>
                  <a:pt x="35262" y="69616"/>
                  <a:pt x="29339" y="61709"/>
                  <a:pt x="22039" y="61709"/>
                </a:cubicBezTo>
                <a:cubicBezTo>
                  <a:pt x="18375" y="61709"/>
                  <a:pt x="15069" y="63693"/>
                  <a:pt x="12672" y="66889"/>
                </a:cubicBezTo>
                <a:cubicBezTo>
                  <a:pt x="11157" y="68927"/>
                  <a:pt x="8953" y="70525"/>
                  <a:pt x="6391" y="70525"/>
                </a:cubicBezTo>
                <a:cubicBezTo>
                  <a:pt x="2865" y="70525"/>
                  <a:pt x="0" y="67660"/>
                  <a:pt x="0" y="64134"/>
                </a:cubicBezTo>
                <a:lnTo>
                  <a:pt x="0" y="48486"/>
                </a:lnTo>
                <a:cubicBezTo>
                  <a:pt x="0" y="41185"/>
                  <a:pt x="5923" y="35262"/>
                  <a:pt x="13223" y="35262"/>
                </a:cubicBezTo>
                <a:lnTo>
                  <a:pt x="43197" y="35262"/>
                </a:lnTo>
                <a:cubicBezTo>
                  <a:pt x="47329" y="35262"/>
                  <a:pt x="50690" y="31902"/>
                  <a:pt x="50690" y="27769"/>
                </a:cubicBezTo>
                <a:cubicBezTo>
                  <a:pt x="50690" y="25152"/>
                  <a:pt x="49202" y="22810"/>
                  <a:pt x="47384" y="20910"/>
                </a:cubicBezTo>
                <a:cubicBezTo>
                  <a:pt x="45318" y="18733"/>
                  <a:pt x="44078" y="16089"/>
                  <a:pt x="44078" y="13223"/>
                </a:cubicBezTo>
                <a:cubicBezTo>
                  <a:pt x="44078" y="5923"/>
                  <a:pt x="51985" y="0"/>
                  <a:pt x="61709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4"/>
          <p:cNvSpPr/>
          <p:nvPr/>
        </p:nvSpPr>
        <p:spPr>
          <a:xfrm>
            <a:off x="6819294" y="2062855"/>
            <a:ext cx="3023757" cy="21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Complex Deployment</a:t>
            </a:r>
            <a:endParaRPr b="0" i="0" sz="1600" u="none" cap="none" strike="noStrike"/>
          </a:p>
        </p:txBody>
      </p:sp>
      <p:sp>
        <p:nvSpPr>
          <p:cNvPr id="529" name="Google Shape;529;p14"/>
          <p:cNvSpPr/>
          <p:nvPr/>
        </p:nvSpPr>
        <p:spPr>
          <a:xfrm>
            <a:off x="6819294" y="2309692"/>
            <a:ext cx="3014941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Requires careful planning of zones, IDS, and SIEM setup</a:t>
            </a:r>
            <a:endParaRPr b="0" i="0" sz="1600" u="none" cap="none" strike="noStrike"/>
          </a:p>
        </p:txBody>
      </p:sp>
      <p:sp>
        <p:nvSpPr>
          <p:cNvPr id="530" name="Google Shape;530;p14"/>
          <p:cNvSpPr/>
          <p:nvPr/>
        </p:nvSpPr>
        <p:spPr>
          <a:xfrm>
            <a:off x="6413775" y="2697579"/>
            <a:ext cx="5236477" cy="634725"/>
          </a:xfrm>
          <a:custGeom>
            <a:rect b="b" l="l" r="r" t="t"/>
            <a:pathLst>
              <a:path extrusionOk="0" h="634725" w="5236477">
                <a:moveTo>
                  <a:pt x="35262" y="0"/>
                </a:moveTo>
                <a:lnTo>
                  <a:pt x="5165953" y="0"/>
                </a:lnTo>
                <a:cubicBezTo>
                  <a:pt x="5204902" y="0"/>
                  <a:pt x="5236477" y="31575"/>
                  <a:pt x="5236477" y="70524"/>
                </a:cubicBezTo>
                <a:lnTo>
                  <a:pt x="5236477" y="564200"/>
                </a:lnTo>
                <a:cubicBezTo>
                  <a:pt x="5236477" y="603150"/>
                  <a:pt x="5204902" y="634725"/>
                  <a:pt x="51659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4"/>
          <p:cNvSpPr/>
          <p:nvPr/>
        </p:nvSpPr>
        <p:spPr>
          <a:xfrm>
            <a:off x="6413775" y="2697579"/>
            <a:ext cx="35262" cy="634725"/>
          </a:xfrm>
          <a:custGeom>
            <a:rect b="b" l="l" r="r" t="t"/>
            <a:pathLst>
              <a:path extrusionOk="0" h="634725" w="35262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4"/>
          <p:cNvSpPr/>
          <p:nvPr/>
        </p:nvSpPr>
        <p:spPr>
          <a:xfrm>
            <a:off x="6554825" y="2838629"/>
            <a:ext cx="141050" cy="141050"/>
          </a:xfrm>
          <a:custGeom>
            <a:rect b="b" l="l" r="r" t="t"/>
            <a:pathLst>
              <a:path extrusionOk="0" h="141050" w="141050">
                <a:moveTo>
                  <a:pt x="48486" y="6612"/>
                </a:moveTo>
                <a:cubicBezTo>
                  <a:pt x="48486" y="2948"/>
                  <a:pt x="45538" y="0"/>
                  <a:pt x="41874" y="0"/>
                </a:cubicBezTo>
                <a:cubicBezTo>
                  <a:pt x="38210" y="0"/>
                  <a:pt x="35262" y="2948"/>
                  <a:pt x="35262" y="6612"/>
                </a:cubicBezTo>
                <a:lnTo>
                  <a:pt x="35262" y="17631"/>
                </a:lnTo>
                <a:cubicBezTo>
                  <a:pt x="25538" y="17631"/>
                  <a:pt x="17631" y="25538"/>
                  <a:pt x="17631" y="35262"/>
                </a:cubicBezTo>
                <a:lnTo>
                  <a:pt x="6612" y="35262"/>
                </a:lnTo>
                <a:cubicBezTo>
                  <a:pt x="2948" y="35262"/>
                  <a:pt x="0" y="38210"/>
                  <a:pt x="0" y="41874"/>
                </a:cubicBezTo>
                <a:cubicBezTo>
                  <a:pt x="0" y="45538"/>
                  <a:pt x="2948" y="48486"/>
                  <a:pt x="6612" y="48486"/>
                </a:cubicBezTo>
                <a:lnTo>
                  <a:pt x="17631" y="48486"/>
                </a:lnTo>
                <a:lnTo>
                  <a:pt x="17631" y="63913"/>
                </a:lnTo>
                <a:lnTo>
                  <a:pt x="6612" y="63913"/>
                </a:lnTo>
                <a:cubicBezTo>
                  <a:pt x="2948" y="63913"/>
                  <a:pt x="0" y="66861"/>
                  <a:pt x="0" y="70525"/>
                </a:cubicBezTo>
                <a:cubicBezTo>
                  <a:pt x="0" y="74189"/>
                  <a:pt x="2948" y="77137"/>
                  <a:pt x="6612" y="77137"/>
                </a:cubicBezTo>
                <a:lnTo>
                  <a:pt x="17631" y="77137"/>
                </a:lnTo>
                <a:lnTo>
                  <a:pt x="17631" y="92564"/>
                </a:lnTo>
                <a:lnTo>
                  <a:pt x="6612" y="92564"/>
                </a:lnTo>
                <a:cubicBezTo>
                  <a:pt x="2948" y="92564"/>
                  <a:pt x="0" y="95512"/>
                  <a:pt x="0" y="99176"/>
                </a:cubicBezTo>
                <a:cubicBezTo>
                  <a:pt x="0" y="102840"/>
                  <a:pt x="2948" y="105787"/>
                  <a:pt x="6612" y="105787"/>
                </a:cubicBezTo>
                <a:lnTo>
                  <a:pt x="17631" y="105787"/>
                </a:lnTo>
                <a:cubicBezTo>
                  <a:pt x="17631" y="115512"/>
                  <a:pt x="25538" y="123419"/>
                  <a:pt x="35262" y="123419"/>
                </a:cubicBezTo>
                <a:lnTo>
                  <a:pt x="35262" y="134438"/>
                </a:lnTo>
                <a:cubicBezTo>
                  <a:pt x="35262" y="138102"/>
                  <a:pt x="38210" y="141050"/>
                  <a:pt x="41874" y="141050"/>
                </a:cubicBezTo>
                <a:cubicBezTo>
                  <a:pt x="45538" y="141050"/>
                  <a:pt x="48486" y="138102"/>
                  <a:pt x="48486" y="134438"/>
                </a:cubicBezTo>
                <a:lnTo>
                  <a:pt x="48486" y="123419"/>
                </a:lnTo>
                <a:lnTo>
                  <a:pt x="63913" y="123419"/>
                </a:lnTo>
                <a:lnTo>
                  <a:pt x="63913" y="134438"/>
                </a:lnTo>
                <a:cubicBezTo>
                  <a:pt x="63913" y="138102"/>
                  <a:pt x="66861" y="141050"/>
                  <a:pt x="70525" y="141050"/>
                </a:cubicBezTo>
                <a:cubicBezTo>
                  <a:pt x="74189" y="141050"/>
                  <a:pt x="77137" y="138102"/>
                  <a:pt x="77137" y="134438"/>
                </a:cubicBezTo>
                <a:lnTo>
                  <a:pt x="77137" y="123419"/>
                </a:lnTo>
                <a:lnTo>
                  <a:pt x="92564" y="123419"/>
                </a:lnTo>
                <a:lnTo>
                  <a:pt x="92564" y="134438"/>
                </a:lnTo>
                <a:cubicBezTo>
                  <a:pt x="92564" y="138102"/>
                  <a:pt x="95512" y="141050"/>
                  <a:pt x="99176" y="141050"/>
                </a:cubicBezTo>
                <a:cubicBezTo>
                  <a:pt x="102840" y="141050"/>
                  <a:pt x="105787" y="138102"/>
                  <a:pt x="105787" y="134438"/>
                </a:cubicBezTo>
                <a:lnTo>
                  <a:pt x="105787" y="123419"/>
                </a:lnTo>
                <a:cubicBezTo>
                  <a:pt x="115512" y="123419"/>
                  <a:pt x="123419" y="115512"/>
                  <a:pt x="123419" y="105787"/>
                </a:cubicBezTo>
                <a:lnTo>
                  <a:pt x="134438" y="105787"/>
                </a:lnTo>
                <a:cubicBezTo>
                  <a:pt x="138102" y="105787"/>
                  <a:pt x="141050" y="102840"/>
                  <a:pt x="141050" y="99176"/>
                </a:cubicBezTo>
                <a:cubicBezTo>
                  <a:pt x="141050" y="95512"/>
                  <a:pt x="138102" y="92564"/>
                  <a:pt x="134438" y="92564"/>
                </a:cubicBezTo>
                <a:lnTo>
                  <a:pt x="123419" y="92564"/>
                </a:lnTo>
                <a:lnTo>
                  <a:pt x="123419" y="77137"/>
                </a:lnTo>
                <a:lnTo>
                  <a:pt x="134438" y="77137"/>
                </a:lnTo>
                <a:cubicBezTo>
                  <a:pt x="138102" y="77137"/>
                  <a:pt x="141050" y="74189"/>
                  <a:pt x="141050" y="70525"/>
                </a:cubicBezTo>
                <a:cubicBezTo>
                  <a:pt x="141050" y="66861"/>
                  <a:pt x="138102" y="63913"/>
                  <a:pt x="134438" y="63913"/>
                </a:cubicBezTo>
                <a:lnTo>
                  <a:pt x="123419" y="63913"/>
                </a:lnTo>
                <a:lnTo>
                  <a:pt x="123419" y="48486"/>
                </a:lnTo>
                <a:lnTo>
                  <a:pt x="134438" y="48486"/>
                </a:lnTo>
                <a:cubicBezTo>
                  <a:pt x="138102" y="48486"/>
                  <a:pt x="141050" y="45538"/>
                  <a:pt x="141050" y="41874"/>
                </a:cubicBezTo>
                <a:cubicBezTo>
                  <a:pt x="141050" y="38210"/>
                  <a:pt x="138102" y="35262"/>
                  <a:pt x="134438" y="35262"/>
                </a:cubicBezTo>
                <a:lnTo>
                  <a:pt x="123419" y="35262"/>
                </a:lnTo>
                <a:cubicBezTo>
                  <a:pt x="123419" y="25538"/>
                  <a:pt x="115512" y="17631"/>
                  <a:pt x="105787" y="17631"/>
                </a:cubicBezTo>
                <a:lnTo>
                  <a:pt x="105787" y="6612"/>
                </a:lnTo>
                <a:cubicBezTo>
                  <a:pt x="105787" y="2948"/>
                  <a:pt x="102840" y="0"/>
                  <a:pt x="99176" y="0"/>
                </a:cubicBezTo>
                <a:cubicBezTo>
                  <a:pt x="95512" y="0"/>
                  <a:pt x="92564" y="2948"/>
                  <a:pt x="92564" y="6612"/>
                </a:cubicBezTo>
                <a:lnTo>
                  <a:pt x="92564" y="17631"/>
                </a:lnTo>
                <a:lnTo>
                  <a:pt x="77137" y="17631"/>
                </a:lnTo>
                <a:lnTo>
                  <a:pt x="77137" y="6612"/>
                </a:lnTo>
                <a:cubicBezTo>
                  <a:pt x="77137" y="2948"/>
                  <a:pt x="74189" y="0"/>
                  <a:pt x="70525" y="0"/>
                </a:cubicBezTo>
                <a:cubicBezTo>
                  <a:pt x="66861" y="0"/>
                  <a:pt x="63913" y="2948"/>
                  <a:pt x="63913" y="6612"/>
                </a:cubicBezTo>
                <a:lnTo>
                  <a:pt x="63913" y="17631"/>
                </a:lnTo>
                <a:lnTo>
                  <a:pt x="48486" y="17631"/>
                </a:lnTo>
                <a:lnTo>
                  <a:pt x="48486" y="6612"/>
                </a:lnTo>
                <a:close/>
                <a:moveTo>
                  <a:pt x="44078" y="35262"/>
                </a:moveTo>
                <a:lnTo>
                  <a:pt x="96972" y="35262"/>
                </a:lnTo>
                <a:cubicBezTo>
                  <a:pt x="101848" y="35262"/>
                  <a:pt x="105787" y="39202"/>
                  <a:pt x="105787" y="44078"/>
                </a:cubicBezTo>
                <a:lnTo>
                  <a:pt x="105787" y="96972"/>
                </a:lnTo>
                <a:cubicBezTo>
                  <a:pt x="105787" y="101848"/>
                  <a:pt x="101848" y="105787"/>
                  <a:pt x="96972" y="105787"/>
                </a:cubicBezTo>
                <a:lnTo>
                  <a:pt x="44078" y="105787"/>
                </a:lnTo>
                <a:cubicBezTo>
                  <a:pt x="39202" y="105787"/>
                  <a:pt x="35262" y="101848"/>
                  <a:pt x="35262" y="96972"/>
                </a:cubicBezTo>
                <a:lnTo>
                  <a:pt x="35262" y="44078"/>
                </a:lnTo>
                <a:cubicBezTo>
                  <a:pt x="35262" y="39202"/>
                  <a:pt x="39202" y="35262"/>
                  <a:pt x="44078" y="35262"/>
                </a:cubicBezTo>
                <a:close/>
                <a:moveTo>
                  <a:pt x="48486" y="48486"/>
                </a:moveTo>
                <a:lnTo>
                  <a:pt x="48486" y="92564"/>
                </a:lnTo>
                <a:lnTo>
                  <a:pt x="92564" y="92564"/>
                </a:lnTo>
                <a:lnTo>
                  <a:pt x="92564" y="48486"/>
                </a:lnTo>
                <a:lnTo>
                  <a:pt x="48486" y="48486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4"/>
          <p:cNvSpPr/>
          <p:nvPr/>
        </p:nvSpPr>
        <p:spPr>
          <a:xfrm>
            <a:off x="6819294" y="2803367"/>
            <a:ext cx="3349935" cy="21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Resource Usage</a:t>
            </a:r>
            <a:endParaRPr b="0" i="0" sz="1600" u="none" cap="none" strike="noStrike"/>
          </a:p>
        </p:txBody>
      </p:sp>
      <p:sp>
        <p:nvSpPr>
          <p:cNvPr id="534" name="Google Shape;534;p14"/>
          <p:cNvSpPr/>
          <p:nvPr/>
        </p:nvSpPr>
        <p:spPr>
          <a:xfrm>
            <a:off x="6819294" y="3050204"/>
            <a:ext cx="3341119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Multiple VMs and packet inspection need more CPU and RAM</a:t>
            </a:r>
            <a:endParaRPr b="0" i="0" sz="1600" u="none" cap="none" strike="noStrike"/>
          </a:p>
        </p:txBody>
      </p:sp>
      <p:sp>
        <p:nvSpPr>
          <p:cNvPr id="535" name="Google Shape;535;p14"/>
          <p:cNvSpPr/>
          <p:nvPr/>
        </p:nvSpPr>
        <p:spPr>
          <a:xfrm>
            <a:off x="6413775" y="3438091"/>
            <a:ext cx="5236477" cy="634725"/>
          </a:xfrm>
          <a:custGeom>
            <a:rect b="b" l="l" r="r" t="t"/>
            <a:pathLst>
              <a:path extrusionOk="0" h="634725" w="5236477">
                <a:moveTo>
                  <a:pt x="35262" y="0"/>
                </a:moveTo>
                <a:lnTo>
                  <a:pt x="5165953" y="0"/>
                </a:lnTo>
                <a:cubicBezTo>
                  <a:pt x="5204902" y="0"/>
                  <a:pt x="5236477" y="31575"/>
                  <a:pt x="5236477" y="70524"/>
                </a:cubicBezTo>
                <a:lnTo>
                  <a:pt x="5236477" y="564200"/>
                </a:lnTo>
                <a:cubicBezTo>
                  <a:pt x="5236477" y="603150"/>
                  <a:pt x="5204902" y="634725"/>
                  <a:pt x="51659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4"/>
          <p:cNvSpPr/>
          <p:nvPr/>
        </p:nvSpPr>
        <p:spPr>
          <a:xfrm>
            <a:off x="6413775" y="3438091"/>
            <a:ext cx="35262" cy="634725"/>
          </a:xfrm>
          <a:custGeom>
            <a:rect b="b" l="l" r="r" t="t"/>
            <a:pathLst>
              <a:path extrusionOk="0" h="634725" w="35262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4"/>
          <p:cNvSpPr/>
          <p:nvPr/>
        </p:nvSpPr>
        <p:spPr>
          <a:xfrm>
            <a:off x="6554825" y="3579141"/>
            <a:ext cx="141050" cy="141050"/>
          </a:xfrm>
          <a:custGeom>
            <a:rect b="b" l="l" r="r" t="t"/>
            <a:pathLst>
              <a:path extrusionOk="0" h="141050" w="141050">
                <a:moveTo>
                  <a:pt x="8816" y="17631"/>
                </a:moveTo>
                <a:cubicBezTo>
                  <a:pt x="3939" y="17631"/>
                  <a:pt x="0" y="21571"/>
                  <a:pt x="0" y="26447"/>
                </a:cubicBezTo>
                <a:cubicBezTo>
                  <a:pt x="0" y="31323"/>
                  <a:pt x="3939" y="35262"/>
                  <a:pt x="8816" y="35262"/>
                </a:cubicBezTo>
                <a:lnTo>
                  <a:pt x="32700" y="35262"/>
                </a:lnTo>
                <a:cubicBezTo>
                  <a:pt x="36089" y="43059"/>
                  <a:pt x="43858" y="48486"/>
                  <a:pt x="52894" y="48486"/>
                </a:cubicBezTo>
                <a:cubicBezTo>
                  <a:pt x="61930" y="48486"/>
                  <a:pt x="69698" y="43059"/>
                  <a:pt x="73087" y="35262"/>
                </a:cubicBezTo>
                <a:lnTo>
                  <a:pt x="132234" y="35262"/>
                </a:lnTo>
                <a:cubicBezTo>
                  <a:pt x="137110" y="35262"/>
                  <a:pt x="141050" y="31323"/>
                  <a:pt x="141050" y="26447"/>
                </a:cubicBezTo>
                <a:cubicBezTo>
                  <a:pt x="141050" y="21571"/>
                  <a:pt x="137110" y="17631"/>
                  <a:pt x="132234" y="17631"/>
                </a:cubicBezTo>
                <a:lnTo>
                  <a:pt x="73087" y="17631"/>
                </a:lnTo>
                <a:cubicBezTo>
                  <a:pt x="69698" y="9835"/>
                  <a:pt x="61930" y="4408"/>
                  <a:pt x="52894" y="4408"/>
                </a:cubicBezTo>
                <a:cubicBezTo>
                  <a:pt x="43858" y="4408"/>
                  <a:pt x="36089" y="9835"/>
                  <a:pt x="32700" y="17631"/>
                </a:cubicBezTo>
                <a:lnTo>
                  <a:pt x="8816" y="17631"/>
                </a:lnTo>
                <a:close/>
                <a:moveTo>
                  <a:pt x="8816" y="61709"/>
                </a:moveTo>
                <a:cubicBezTo>
                  <a:pt x="3939" y="61709"/>
                  <a:pt x="0" y="65649"/>
                  <a:pt x="0" y="70525"/>
                </a:cubicBezTo>
                <a:cubicBezTo>
                  <a:pt x="0" y="75401"/>
                  <a:pt x="3939" y="79341"/>
                  <a:pt x="8816" y="79341"/>
                </a:cubicBezTo>
                <a:lnTo>
                  <a:pt x="76779" y="79341"/>
                </a:lnTo>
                <a:cubicBezTo>
                  <a:pt x="80167" y="87137"/>
                  <a:pt x="87936" y="92564"/>
                  <a:pt x="96972" y="92564"/>
                </a:cubicBezTo>
                <a:cubicBezTo>
                  <a:pt x="106008" y="92564"/>
                  <a:pt x="113777" y="87137"/>
                  <a:pt x="117165" y="79341"/>
                </a:cubicBezTo>
                <a:lnTo>
                  <a:pt x="132234" y="79341"/>
                </a:lnTo>
                <a:cubicBezTo>
                  <a:pt x="137110" y="79341"/>
                  <a:pt x="141050" y="75401"/>
                  <a:pt x="141050" y="70525"/>
                </a:cubicBezTo>
                <a:cubicBezTo>
                  <a:pt x="141050" y="65649"/>
                  <a:pt x="137110" y="61709"/>
                  <a:pt x="132234" y="61709"/>
                </a:cubicBezTo>
                <a:lnTo>
                  <a:pt x="117165" y="61709"/>
                </a:lnTo>
                <a:cubicBezTo>
                  <a:pt x="113777" y="53913"/>
                  <a:pt x="106008" y="48486"/>
                  <a:pt x="96972" y="48486"/>
                </a:cubicBezTo>
                <a:cubicBezTo>
                  <a:pt x="87936" y="48486"/>
                  <a:pt x="80167" y="53913"/>
                  <a:pt x="76779" y="61709"/>
                </a:cubicBezTo>
                <a:lnTo>
                  <a:pt x="8816" y="61709"/>
                </a:lnTo>
                <a:close/>
                <a:moveTo>
                  <a:pt x="8816" y="105787"/>
                </a:moveTo>
                <a:cubicBezTo>
                  <a:pt x="3939" y="105787"/>
                  <a:pt x="0" y="109727"/>
                  <a:pt x="0" y="114603"/>
                </a:cubicBezTo>
                <a:cubicBezTo>
                  <a:pt x="0" y="119479"/>
                  <a:pt x="3939" y="123419"/>
                  <a:pt x="8816" y="123419"/>
                </a:cubicBezTo>
                <a:lnTo>
                  <a:pt x="23885" y="123419"/>
                </a:lnTo>
                <a:cubicBezTo>
                  <a:pt x="27273" y="131215"/>
                  <a:pt x="35042" y="136642"/>
                  <a:pt x="44078" y="136642"/>
                </a:cubicBezTo>
                <a:cubicBezTo>
                  <a:pt x="53114" y="136642"/>
                  <a:pt x="60883" y="131215"/>
                  <a:pt x="64271" y="123419"/>
                </a:cubicBezTo>
                <a:lnTo>
                  <a:pt x="132234" y="123419"/>
                </a:lnTo>
                <a:cubicBezTo>
                  <a:pt x="137110" y="123419"/>
                  <a:pt x="141050" y="119479"/>
                  <a:pt x="141050" y="114603"/>
                </a:cubicBezTo>
                <a:cubicBezTo>
                  <a:pt x="141050" y="109727"/>
                  <a:pt x="137110" y="105787"/>
                  <a:pt x="132234" y="105787"/>
                </a:cubicBezTo>
                <a:lnTo>
                  <a:pt x="64271" y="105787"/>
                </a:lnTo>
                <a:cubicBezTo>
                  <a:pt x="60883" y="97991"/>
                  <a:pt x="53114" y="92564"/>
                  <a:pt x="44078" y="92564"/>
                </a:cubicBezTo>
                <a:cubicBezTo>
                  <a:pt x="35042" y="92564"/>
                  <a:pt x="27273" y="97991"/>
                  <a:pt x="23885" y="105787"/>
                </a:cubicBezTo>
                <a:lnTo>
                  <a:pt x="8816" y="105787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4"/>
          <p:cNvSpPr/>
          <p:nvPr/>
        </p:nvSpPr>
        <p:spPr>
          <a:xfrm>
            <a:off x="6819294" y="3543879"/>
            <a:ext cx="2812182" cy="21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Rule Tuning Required</a:t>
            </a:r>
            <a:endParaRPr b="0" i="0" sz="1600" u="none" cap="none" strike="noStrike"/>
          </a:p>
        </p:txBody>
      </p:sp>
      <p:sp>
        <p:nvSpPr>
          <p:cNvPr id="539" name="Google Shape;539;p14"/>
          <p:cNvSpPr/>
          <p:nvPr/>
        </p:nvSpPr>
        <p:spPr>
          <a:xfrm>
            <a:off x="6819294" y="3790716"/>
            <a:ext cx="2803367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IDS and SIEM rules must be continuously optimized</a:t>
            </a:r>
            <a:endParaRPr b="0" i="0" sz="1600" u="none" cap="none" strike="noStrike"/>
          </a:p>
        </p:txBody>
      </p:sp>
      <p:sp>
        <p:nvSpPr>
          <p:cNvPr id="540" name="Google Shape;540;p14"/>
          <p:cNvSpPr/>
          <p:nvPr/>
        </p:nvSpPr>
        <p:spPr>
          <a:xfrm>
            <a:off x="6413775" y="4178603"/>
            <a:ext cx="5236477" cy="634725"/>
          </a:xfrm>
          <a:custGeom>
            <a:rect b="b" l="l" r="r" t="t"/>
            <a:pathLst>
              <a:path extrusionOk="0" h="634725" w="5236477">
                <a:moveTo>
                  <a:pt x="35262" y="0"/>
                </a:moveTo>
                <a:lnTo>
                  <a:pt x="5165953" y="0"/>
                </a:lnTo>
                <a:cubicBezTo>
                  <a:pt x="5204902" y="0"/>
                  <a:pt x="5236477" y="31575"/>
                  <a:pt x="5236477" y="70524"/>
                </a:cubicBezTo>
                <a:lnTo>
                  <a:pt x="5236477" y="564200"/>
                </a:lnTo>
                <a:cubicBezTo>
                  <a:pt x="5236477" y="603150"/>
                  <a:pt x="5204902" y="634725"/>
                  <a:pt x="51659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4"/>
          <p:cNvSpPr/>
          <p:nvPr/>
        </p:nvSpPr>
        <p:spPr>
          <a:xfrm>
            <a:off x="6413775" y="4178603"/>
            <a:ext cx="35262" cy="634725"/>
          </a:xfrm>
          <a:custGeom>
            <a:rect b="b" l="l" r="r" t="t"/>
            <a:pathLst>
              <a:path extrusionOk="0" h="634725" w="35262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4"/>
          <p:cNvSpPr/>
          <p:nvPr/>
        </p:nvSpPr>
        <p:spPr>
          <a:xfrm>
            <a:off x="6554825" y="4319653"/>
            <a:ext cx="141050" cy="141050"/>
          </a:xfrm>
          <a:custGeom>
            <a:rect b="b" l="l" r="r" t="t"/>
            <a:pathLst>
              <a:path extrusionOk="0" h="141050" w="141050">
                <a:moveTo>
                  <a:pt x="70525" y="141050"/>
                </a:moveTo>
                <a:cubicBezTo>
                  <a:pt x="109449" y="141050"/>
                  <a:pt x="141050" y="109449"/>
                  <a:pt x="141050" y="70525"/>
                </a:cubicBezTo>
                <a:cubicBezTo>
                  <a:pt x="141050" y="31601"/>
                  <a:pt x="109449" y="0"/>
                  <a:pt x="70525" y="0"/>
                </a:cubicBezTo>
                <a:cubicBezTo>
                  <a:pt x="31601" y="0"/>
                  <a:pt x="0" y="31601"/>
                  <a:pt x="0" y="70525"/>
                </a:cubicBezTo>
                <a:cubicBezTo>
                  <a:pt x="0" y="109449"/>
                  <a:pt x="31601" y="141050"/>
                  <a:pt x="70525" y="141050"/>
                </a:cubicBezTo>
                <a:close/>
                <a:moveTo>
                  <a:pt x="70525" y="37466"/>
                </a:moveTo>
                <a:cubicBezTo>
                  <a:pt x="74189" y="37466"/>
                  <a:pt x="77137" y="40414"/>
                  <a:pt x="77137" y="44078"/>
                </a:cubicBezTo>
                <a:lnTo>
                  <a:pt x="77137" y="74933"/>
                </a:lnTo>
                <a:cubicBezTo>
                  <a:pt x="77137" y="78597"/>
                  <a:pt x="74189" y="81544"/>
                  <a:pt x="70525" y="81544"/>
                </a:cubicBezTo>
                <a:cubicBezTo>
                  <a:pt x="66861" y="81544"/>
                  <a:pt x="63913" y="78597"/>
                  <a:pt x="63913" y="74933"/>
                </a:cubicBezTo>
                <a:lnTo>
                  <a:pt x="63913" y="44078"/>
                </a:lnTo>
                <a:cubicBezTo>
                  <a:pt x="63913" y="40414"/>
                  <a:pt x="66861" y="37466"/>
                  <a:pt x="70525" y="37466"/>
                </a:cubicBezTo>
                <a:close/>
                <a:moveTo>
                  <a:pt x="63169" y="96972"/>
                </a:moveTo>
                <a:cubicBezTo>
                  <a:pt x="63002" y="94242"/>
                  <a:pt x="64364" y="91644"/>
                  <a:pt x="66704" y="90228"/>
                </a:cubicBezTo>
                <a:cubicBezTo>
                  <a:pt x="69045" y="88812"/>
                  <a:pt x="71978" y="88812"/>
                  <a:pt x="74318" y="90228"/>
                </a:cubicBezTo>
                <a:cubicBezTo>
                  <a:pt x="76659" y="91644"/>
                  <a:pt x="78020" y="94242"/>
                  <a:pt x="77853" y="96972"/>
                </a:cubicBezTo>
                <a:cubicBezTo>
                  <a:pt x="78020" y="99702"/>
                  <a:pt x="76659" y="102300"/>
                  <a:pt x="74318" y="103715"/>
                </a:cubicBezTo>
                <a:cubicBezTo>
                  <a:pt x="71978" y="105131"/>
                  <a:pt x="69045" y="105131"/>
                  <a:pt x="66704" y="103715"/>
                </a:cubicBezTo>
                <a:cubicBezTo>
                  <a:pt x="64364" y="102300"/>
                  <a:pt x="63002" y="99702"/>
                  <a:pt x="63169" y="96972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4"/>
          <p:cNvSpPr/>
          <p:nvPr/>
        </p:nvSpPr>
        <p:spPr>
          <a:xfrm>
            <a:off x="6819294" y="4284390"/>
            <a:ext cx="3085466" cy="21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 Positives</a:t>
            </a:r>
            <a:endParaRPr b="0" i="0" sz="1600" u="none" cap="none" strike="noStrike"/>
          </a:p>
        </p:txBody>
      </p:sp>
      <p:sp>
        <p:nvSpPr>
          <p:cNvPr id="544" name="Google Shape;544;p14"/>
          <p:cNvSpPr/>
          <p:nvPr/>
        </p:nvSpPr>
        <p:spPr>
          <a:xfrm>
            <a:off x="6819294" y="4531228"/>
            <a:ext cx="3076651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Legitimate traffic may be incorrectly flagged as malicious</a:t>
            </a:r>
            <a:endParaRPr b="0" i="0" sz="1600" u="none" cap="none" strike="noStrike"/>
          </a:p>
        </p:txBody>
      </p:sp>
      <p:sp>
        <p:nvSpPr>
          <p:cNvPr id="545" name="Google Shape;545;p14"/>
          <p:cNvSpPr/>
          <p:nvPr/>
        </p:nvSpPr>
        <p:spPr>
          <a:xfrm>
            <a:off x="6413775" y="4919115"/>
            <a:ext cx="5236477" cy="634725"/>
          </a:xfrm>
          <a:custGeom>
            <a:rect b="b" l="l" r="r" t="t"/>
            <a:pathLst>
              <a:path extrusionOk="0" h="634725" w="5236477">
                <a:moveTo>
                  <a:pt x="35262" y="0"/>
                </a:moveTo>
                <a:lnTo>
                  <a:pt x="5165953" y="0"/>
                </a:lnTo>
                <a:cubicBezTo>
                  <a:pt x="5204902" y="0"/>
                  <a:pt x="5236477" y="31575"/>
                  <a:pt x="5236477" y="70524"/>
                </a:cubicBezTo>
                <a:lnTo>
                  <a:pt x="5236477" y="564200"/>
                </a:lnTo>
                <a:cubicBezTo>
                  <a:pt x="5236477" y="603150"/>
                  <a:pt x="5204902" y="634725"/>
                  <a:pt x="5165953" y="634725"/>
                </a:cubicBez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4"/>
          <p:cNvSpPr/>
          <p:nvPr/>
        </p:nvSpPr>
        <p:spPr>
          <a:xfrm>
            <a:off x="6413775" y="4919115"/>
            <a:ext cx="35262" cy="634725"/>
          </a:xfrm>
          <a:custGeom>
            <a:rect b="b" l="l" r="r" t="t"/>
            <a:pathLst>
              <a:path extrusionOk="0" h="634725" w="35262">
                <a:moveTo>
                  <a:pt x="35262" y="0"/>
                </a:moveTo>
                <a:lnTo>
                  <a:pt x="35262" y="0"/>
                </a:lnTo>
                <a:lnTo>
                  <a:pt x="35262" y="634725"/>
                </a:lnTo>
                <a:lnTo>
                  <a:pt x="35262" y="634725"/>
                </a:lnTo>
                <a:cubicBezTo>
                  <a:pt x="15788" y="634725"/>
                  <a:pt x="0" y="618937"/>
                  <a:pt x="0" y="599462"/>
                </a:cubicBezTo>
                <a:lnTo>
                  <a:pt x="0" y="35262"/>
                </a:lnTo>
                <a:cubicBezTo>
                  <a:pt x="0" y="15801"/>
                  <a:pt x="15801" y="0"/>
                  <a:pt x="35262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4"/>
          <p:cNvSpPr/>
          <p:nvPr/>
        </p:nvSpPr>
        <p:spPr>
          <a:xfrm>
            <a:off x="6546010" y="5060165"/>
            <a:ext cx="158681" cy="141050"/>
          </a:xfrm>
          <a:custGeom>
            <a:rect b="b" l="l" r="r" t="t"/>
            <a:pathLst>
              <a:path extrusionOk="0" h="141050" w="158681">
                <a:moveTo>
                  <a:pt x="61737" y="26750"/>
                </a:moveTo>
                <a:lnTo>
                  <a:pt x="61737" y="40414"/>
                </a:lnTo>
                <a:lnTo>
                  <a:pt x="61875" y="40552"/>
                </a:lnTo>
                <a:cubicBezTo>
                  <a:pt x="63665" y="17852"/>
                  <a:pt x="82646" y="0"/>
                  <a:pt x="105815" y="0"/>
                </a:cubicBezTo>
                <a:cubicBezTo>
                  <a:pt x="111352" y="0"/>
                  <a:pt x="116669" y="1019"/>
                  <a:pt x="121545" y="2893"/>
                </a:cubicBezTo>
                <a:cubicBezTo>
                  <a:pt x="124300" y="3939"/>
                  <a:pt x="124796" y="7438"/>
                  <a:pt x="122730" y="9532"/>
                </a:cubicBezTo>
                <a:lnTo>
                  <a:pt x="98294" y="33968"/>
                </a:lnTo>
                <a:cubicBezTo>
                  <a:pt x="97468" y="34794"/>
                  <a:pt x="96999" y="35924"/>
                  <a:pt x="96999" y="37081"/>
                </a:cubicBezTo>
                <a:lnTo>
                  <a:pt x="96999" y="48486"/>
                </a:lnTo>
                <a:cubicBezTo>
                  <a:pt x="96999" y="50910"/>
                  <a:pt x="98983" y="52894"/>
                  <a:pt x="101407" y="52894"/>
                </a:cubicBezTo>
                <a:lnTo>
                  <a:pt x="112812" y="52894"/>
                </a:lnTo>
                <a:cubicBezTo>
                  <a:pt x="113969" y="52894"/>
                  <a:pt x="115099" y="52425"/>
                  <a:pt x="115925" y="51599"/>
                </a:cubicBezTo>
                <a:lnTo>
                  <a:pt x="140361" y="27163"/>
                </a:lnTo>
                <a:cubicBezTo>
                  <a:pt x="142455" y="25069"/>
                  <a:pt x="145954" y="25593"/>
                  <a:pt x="147000" y="28348"/>
                </a:cubicBezTo>
                <a:cubicBezTo>
                  <a:pt x="148874" y="33224"/>
                  <a:pt x="149893" y="38541"/>
                  <a:pt x="149893" y="44078"/>
                </a:cubicBezTo>
                <a:cubicBezTo>
                  <a:pt x="149893" y="60773"/>
                  <a:pt x="140609" y="75318"/>
                  <a:pt x="126890" y="82784"/>
                </a:cubicBezTo>
                <a:lnTo>
                  <a:pt x="149342" y="105236"/>
                </a:lnTo>
                <a:cubicBezTo>
                  <a:pt x="154494" y="110388"/>
                  <a:pt x="154494" y="118763"/>
                  <a:pt x="149342" y="123942"/>
                </a:cubicBezTo>
                <a:lnTo>
                  <a:pt x="132785" y="140499"/>
                </a:lnTo>
                <a:cubicBezTo>
                  <a:pt x="127634" y="145651"/>
                  <a:pt x="119259" y="145651"/>
                  <a:pt x="114080" y="140499"/>
                </a:cubicBezTo>
                <a:lnTo>
                  <a:pt x="79368" y="105787"/>
                </a:lnTo>
                <a:cubicBezTo>
                  <a:pt x="71820" y="98239"/>
                  <a:pt x="70112" y="87082"/>
                  <a:pt x="74272" y="77880"/>
                </a:cubicBezTo>
                <a:lnTo>
                  <a:pt x="49285" y="52894"/>
                </a:lnTo>
                <a:lnTo>
                  <a:pt x="35621" y="52894"/>
                </a:lnTo>
                <a:cubicBezTo>
                  <a:pt x="32673" y="52894"/>
                  <a:pt x="29918" y="51434"/>
                  <a:pt x="28293" y="48982"/>
                </a:cubicBezTo>
                <a:lnTo>
                  <a:pt x="6446" y="16226"/>
                </a:lnTo>
                <a:cubicBezTo>
                  <a:pt x="5289" y="14491"/>
                  <a:pt x="5510" y="12149"/>
                  <a:pt x="6997" y="10661"/>
                </a:cubicBezTo>
                <a:lnTo>
                  <a:pt x="19505" y="-1846"/>
                </a:lnTo>
                <a:cubicBezTo>
                  <a:pt x="20992" y="-3333"/>
                  <a:pt x="23306" y="-3554"/>
                  <a:pt x="25069" y="-2397"/>
                </a:cubicBezTo>
                <a:lnTo>
                  <a:pt x="57825" y="19422"/>
                </a:lnTo>
                <a:cubicBezTo>
                  <a:pt x="60277" y="21047"/>
                  <a:pt x="61737" y="23802"/>
                  <a:pt x="61737" y="26750"/>
                </a:cubicBezTo>
                <a:close/>
                <a:moveTo>
                  <a:pt x="59395" y="81710"/>
                </a:moveTo>
                <a:cubicBezTo>
                  <a:pt x="57660" y="91903"/>
                  <a:pt x="60056" y="102674"/>
                  <a:pt x="66668" y="111297"/>
                </a:cubicBezTo>
                <a:lnTo>
                  <a:pt x="40497" y="137441"/>
                </a:lnTo>
                <a:cubicBezTo>
                  <a:pt x="32756" y="145182"/>
                  <a:pt x="20193" y="145182"/>
                  <a:pt x="12452" y="137441"/>
                </a:cubicBezTo>
                <a:cubicBezTo>
                  <a:pt x="4711" y="129700"/>
                  <a:pt x="4711" y="117138"/>
                  <a:pt x="12452" y="109396"/>
                </a:cubicBezTo>
                <a:lnTo>
                  <a:pt x="49753" y="72095"/>
                </a:lnTo>
                <a:lnTo>
                  <a:pt x="59395" y="81737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4"/>
          <p:cNvSpPr/>
          <p:nvPr/>
        </p:nvSpPr>
        <p:spPr>
          <a:xfrm>
            <a:off x="6819294" y="5024902"/>
            <a:ext cx="3208885" cy="211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Maintenance Overhead</a:t>
            </a:r>
            <a:endParaRPr b="0" i="0" sz="1600" u="none" cap="none" strike="noStrike"/>
          </a:p>
        </p:txBody>
      </p:sp>
      <p:sp>
        <p:nvSpPr>
          <p:cNvPr id="549" name="Google Shape;549;p14"/>
          <p:cNvSpPr/>
          <p:nvPr/>
        </p:nvSpPr>
        <p:spPr>
          <a:xfrm>
            <a:off x="6819294" y="5271740"/>
            <a:ext cx="3200069" cy="176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Regular updates of systems, rules, and certificates required</a:t>
            </a:r>
            <a:endParaRPr b="0" i="0" sz="1600" u="none" cap="none" strike="noStrike"/>
          </a:p>
        </p:txBody>
      </p:sp>
      <p:sp>
        <p:nvSpPr>
          <p:cNvPr id="550" name="Google Shape;550;p14"/>
          <p:cNvSpPr/>
          <p:nvPr/>
        </p:nvSpPr>
        <p:spPr>
          <a:xfrm>
            <a:off x="6219832" y="5888833"/>
            <a:ext cx="5624364" cy="740512"/>
          </a:xfrm>
          <a:custGeom>
            <a:rect b="b" l="l" r="r" t="t"/>
            <a:pathLst>
              <a:path extrusionOk="0" h="740512" w="5624364">
                <a:moveTo>
                  <a:pt x="0" y="0"/>
                </a:moveTo>
                <a:lnTo>
                  <a:pt x="5553838" y="0"/>
                </a:lnTo>
                <a:cubicBezTo>
                  <a:pt x="5592789" y="0"/>
                  <a:pt x="5624364" y="31576"/>
                  <a:pt x="5624364" y="70526"/>
                </a:cubicBezTo>
                <a:lnTo>
                  <a:pt x="5624364" y="669986"/>
                </a:lnTo>
                <a:cubicBezTo>
                  <a:pt x="5624364" y="708936"/>
                  <a:pt x="5592789" y="740512"/>
                  <a:pt x="5553838" y="740512"/>
                </a:cubicBezTo>
                <a:lnTo>
                  <a:pt x="0" y="740512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4"/>
          <p:cNvSpPr/>
          <p:nvPr/>
        </p:nvSpPr>
        <p:spPr>
          <a:xfrm>
            <a:off x="6219832" y="5888833"/>
            <a:ext cx="35262" cy="740512"/>
          </a:xfrm>
          <a:custGeom>
            <a:rect b="b" l="l" r="r" t="t"/>
            <a:pathLst>
              <a:path extrusionOk="0" h="740512" w="35262">
                <a:moveTo>
                  <a:pt x="0" y="0"/>
                </a:moveTo>
                <a:lnTo>
                  <a:pt x="35262" y="0"/>
                </a:lnTo>
                <a:lnTo>
                  <a:pt x="35262" y="740512"/>
                </a:lnTo>
                <a:lnTo>
                  <a:pt x="0" y="740512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</p:sp>
      <p:sp>
        <p:nvSpPr>
          <p:cNvPr id="552" name="Google Shape;552;p14"/>
          <p:cNvSpPr/>
          <p:nvPr/>
        </p:nvSpPr>
        <p:spPr>
          <a:xfrm>
            <a:off x="6378513" y="6073961"/>
            <a:ext cx="176312" cy="141050"/>
          </a:xfrm>
          <a:custGeom>
            <a:rect b="b" l="l" r="r" t="t"/>
            <a:pathLst>
              <a:path extrusionOk="0" h="141050" w="176312">
                <a:moveTo>
                  <a:pt x="105787" y="8816"/>
                </a:moveTo>
                <a:lnTo>
                  <a:pt x="141050" y="8816"/>
                </a:lnTo>
                <a:cubicBezTo>
                  <a:pt x="145926" y="8816"/>
                  <a:pt x="149866" y="12755"/>
                  <a:pt x="149866" y="17631"/>
                </a:cubicBezTo>
                <a:cubicBezTo>
                  <a:pt x="149866" y="22507"/>
                  <a:pt x="145926" y="26447"/>
                  <a:pt x="141050" y="26447"/>
                </a:cubicBezTo>
                <a:lnTo>
                  <a:pt x="109754" y="26447"/>
                </a:lnTo>
                <a:cubicBezTo>
                  <a:pt x="108322" y="33554"/>
                  <a:pt x="103446" y="39422"/>
                  <a:pt x="96972" y="42232"/>
                </a:cubicBezTo>
                <a:lnTo>
                  <a:pt x="96972" y="123419"/>
                </a:lnTo>
                <a:lnTo>
                  <a:pt x="141050" y="123419"/>
                </a:lnTo>
                <a:cubicBezTo>
                  <a:pt x="145926" y="123419"/>
                  <a:pt x="149866" y="127358"/>
                  <a:pt x="149866" y="132234"/>
                </a:cubicBezTo>
                <a:cubicBezTo>
                  <a:pt x="149866" y="137110"/>
                  <a:pt x="145926" y="141050"/>
                  <a:pt x="141050" y="141050"/>
                </a:cubicBezTo>
                <a:lnTo>
                  <a:pt x="35262" y="141050"/>
                </a:lnTo>
                <a:cubicBezTo>
                  <a:pt x="30386" y="141050"/>
                  <a:pt x="26447" y="137110"/>
                  <a:pt x="26447" y="132234"/>
                </a:cubicBezTo>
                <a:cubicBezTo>
                  <a:pt x="26447" y="127358"/>
                  <a:pt x="30386" y="123419"/>
                  <a:pt x="35262" y="123419"/>
                </a:cubicBezTo>
                <a:lnTo>
                  <a:pt x="79341" y="123419"/>
                </a:lnTo>
                <a:lnTo>
                  <a:pt x="79341" y="42232"/>
                </a:lnTo>
                <a:cubicBezTo>
                  <a:pt x="72867" y="39395"/>
                  <a:pt x="67990" y="33527"/>
                  <a:pt x="66558" y="26447"/>
                </a:cubicBezTo>
                <a:lnTo>
                  <a:pt x="35262" y="26447"/>
                </a:lnTo>
                <a:cubicBezTo>
                  <a:pt x="30386" y="26447"/>
                  <a:pt x="26447" y="22507"/>
                  <a:pt x="26447" y="17631"/>
                </a:cubicBezTo>
                <a:cubicBezTo>
                  <a:pt x="26447" y="12755"/>
                  <a:pt x="30386" y="8816"/>
                  <a:pt x="35262" y="8816"/>
                </a:cubicBezTo>
                <a:lnTo>
                  <a:pt x="70525" y="8816"/>
                </a:lnTo>
                <a:cubicBezTo>
                  <a:pt x="74547" y="3471"/>
                  <a:pt x="80938" y="0"/>
                  <a:pt x="88156" y="0"/>
                </a:cubicBezTo>
                <a:cubicBezTo>
                  <a:pt x="95374" y="0"/>
                  <a:pt x="101765" y="3471"/>
                  <a:pt x="105787" y="8816"/>
                </a:cubicBezTo>
                <a:close/>
                <a:moveTo>
                  <a:pt x="121105" y="88156"/>
                </a:moveTo>
                <a:lnTo>
                  <a:pt x="160995" y="88156"/>
                </a:lnTo>
                <a:lnTo>
                  <a:pt x="141050" y="53941"/>
                </a:lnTo>
                <a:lnTo>
                  <a:pt x="121105" y="88156"/>
                </a:lnTo>
                <a:close/>
                <a:moveTo>
                  <a:pt x="141050" y="114603"/>
                </a:moveTo>
                <a:cubicBezTo>
                  <a:pt x="123722" y="114603"/>
                  <a:pt x="109314" y="105236"/>
                  <a:pt x="106338" y="92867"/>
                </a:cubicBezTo>
                <a:cubicBezTo>
                  <a:pt x="105622" y="89837"/>
                  <a:pt x="106614" y="86724"/>
                  <a:pt x="108184" y="84024"/>
                </a:cubicBezTo>
                <a:lnTo>
                  <a:pt x="134411" y="39064"/>
                </a:lnTo>
                <a:cubicBezTo>
                  <a:pt x="135788" y="36695"/>
                  <a:pt x="138323" y="35262"/>
                  <a:pt x="141050" y="35262"/>
                </a:cubicBezTo>
                <a:cubicBezTo>
                  <a:pt x="143777" y="35262"/>
                  <a:pt x="146312" y="36723"/>
                  <a:pt x="147689" y="39064"/>
                </a:cubicBezTo>
                <a:lnTo>
                  <a:pt x="173916" y="84024"/>
                </a:lnTo>
                <a:cubicBezTo>
                  <a:pt x="175486" y="86724"/>
                  <a:pt x="176478" y="89837"/>
                  <a:pt x="175761" y="92867"/>
                </a:cubicBezTo>
                <a:cubicBezTo>
                  <a:pt x="172786" y="105209"/>
                  <a:pt x="158378" y="114603"/>
                  <a:pt x="141050" y="114603"/>
                </a:cubicBezTo>
                <a:close/>
                <a:moveTo>
                  <a:pt x="34932" y="53941"/>
                </a:moveTo>
                <a:lnTo>
                  <a:pt x="14987" y="88156"/>
                </a:lnTo>
                <a:lnTo>
                  <a:pt x="54905" y="88156"/>
                </a:lnTo>
                <a:lnTo>
                  <a:pt x="34932" y="53941"/>
                </a:lnTo>
                <a:close/>
                <a:moveTo>
                  <a:pt x="248" y="92867"/>
                </a:moveTo>
                <a:cubicBezTo>
                  <a:pt x="-468" y="89837"/>
                  <a:pt x="523" y="86724"/>
                  <a:pt x="2094" y="84024"/>
                </a:cubicBezTo>
                <a:lnTo>
                  <a:pt x="28320" y="39064"/>
                </a:lnTo>
                <a:cubicBezTo>
                  <a:pt x="29698" y="36695"/>
                  <a:pt x="32232" y="35262"/>
                  <a:pt x="34959" y="35262"/>
                </a:cubicBezTo>
                <a:cubicBezTo>
                  <a:pt x="37687" y="35262"/>
                  <a:pt x="40221" y="36723"/>
                  <a:pt x="41599" y="39064"/>
                </a:cubicBezTo>
                <a:lnTo>
                  <a:pt x="67825" y="84024"/>
                </a:lnTo>
                <a:cubicBezTo>
                  <a:pt x="69395" y="86724"/>
                  <a:pt x="70387" y="89837"/>
                  <a:pt x="69671" y="92867"/>
                </a:cubicBezTo>
                <a:cubicBezTo>
                  <a:pt x="66696" y="105209"/>
                  <a:pt x="52288" y="114603"/>
                  <a:pt x="34959" y="114603"/>
                </a:cubicBezTo>
                <a:cubicBezTo>
                  <a:pt x="17631" y="114603"/>
                  <a:pt x="3223" y="105236"/>
                  <a:pt x="248" y="92867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4"/>
          <p:cNvSpPr/>
          <p:nvPr/>
        </p:nvSpPr>
        <p:spPr>
          <a:xfrm>
            <a:off x="6603780" y="6029883"/>
            <a:ext cx="5169892" cy="4584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Balanced Perspective:</a:t>
            </a:r>
            <a:r>
              <a:rPr b="0" i="0" lang="en-US" sz="111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While limitations exist, the advantages significantly outweigh challenges for organizations seeking robust security monitoring capabilities.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c8.alamy.com/ded303befb059d3b95a049947e44633c5f8660a1.jpg" id="559" name="Google Shape;559;p15"/>
          <p:cNvPicPr preferRelativeResize="0"/>
          <p:nvPr/>
        </p:nvPicPr>
        <p:blipFill rotWithShape="1">
          <a:blip r:embed="rId3">
            <a:alphaModFix amt="30000"/>
          </a:blip>
          <a:srcRect b="11755" l="0" r="0" t="11754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60" name="Google Shape;560;p15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9803"/>
                </a:srgbClr>
              </a:gs>
              <a:gs pos="100000">
                <a:srgbClr val="4A6D8C">
                  <a:alpha val="4000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561" name="Google Shape;561;p15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</a:t>
            </a:r>
            <a:endParaRPr b="0" i="0" sz="1600" u="none" cap="none" strike="noStrike"/>
          </a:p>
        </p:txBody>
      </p:sp>
      <p:sp>
        <p:nvSpPr>
          <p:cNvPr id="562" name="Google Shape;562;p15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Key Achievements &amp; Impact</a:t>
            </a:r>
            <a:endParaRPr b="0" i="0" sz="1600" u="none" cap="none" strike="noStrike"/>
          </a:p>
        </p:txBody>
      </p:sp>
      <p:sp>
        <p:nvSpPr>
          <p:cNvPr id="563" name="Google Shape;563;p15"/>
          <p:cNvSpPr/>
          <p:nvPr/>
        </p:nvSpPr>
        <p:spPr>
          <a:xfrm>
            <a:off x="390525" y="1304925"/>
            <a:ext cx="11410950" cy="1095375"/>
          </a:xfrm>
          <a:custGeom>
            <a:rect b="b" l="l" r="r" t="t"/>
            <a:pathLst>
              <a:path extrusionOk="0" h="1095375" w="11410950">
                <a:moveTo>
                  <a:pt x="76205" y="0"/>
                </a:moveTo>
                <a:lnTo>
                  <a:pt x="11334745" y="0"/>
                </a:lnTo>
                <a:cubicBezTo>
                  <a:pt x="11376832" y="0"/>
                  <a:pt x="11410950" y="34118"/>
                  <a:pt x="11410950" y="76205"/>
                </a:cubicBezTo>
                <a:lnTo>
                  <a:pt x="11410950" y="1019170"/>
                </a:lnTo>
                <a:cubicBezTo>
                  <a:pt x="11410950" y="1061257"/>
                  <a:pt x="11376832" y="1095375"/>
                  <a:pt x="11334745" y="1095375"/>
                </a:cubicBezTo>
                <a:lnTo>
                  <a:pt x="76205" y="1095375"/>
                </a:lnTo>
                <a:cubicBezTo>
                  <a:pt x="34118" y="1095375"/>
                  <a:pt x="0" y="1061257"/>
                  <a:pt x="0" y="101917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cap="flat" cmpd="sng" w="25400">
            <a:solidFill>
              <a:srgbClr val="4A6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5"/>
          <p:cNvSpPr/>
          <p:nvPr/>
        </p:nvSpPr>
        <p:spPr>
          <a:xfrm>
            <a:off x="628650" y="1543050"/>
            <a:ext cx="110299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project successfully demonstrates </a:t>
            </a:r>
            <a:r>
              <a:rPr b="1" i="0" lang="en-US" sz="15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Defense Concepts</a:t>
            </a:r>
            <a:r>
              <a:rPr b="0" i="0" lang="en-US" sz="15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using open-source security tools, creating a comprehensive security architecture that provides enterprise-grade protection and visibility.</a:t>
            </a:r>
            <a:endParaRPr b="0" i="0" sz="1600" u="none" cap="none" strike="noStrike"/>
          </a:p>
        </p:txBody>
      </p:sp>
      <p:sp>
        <p:nvSpPr>
          <p:cNvPr id="565" name="Google Shape;565;p15"/>
          <p:cNvSpPr/>
          <p:nvPr/>
        </p:nvSpPr>
        <p:spPr>
          <a:xfrm>
            <a:off x="385763" y="2605088"/>
            <a:ext cx="3676650" cy="2562225"/>
          </a:xfrm>
          <a:custGeom>
            <a:rect b="b" l="l" r="r" t="t"/>
            <a:pathLst>
              <a:path extrusionOk="0" h="2562225" w="3676650">
                <a:moveTo>
                  <a:pt x="76201" y="0"/>
                </a:moveTo>
                <a:lnTo>
                  <a:pt x="3600449" y="0"/>
                </a:lnTo>
                <a:cubicBezTo>
                  <a:pt x="3642506" y="0"/>
                  <a:pt x="3676650" y="34144"/>
                  <a:pt x="3676650" y="76201"/>
                </a:cubicBezTo>
                <a:lnTo>
                  <a:pt x="3676650" y="2486024"/>
                </a:lnTo>
                <a:cubicBezTo>
                  <a:pt x="3676650" y="2528081"/>
                  <a:pt x="3642506" y="2562225"/>
                  <a:pt x="3600449" y="2562225"/>
                </a:cubicBezTo>
                <a:lnTo>
                  <a:pt x="76201" y="2562225"/>
                </a:lnTo>
                <a:cubicBezTo>
                  <a:pt x="34144" y="2562225"/>
                  <a:pt x="0" y="2528081"/>
                  <a:pt x="0" y="24860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4A6D8C">
              <a:alpha val="14901"/>
            </a:srgbClr>
          </a:solidFill>
          <a:ln cap="flat" cmpd="sng" w="12700">
            <a:solidFill>
              <a:srgbClr val="4A6D8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5"/>
          <p:cNvSpPr/>
          <p:nvPr/>
        </p:nvSpPr>
        <p:spPr>
          <a:xfrm>
            <a:off x="581025" y="280035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15"/>
          <p:cNvSpPr/>
          <p:nvPr/>
        </p:nvSpPr>
        <p:spPr>
          <a:xfrm>
            <a:off x="738188" y="2933700"/>
            <a:ext cx="142875" cy="190500"/>
          </a:xfrm>
          <a:custGeom>
            <a:rect b="b" l="l" r="r" t="t"/>
            <a:pathLst>
              <a:path extrusionOk="0" h="190500" w="142875">
                <a:moveTo>
                  <a:pt x="92980" y="24854"/>
                </a:moveTo>
                <a:cubicBezTo>
                  <a:pt x="96850" y="19534"/>
                  <a:pt x="95659" y="12092"/>
                  <a:pt x="90339" y="8223"/>
                </a:cubicBezTo>
                <a:cubicBezTo>
                  <a:pt x="85018" y="4353"/>
                  <a:pt x="77577" y="5544"/>
                  <a:pt x="73707" y="10864"/>
                </a:cubicBezTo>
                <a:lnTo>
                  <a:pt x="34268" y="65075"/>
                </a:lnTo>
                <a:lnTo>
                  <a:pt x="20315" y="51122"/>
                </a:lnTo>
                <a:cubicBezTo>
                  <a:pt x="15664" y="46472"/>
                  <a:pt x="8111" y="46472"/>
                  <a:pt x="3460" y="51122"/>
                </a:cubicBezTo>
                <a:cubicBezTo>
                  <a:pt x="-1191" y="55773"/>
                  <a:pt x="-1191" y="63326"/>
                  <a:pt x="3460" y="67977"/>
                </a:cubicBezTo>
                <a:lnTo>
                  <a:pt x="27273" y="91790"/>
                </a:lnTo>
                <a:cubicBezTo>
                  <a:pt x="29728" y="94245"/>
                  <a:pt x="33151" y="95510"/>
                  <a:pt x="36612" y="95250"/>
                </a:cubicBezTo>
                <a:cubicBezTo>
                  <a:pt x="40072" y="94990"/>
                  <a:pt x="43272" y="93204"/>
                  <a:pt x="45318" y="90376"/>
                </a:cubicBezTo>
                <a:lnTo>
                  <a:pt x="92943" y="24892"/>
                </a:lnTo>
                <a:close/>
                <a:moveTo>
                  <a:pt x="140605" y="75456"/>
                </a:moveTo>
                <a:cubicBezTo>
                  <a:pt x="144475" y="70135"/>
                  <a:pt x="143284" y="62694"/>
                  <a:pt x="137964" y="58824"/>
                </a:cubicBezTo>
                <a:cubicBezTo>
                  <a:pt x="132643" y="54955"/>
                  <a:pt x="125202" y="56145"/>
                  <a:pt x="121332" y="61466"/>
                </a:cubicBezTo>
                <a:lnTo>
                  <a:pt x="58080" y="148419"/>
                </a:lnTo>
                <a:lnTo>
                  <a:pt x="32221" y="122560"/>
                </a:lnTo>
                <a:cubicBezTo>
                  <a:pt x="27570" y="117909"/>
                  <a:pt x="20017" y="117909"/>
                  <a:pt x="15367" y="122560"/>
                </a:cubicBezTo>
                <a:cubicBezTo>
                  <a:pt x="10716" y="127211"/>
                  <a:pt x="10716" y="134764"/>
                  <a:pt x="15367" y="139415"/>
                </a:cubicBezTo>
                <a:lnTo>
                  <a:pt x="51085" y="175133"/>
                </a:lnTo>
                <a:cubicBezTo>
                  <a:pt x="53541" y="177589"/>
                  <a:pt x="56964" y="178854"/>
                  <a:pt x="60424" y="178594"/>
                </a:cubicBezTo>
                <a:cubicBezTo>
                  <a:pt x="63884" y="178333"/>
                  <a:pt x="67084" y="176547"/>
                  <a:pt x="69131" y="173720"/>
                </a:cubicBezTo>
                <a:lnTo>
                  <a:pt x="140568" y="7549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5"/>
          <p:cNvSpPr/>
          <p:nvPr/>
        </p:nvSpPr>
        <p:spPr>
          <a:xfrm>
            <a:off x="1152525" y="2895600"/>
            <a:ext cx="16478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Strong Foundation</a:t>
            </a:r>
            <a:endParaRPr b="0" i="0" sz="1600" u="none" cap="none" strike="noStrike"/>
          </a:p>
        </p:txBody>
      </p:sp>
      <p:sp>
        <p:nvSpPr>
          <p:cNvPr id="569" name="Google Shape;569;p15"/>
          <p:cNvSpPr/>
          <p:nvPr/>
        </p:nvSpPr>
        <p:spPr>
          <a:xfrm>
            <a:off x="581025" y="3409950"/>
            <a:ext cx="3362325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Network segmentation, firewall enforcement, Suricata IDS, and Wazuh SIEM work together to provide robust visibility and detection capabilities.</a:t>
            </a:r>
            <a:endParaRPr b="0" i="0" sz="1600" u="none" cap="none" strike="noStrike"/>
          </a:p>
        </p:txBody>
      </p:sp>
      <p:sp>
        <p:nvSpPr>
          <p:cNvPr id="570" name="Google Shape;570;p15"/>
          <p:cNvSpPr/>
          <p:nvPr/>
        </p:nvSpPr>
        <p:spPr>
          <a:xfrm>
            <a:off x="581025" y="4552950"/>
            <a:ext cx="3286125" cy="419100"/>
          </a:xfrm>
          <a:custGeom>
            <a:rect b="b" l="l" r="r" t="t"/>
            <a:pathLst>
              <a:path extrusionOk="0" h="419100" w="3286125">
                <a:moveTo>
                  <a:pt x="76201" y="0"/>
                </a:moveTo>
                <a:lnTo>
                  <a:pt x="3209924" y="0"/>
                </a:lnTo>
                <a:cubicBezTo>
                  <a:pt x="3252009" y="0"/>
                  <a:pt x="3286125" y="34116"/>
                  <a:pt x="3286125" y="76201"/>
                </a:cubicBezTo>
                <a:lnTo>
                  <a:pt x="3286125" y="342899"/>
                </a:lnTo>
                <a:cubicBezTo>
                  <a:pt x="3286125" y="384984"/>
                  <a:pt x="3252009" y="419100"/>
                  <a:pt x="32099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5"/>
          <p:cNvSpPr/>
          <p:nvPr/>
        </p:nvSpPr>
        <p:spPr>
          <a:xfrm>
            <a:off x="714375" y="4695825"/>
            <a:ext cx="133350" cy="133350"/>
          </a:xfrm>
          <a:custGeom>
            <a:rect b="b" l="l" r="r" t="t"/>
            <a:pathLst>
              <a:path extrusionOk="0" h="133350" w="133350">
                <a:moveTo>
                  <a:pt x="66675" y="0"/>
                </a:moveTo>
                <a:cubicBezTo>
                  <a:pt x="67873" y="0"/>
                  <a:pt x="69071" y="260"/>
                  <a:pt x="70165" y="755"/>
                </a:cubicBezTo>
                <a:lnTo>
                  <a:pt x="119234" y="21565"/>
                </a:lnTo>
                <a:cubicBezTo>
                  <a:pt x="124964" y="23987"/>
                  <a:pt x="129235" y="29639"/>
                  <a:pt x="129209" y="36463"/>
                </a:cubicBezTo>
                <a:cubicBezTo>
                  <a:pt x="129079" y="62299"/>
                  <a:pt x="118452" y="109571"/>
                  <a:pt x="73577" y="131058"/>
                </a:cubicBezTo>
                <a:cubicBezTo>
                  <a:pt x="69227" y="133142"/>
                  <a:pt x="64175" y="133142"/>
                  <a:pt x="59825" y="131058"/>
                </a:cubicBezTo>
                <a:cubicBezTo>
                  <a:pt x="14924" y="109571"/>
                  <a:pt x="4323" y="62299"/>
                  <a:pt x="4193" y="36463"/>
                </a:cubicBezTo>
                <a:cubicBezTo>
                  <a:pt x="4167" y="29639"/>
                  <a:pt x="8439" y="23987"/>
                  <a:pt x="14168" y="21565"/>
                </a:cubicBezTo>
                <a:lnTo>
                  <a:pt x="63211" y="755"/>
                </a:lnTo>
                <a:cubicBezTo>
                  <a:pt x="64305" y="260"/>
                  <a:pt x="65477" y="0"/>
                  <a:pt x="66675" y="0"/>
                </a:cubicBezTo>
                <a:close/>
                <a:moveTo>
                  <a:pt x="66675" y="17398"/>
                </a:moveTo>
                <a:lnTo>
                  <a:pt x="66675" y="115874"/>
                </a:lnTo>
                <a:cubicBezTo>
                  <a:pt x="102617" y="98476"/>
                  <a:pt x="112280" y="59929"/>
                  <a:pt x="112514" y="36854"/>
                </a:cubicBezTo>
                <a:lnTo>
                  <a:pt x="66675" y="17424"/>
                </a:lnTo>
                <a:lnTo>
                  <a:pt x="66675" y="17424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5"/>
          <p:cNvSpPr/>
          <p:nvPr/>
        </p:nvSpPr>
        <p:spPr>
          <a:xfrm>
            <a:off x="923925" y="4667250"/>
            <a:ext cx="2895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Multi-layered protection</a:t>
            </a:r>
            <a:endParaRPr b="0" i="0" sz="1600" u="none" cap="none" strike="noStrike"/>
          </a:p>
        </p:txBody>
      </p:sp>
      <p:sp>
        <p:nvSpPr>
          <p:cNvPr id="573" name="Google Shape;573;p15"/>
          <p:cNvSpPr/>
          <p:nvPr/>
        </p:nvSpPr>
        <p:spPr>
          <a:xfrm>
            <a:off x="4259163" y="2605088"/>
            <a:ext cx="3676650" cy="2562225"/>
          </a:xfrm>
          <a:custGeom>
            <a:rect b="b" l="l" r="r" t="t"/>
            <a:pathLst>
              <a:path extrusionOk="0" h="2562225" w="3676650">
                <a:moveTo>
                  <a:pt x="76201" y="0"/>
                </a:moveTo>
                <a:lnTo>
                  <a:pt x="3600449" y="0"/>
                </a:lnTo>
                <a:cubicBezTo>
                  <a:pt x="3642506" y="0"/>
                  <a:pt x="3676650" y="34144"/>
                  <a:pt x="3676650" y="76201"/>
                </a:cubicBezTo>
                <a:lnTo>
                  <a:pt x="3676650" y="2486024"/>
                </a:lnTo>
                <a:cubicBezTo>
                  <a:pt x="3676650" y="2528081"/>
                  <a:pt x="3642506" y="2562225"/>
                  <a:pt x="3600449" y="2562225"/>
                </a:cubicBezTo>
                <a:lnTo>
                  <a:pt x="76201" y="2562225"/>
                </a:lnTo>
                <a:cubicBezTo>
                  <a:pt x="34144" y="2562225"/>
                  <a:pt x="0" y="2528081"/>
                  <a:pt x="0" y="24860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5F6B7A">
              <a:alpha val="14901"/>
            </a:srgbClr>
          </a:solidFill>
          <a:ln cap="flat" cmpd="sng" w="12700">
            <a:solidFill>
              <a:srgbClr val="5F6B7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5"/>
          <p:cNvSpPr/>
          <p:nvPr/>
        </p:nvSpPr>
        <p:spPr>
          <a:xfrm>
            <a:off x="4454426" y="280035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5"/>
          <p:cNvSpPr/>
          <p:nvPr/>
        </p:nvSpPr>
        <p:spPr>
          <a:xfrm>
            <a:off x="4611588" y="2933700"/>
            <a:ext cx="142875" cy="190500"/>
          </a:xfrm>
          <a:custGeom>
            <a:rect b="b" l="l" r="r" t="t"/>
            <a:pathLst>
              <a:path extrusionOk="0" h="190500" w="142875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5"/>
          <p:cNvSpPr/>
          <p:nvPr/>
        </p:nvSpPr>
        <p:spPr>
          <a:xfrm>
            <a:off x="5025926" y="2895600"/>
            <a:ext cx="1590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SOC Environment</a:t>
            </a:r>
            <a:endParaRPr b="0" i="0" sz="1600" u="none" cap="none" strike="noStrike"/>
          </a:p>
        </p:txBody>
      </p:sp>
      <p:sp>
        <p:nvSpPr>
          <p:cNvPr id="577" name="Google Shape;577;p15"/>
          <p:cNvSpPr/>
          <p:nvPr/>
        </p:nvSpPr>
        <p:spPr>
          <a:xfrm>
            <a:off x="4454426" y="3409950"/>
            <a:ext cx="3362325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architecture mirrors a real Security Operations Center (SOC) environment, providing hands-on experience with industry-standard tools and workflows.</a:t>
            </a:r>
            <a:endParaRPr b="0" i="0" sz="1600" u="none" cap="none" strike="noStrike"/>
          </a:p>
        </p:txBody>
      </p:sp>
      <p:sp>
        <p:nvSpPr>
          <p:cNvPr id="578" name="Google Shape;578;p15"/>
          <p:cNvSpPr/>
          <p:nvPr/>
        </p:nvSpPr>
        <p:spPr>
          <a:xfrm>
            <a:off x="4454426" y="4552950"/>
            <a:ext cx="3286125" cy="419100"/>
          </a:xfrm>
          <a:custGeom>
            <a:rect b="b" l="l" r="r" t="t"/>
            <a:pathLst>
              <a:path extrusionOk="0" h="419100" w="3286125">
                <a:moveTo>
                  <a:pt x="76201" y="0"/>
                </a:moveTo>
                <a:lnTo>
                  <a:pt x="3209924" y="0"/>
                </a:lnTo>
                <a:cubicBezTo>
                  <a:pt x="3252009" y="0"/>
                  <a:pt x="3286125" y="34116"/>
                  <a:pt x="3286125" y="76201"/>
                </a:cubicBezTo>
                <a:lnTo>
                  <a:pt x="3286125" y="342899"/>
                </a:lnTo>
                <a:cubicBezTo>
                  <a:pt x="3286125" y="384984"/>
                  <a:pt x="3252009" y="419100"/>
                  <a:pt x="32099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5"/>
          <p:cNvSpPr/>
          <p:nvPr/>
        </p:nvSpPr>
        <p:spPr>
          <a:xfrm>
            <a:off x="4579441" y="4695825"/>
            <a:ext cx="150019" cy="133350"/>
          </a:xfrm>
          <a:custGeom>
            <a:rect b="b" l="l" r="r" t="t"/>
            <a:pathLst>
              <a:path extrusionOk="0" h="133350" w="150019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77406" y="133350"/>
                </a:lnTo>
                <a:cubicBezTo>
                  <a:pt x="67977" y="122255"/>
                  <a:pt x="62508" y="107956"/>
                  <a:pt x="62508" y="92824"/>
                </a:cubicBezTo>
                <a:lnTo>
                  <a:pt x="62508" y="84724"/>
                </a:lnTo>
                <a:cubicBezTo>
                  <a:pt x="62508" y="82823"/>
                  <a:pt x="62768" y="80948"/>
                  <a:pt x="63263" y="79177"/>
                </a:cubicBezTo>
                <a:lnTo>
                  <a:pt x="50605" y="79177"/>
                </a:lnTo>
                <a:close/>
                <a:moveTo>
                  <a:pt x="115978" y="127229"/>
                </a:moveTo>
                <a:lnTo>
                  <a:pt x="112514" y="128870"/>
                </a:lnTo>
                <a:lnTo>
                  <a:pt x="112514" y="79880"/>
                </a:lnTo>
                <a:lnTo>
                  <a:pt x="137517" y="88214"/>
                </a:lnTo>
                <a:lnTo>
                  <a:pt x="137517" y="93319"/>
                </a:lnTo>
                <a:cubicBezTo>
                  <a:pt x="137517" y="107852"/>
                  <a:pt x="129131" y="121057"/>
                  <a:pt x="115978" y="127255"/>
                </a:cubicBezTo>
                <a:close/>
                <a:moveTo>
                  <a:pt x="109884" y="67587"/>
                </a:moveTo>
                <a:lnTo>
                  <a:pt x="80713" y="77301"/>
                </a:lnTo>
                <a:cubicBezTo>
                  <a:pt x="77301" y="78447"/>
                  <a:pt x="75009" y="81625"/>
                  <a:pt x="75009" y="85219"/>
                </a:cubicBezTo>
                <a:lnTo>
                  <a:pt x="75009" y="93319"/>
                </a:lnTo>
                <a:cubicBezTo>
                  <a:pt x="75009" y="112696"/>
                  <a:pt x="86209" y="130329"/>
                  <a:pt x="103711" y="138559"/>
                </a:cubicBezTo>
                <a:lnTo>
                  <a:pt x="108529" y="140825"/>
                </a:lnTo>
                <a:cubicBezTo>
                  <a:pt x="109779" y="141398"/>
                  <a:pt x="111134" y="141710"/>
                  <a:pt x="112488" y="141710"/>
                </a:cubicBezTo>
                <a:cubicBezTo>
                  <a:pt x="113842" y="141710"/>
                  <a:pt x="115223" y="141398"/>
                  <a:pt x="116447" y="140825"/>
                </a:cubicBezTo>
                <a:lnTo>
                  <a:pt x="121265" y="138559"/>
                </a:lnTo>
                <a:cubicBezTo>
                  <a:pt x="138819" y="130303"/>
                  <a:pt x="150019" y="112670"/>
                  <a:pt x="150019" y="93293"/>
                </a:cubicBezTo>
                <a:lnTo>
                  <a:pt x="150019" y="85193"/>
                </a:lnTo>
                <a:cubicBezTo>
                  <a:pt x="150019" y="81599"/>
                  <a:pt x="147727" y="78421"/>
                  <a:pt x="144315" y="77275"/>
                </a:cubicBezTo>
                <a:lnTo>
                  <a:pt x="115145" y="67561"/>
                </a:lnTo>
                <a:cubicBezTo>
                  <a:pt x="113426" y="66988"/>
                  <a:pt x="111576" y="66988"/>
                  <a:pt x="109884" y="67561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5"/>
          <p:cNvSpPr/>
          <p:nvPr/>
        </p:nvSpPr>
        <p:spPr>
          <a:xfrm>
            <a:off x="4797326" y="4667250"/>
            <a:ext cx="2895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Production-ready design</a:t>
            </a:r>
            <a:endParaRPr b="0" i="0" sz="1600" u="none" cap="none" strike="noStrike"/>
          </a:p>
        </p:txBody>
      </p:sp>
      <p:sp>
        <p:nvSpPr>
          <p:cNvPr id="581" name="Google Shape;581;p15"/>
          <p:cNvSpPr/>
          <p:nvPr/>
        </p:nvSpPr>
        <p:spPr>
          <a:xfrm>
            <a:off x="8132713" y="2605088"/>
            <a:ext cx="3676650" cy="2562225"/>
          </a:xfrm>
          <a:custGeom>
            <a:rect b="b" l="l" r="r" t="t"/>
            <a:pathLst>
              <a:path extrusionOk="0" h="2562225" w="3676650">
                <a:moveTo>
                  <a:pt x="76201" y="0"/>
                </a:moveTo>
                <a:lnTo>
                  <a:pt x="3600449" y="0"/>
                </a:lnTo>
                <a:cubicBezTo>
                  <a:pt x="3642506" y="0"/>
                  <a:pt x="3676650" y="34144"/>
                  <a:pt x="3676650" y="76201"/>
                </a:cubicBezTo>
                <a:lnTo>
                  <a:pt x="3676650" y="2486024"/>
                </a:lnTo>
                <a:cubicBezTo>
                  <a:pt x="3676650" y="2528081"/>
                  <a:pt x="3642506" y="2562225"/>
                  <a:pt x="3600449" y="2562225"/>
                </a:cubicBezTo>
                <a:lnTo>
                  <a:pt x="76201" y="2562225"/>
                </a:lnTo>
                <a:cubicBezTo>
                  <a:pt x="34144" y="2562225"/>
                  <a:pt x="0" y="2528081"/>
                  <a:pt x="0" y="2486024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C9A86A">
              <a:alpha val="14901"/>
            </a:srgbClr>
          </a:solidFill>
          <a:ln cap="flat" cmpd="sng" w="12700">
            <a:solidFill>
              <a:srgbClr val="C9A86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5"/>
          <p:cNvSpPr/>
          <p:nvPr/>
        </p:nvSpPr>
        <p:spPr>
          <a:xfrm>
            <a:off x="8327975" y="2800350"/>
            <a:ext cx="457200" cy="457200"/>
          </a:xfrm>
          <a:custGeom>
            <a:rect b="b" l="l" r="r" t="t"/>
            <a:pathLst>
              <a:path extrusionOk="0" h="457200" w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5"/>
          <p:cNvSpPr/>
          <p:nvPr/>
        </p:nvSpPr>
        <p:spPr>
          <a:xfrm>
            <a:off x="8449419" y="2933700"/>
            <a:ext cx="214313" cy="190500"/>
          </a:xfrm>
          <a:custGeom>
            <a:rect b="b" l="l" r="r" t="t"/>
            <a:pathLst>
              <a:path extrusionOk="0" h="190500" w="214313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5"/>
          <p:cNvSpPr/>
          <p:nvPr/>
        </p:nvSpPr>
        <p:spPr>
          <a:xfrm>
            <a:off x="8899475" y="2895600"/>
            <a:ext cx="1466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Detection Focus</a:t>
            </a:r>
            <a:endParaRPr b="0" i="0" sz="1600" u="none" cap="none" strike="noStrike"/>
          </a:p>
        </p:txBody>
      </p:sp>
      <p:sp>
        <p:nvSpPr>
          <p:cNvPr id="585" name="Google Shape;585;p15"/>
          <p:cNvSpPr/>
          <p:nvPr/>
        </p:nvSpPr>
        <p:spPr>
          <a:xfrm>
            <a:off x="8327975" y="3409950"/>
            <a:ext cx="3362325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Emphasizes detection and monitoring rather than perimeter-only prevention, enabling early threat identification and rapid response.</a:t>
            </a:r>
            <a:endParaRPr b="0" i="0" sz="1600" u="none" cap="none" strike="noStrike"/>
          </a:p>
        </p:txBody>
      </p:sp>
      <p:sp>
        <p:nvSpPr>
          <p:cNvPr id="586" name="Google Shape;586;p15"/>
          <p:cNvSpPr/>
          <p:nvPr/>
        </p:nvSpPr>
        <p:spPr>
          <a:xfrm>
            <a:off x="8327975" y="4305300"/>
            <a:ext cx="3286125" cy="419100"/>
          </a:xfrm>
          <a:custGeom>
            <a:rect b="b" l="l" r="r" t="t"/>
            <a:pathLst>
              <a:path extrusionOk="0" h="419100" w="3286125">
                <a:moveTo>
                  <a:pt x="76201" y="0"/>
                </a:moveTo>
                <a:lnTo>
                  <a:pt x="3209924" y="0"/>
                </a:lnTo>
                <a:cubicBezTo>
                  <a:pt x="3252009" y="0"/>
                  <a:pt x="3286125" y="34116"/>
                  <a:pt x="3286125" y="76201"/>
                </a:cubicBezTo>
                <a:lnTo>
                  <a:pt x="3286125" y="342899"/>
                </a:lnTo>
                <a:cubicBezTo>
                  <a:pt x="3286125" y="384984"/>
                  <a:pt x="3252009" y="419100"/>
                  <a:pt x="32099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5"/>
          <p:cNvSpPr/>
          <p:nvPr/>
        </p:nvSpPr>
        <p:spPr>
          <a:xfrm>
            <a:off x="8469660" y="4448175"/>
            <a:ext cx="116681" cy="133350"/>
          </a:xfrm>
          <a:custGeom>
            <a:rect b="b" l="l" r="r" t="t"/>
            <a:pathLst>
              <a:path extrusionOk="0" h="133350" w="116681">
                <a:moveTo>
                  <a:pt x="58341" y="0"/>
                </a:moveTo>
                <a:cubicBezTo>
                  <a:pt x="53731" y="0"/>
                  <a:pt x="50006" y="3724"/>
                  <a:pt x="50006" y="8334"/>
                </a:cubicBezTo>
                <a:lnTo>
                  <a:pt x="50006" y="9168"/>
                </a:lnTo>
                <a:cubicBezTo>
                  <a:pt x="30993" y="13022"/>
                  <a:pt x="16669" y="29847"/>
                  <a:pt x="16669" y="50006"/>
                </a:cubicBezTo>
                <a:lnTo>
                  <a:pt x="16669" y="55658"/>
                </a:lnTo>
                <a:cubicBezTo>
                  <a:pt x="16669" y="68186"/>
                  <a:pt x="12397" y="80349"/>
                  <a:pt x="4584" y="90141"/>
                </a:cubicBezTo>
                <a:lnTo>
                  <a:pt x="2032" y="93319"/>
                </a:lnTo>
                <a:cubicBezTo>
                  <a:pt x="703" y="94960"/>
                  <a:pt x="0" y="96991"/>
                  <a:pt x="0" y="99101"/>
                </a:cubicBezTo>
                <a:cubicBezTo>
                  <a:pt x="0" y="104206"/>
                  <a:pt x="4141" y="108347"/>
                  <a:pt x="9246" y="108347"/>
                </a:cubicBezTo>
                <a:lnTo>
                  <a:pt x="107409" y="108347"/>
                </a:lnTo>
                <a:cubicBezTo>
                  <a:pt x="112514" y="108347"/>
                  <a:pt x="116655" y="104206"/>
                  <a:pt x="116655" y="99101"/>
                </a:cubicBezTo>
                <a:cubicBezTo>
                  <a:pt x="116655" y="96991"/>
                  <a:pt x="115952" y="94960"/>
                  <a:pt x="114624" y="93319"/>
                </a:cubicBezTo>
                <a:lnTo>
                  <a:pt x="112071" y="90141"/>
                </a:lnTo>
                <a:cubicBezTo>
                  <a:pt x="104284" y="80349"/>
                  <a:pt x="100013" y="68186"/>
                  <a:pt x="100013" y="55658"/>
                </a:cubicBezTo>
                <a:lnTo>
                  <a:pt x="100013" y="50006"/>
                </a:lnTo>
                <a:cubicBezTo>
                  <a:pt x="100013" y="29847"/>
                  <a:pt x="85688" y="13022"/>
                  <a:pt x="66675" y="9168"/>
                </a:cubicBezTo>
                <a:lnTo>
                  <a:pt x="66675" y="8334"/>
                </a:lnTo>
                <a:cubicBezTo>
                  <a:pt x="66675" y="3724"/>
                  <a:pt x="62951" y="0"/>
                  <a:pt x="58341" y="0"/>
                </a:cubicBezTo>
                <a:close/>
                <a:moveTo>
                  <a:pt x="42193" y="120848"/>
                </a:moveTo>
                <a:cubicBezTo>
                  <a:pt x="44042" y="128037"/>
                  <a:pt x="50579" y="133350"/>
                  <a:pt x="58341" y="133350"/>
                </a:cubicBezTo>
                <a:cubicBezTo>
                  <a:pt x="66102" y="133350"/>
                  <a:pt x="72639" y="128037"/>
                  <a:pt x="74488" y="120848"/>
                </a:cubicBezTo>
                <a:lnTo>
                  <a:pt x="42193" y="120848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5"/>
          <p:cNvSpPr/>
          <p:nvPr/>
        </p:nvSpPr>
        <p:spPr>
          <a:xfrm>
            <a:off x="8670875" y="4419600"/>
            <a:ext cx="2895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Proactive security posture</a:t>
            </a:r>
            <a:endParaRPr b="0" i="0" sz="1600" u="none" cap="none" strike="noStrike"/>
          </a:p>
        </p:txBody>
      </p:sp>
      <p:sp>
        <p:nvSpPr>
          <p:cNvPr id="589" name="Google Shape;589;p15"/>
          <p:cNvSpPr/>
          <p:nvPr/>
        </p:nvSpPr>
        <p:spPr>
          <a:xfrm>
            <a:off x="400050" y="5362575"/>
            <a:ext cx="11410950" cy="1285875"/>
          </a:xfrm>
          <a:custGeom>
            <a:rect b="b" l="l" r="r" t="t"/>
            <a:pathLst>
              <a:path extrusionOk="0" h="1285875" w="11410950">
                <a:moveTo>
                  <a:pt x="0" y="0"/>
                </a:moveTo>
                <a:lnTo>
                  <a:pt x="11334749" y="0"/>
                </a:lnTo>
                <a:cubicBezTo>
                  <a:pt x="11376834" y="0"/>
                  <a:pt x="11410950" y="34116"/>
                  <a:pt x="11410950" y="76201"/>
                </a:cubicBezTo>
                <a:lnTo>
                  <a:pt x="11410950" y="1209674"/>
                </a:lnTo>
                <a:cubicBezTo>
                  <a:pt x="11410950" y="1251759"/>
                  <a:pt x="11376834" y="1285875"/>
                  <a:pt x="11334749" y="1285875"/>
                </a:cubicBez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solidFill>
            <a:srgbClr val="C9A86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5"/>
          <p:cNvSpPr/>
          <p:nvPr/>
        </p:nvSpPr>
        <p:spPr>
          <a:xfrm>
            <a:off x="400050" y="5362575"/>
            <a:ext cx="38100" cy="1285875"/>
          </a:xfrm>
          <a:custGeom>
            <a:rect b="b" l="l" r="r" t="t"/>
            <a:pathLst>
              <a:path extrusionOk="0" h="1285875" w="38100">
                <a:moveTo>
                  <a:pt x="0" y="0"/>
                </a:moveTo>
                <a:lnTo>
                  <a:pt x="38100" y="0"/>
                </a:lnTo>
                <a:lnTo>
                  <a:pt x="38100" y="1285875"/>
                </a:lnTo>
                <a:lnTo>
                  <a:pt x="0" y="1285875"/>
                </a:lnTo>
                <a:lnTo>
                  <a:pt x="0" y="0"/>
                </a:lnTo>
                <a:close/>
              </a:path>
            </a:pathLst>
          </a:custGeom>
          <a:solidFill>
            <a:srgbClr val="C9A86A"/>
          </a:solidFill>
          <a:ln>
            <a:noFill/>
          </a:ln>
        </p:spPr>
      </p:sp>
      <p:sp>
        <p:nvSpPr>
          <p:cNvPr id="591" name="Google Shape;591;p15"/>
          <p:cNvSpPr/>
          <p:nvPr/>
        </p:nvSpPr>
        <p:spPr>
          <a:xfrm>
            <a:off x="647700" y="5553075"/>
            <a:ext cx="285750" cy="285750"/>
          </a:xfrm>
          <a:custGeom>
            <a:rect b="b" l="l" r="r" t="t"/>
            <a:pathLst>
              <a:path extrusionOk="0" h="285750" w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5"/>
          <p:cNvSpPr/>
          <p:nvPr/>
        </p:nvSpPr>
        <p:spPr>
          <a:xfrm>
            <a:off x="1119188" y="5553075"/>
            <a:ext cx="10601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Achievement</a:t>
            </a:r>
            <a:endParaRPr b="0" i="0" sz="1600" u="none" cap="none" strike="noStrike"/>
          </a:p>
        </p:txBody>
      </p:sp>
      <p:sp>
        <p:nvSpPr>
          <p:cNvPr id="593" name="Google Shape;593;p15"/>
          <p:cNvSpPr/>
          <p:nvPr/>
        </p:nvSpPr>
        <p:spPr>
          <a:xfrm>
            <a:off x="1119188" y="5895975"/>
            <a:ext cx="105918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Layered security and continuous monitoring significantly improve </a:t>
            </a:r>
            <a:r>
              <a:rPr b="1" i="0" lang="en-US" sz="13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early threat identification</a:t>
            </a: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</a:t>
            </a:r>
            <a:r>
              <a:rPr b="1" i="0" lang="en-US" sz="13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incident response capabilities</a:t>
            </a: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reducing mean time to detect (MTTD) and respond to security incidents.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www.csoonline.com/0ae705b2a4ce4057bb92dfab1f48c5902b661038.jpg" id="599" name="Google Shape;599;p16"/>
          <p:cNvPicPr preferRelativeResize="0"/>
          <p:nvPr/>
        </p:nvPicPr>
        <p:blipFill rotWithShape="1">
          <a:blip r:embed="rId3">
            <a:alphaModFix amt="30000"/>
          </a:blip>
          <a:srcRect b="7771" l="0" r="0" t="7771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00" name="Google Shape;600;p1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9803"/>
                </a:srgbClr>
              </a:gs>
              <a:gs pos="100000">
                <a:srgbClr val="4A6D8C">
                  <a:alpha val="4000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601" name="Google Shape;601;p16"/>
          <p:cNvSpPr/>
          <p:nvPr/>
        </p:nvSpPr>
        <p:spPr>
          <a:xfrm>
            <a:off x="381000" y="179784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Future Scope &amp; Enhancements</a:t>
            </a:r>
            <a:endParaRPr b="0" i="0" sz="1600" u="none" cap="none" strike="noStrike"/>
          </a:p>
        </p:txBody>
      </p:sp>
      <p:sp>
        <p:nvSpPr>
          <p:cNvPr id="602" name="Google Shape;602;p16"/>
          <p:cNvSpPr/>
          <p:nvPr/>
        </p:nvSpPr>
        <p:spPr>
          <a:xfrm>
            <a:off x="381000" y="484584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Next Generation Security</a:t>
            </a:r>
            <a:endParaRPr b="0" i="0" sz="1600" u="none" cap="none" strike="noStrike"/>
          </a:p>
        </p:txBody>
      </p:sp>
      <p:sp>
        <p:nvSpPr>
          <p:cNvPr id="603" name="Google Shape;603;p16"/>
          <p:cNvSpPr/>
          <p:nvPr/>
        </p:nvSpPr>
        <p:spPr>
          <a:xfrm>
            <a:off x="390525" y="1256109"/>
            <a:ext cx="5581650" cy="2000250"/>
          </a:xfrm>
          <a:custGeom>
            <a:rect b="b" l="l" r="r" t="t"/>
            <a:pathLst>
              <a:path extrusionOk="0" h="2000250" w="5581650">
                <a:moveTo>
                  <a:pt x="76210" y="0"/>
                </a:moveTo>
                <a:lnTo>
                  <a:pt x="5505440" y="0"/>
                </a:lnTo>
                <a:cubicBezTo>
                  <a:pt x="5547530" y="0"/>
                  <a:pt x="5581650" y="34120"/>
                  <a:pt x="5581650" y="76210"/>
                </a:cubicBezTo>
                <a:lnTo>
                  <a:pt x="5581650" y="1924040"/>
                </a:lnTo>
                <a:cubicBezTo>
                  <a:pt x="5581650" y="1966130"/>
                  <a:pt x="5547530" y="2000250"/>
                  <a:pt x="5505440" y="2000250"/>
                </a:cubicBezTo>
                <a:lnTo>
                  <a:pt x="76210" y="2000250"/>
                </a:lnTo>
                <a:cubicBezTo>
                  <a:pt x="34120" y="2000250"/>
                  <a:pt x="0" y="1966130"/>
                  <a:pt x="0" y="19240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cap="flat" cmpd="sng" w="25400">
            <a:solidFill>
              <a:srgbClr val="4A6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6"/>
          <p:cNvSpPr/>
          <p:nvPr/>
        </p:nvSpPr>
        <p:spPr>
          <a:xfrm>
            <a:off x="628650" y="1494234"/>
            <a:ext cx="533400" cy="533400"/>
          </a:xfrm>
          <a:custGeom>
            <a:rect b="b" l="l" r="r" t="t"/>
            <a:pathLst>
              <a:path extrusionOk="0" h="533400" w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6"/>
          <p:cNvSpPr/>
          <p:nvPr/>
        </p:nvSpPr>
        <p:spPr>
          <a:xfrm>
            <a:off x="752475" y="1646634"/>
            <a:ext cx="285750" cy="228600"/>
          </a:xfrm>
          <a:custGeom>
            <a:rect b="b" l="l" r="r" t="t"/>
            <a:pathLst>
              <a:path extrusionOk="0" h="228600" w="28575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6"/>
          <p:cNvSpPr/>
          <p:nvPr/>
        </p:nvSpPr>
        <p:spPr>
          <a:xfrm>
            <a:off x="1314450" y="1608534"/>
            <a:ext cx="1857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SOAR Integration</a:t>
            </a:r>
            <a:endParaRPr b="0" i="0" sz="1600" u="none" cap="none" strike="noStrike"/>
          </a:p>
        </p:txBody>
      </p:sp>
      <p:sp>
        <p:nvSpPr>
          <p:cNvPr id="607" name="Google Shape;607;p16"/>
          <p:cNvSpPr/>
          <p:nvPr/>
        </p:nvSpPr>
        <p:spPr>
          <a:xfrm>
            <a:off x="628650" y="2180034"/>
            <a:ext cx="51911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Integration with Security Orchestration, Automation and Response (SOAR) platforms for </a:t>
            </a:r>
            <a:r>
              <a:rPr b="1" i="0" lang="en-US" sz="13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automated response</a:t>
            </a: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</a:t>
            </a:r>
            <a:r>
              <a:rPr b="1" i="0" lang="en-US" sz="13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threat containment</a:t>
            </a: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workflows.</a:t>
            </a:r>
            <a:endParaRPr b="0" i="0" sz="1600" u="none" cap="none" strike="noStrike"/>
          </a:p>
        </p:txBody>
      </p:sp>
      <p:sp>
        <p:nvSpPr>
          <p:cNvPr id="608" name="Google Shape;608;p16"/>
          <p:cNvSpPr/>
          <p:nvPr/>
        </p:nvSpPr>
        <p:spPr>
          <a:xfrm>
            <a:off x="6219825" y="1256109"/>
            <a:ext cx="5581650" cy="2000250"/>
          </a:xfrm>
          <a:custGeom>
            <a:rect b="b" l="l" r="r" t="t"/>
            <a:pathLst>
              <a:path extrusionOk="0" h="2000250" w="5581650">
                <a:moveTo>
                  <a:pt x="76210" y="0"/>
                </a:moveTo>
                <a:lnTo>
                  <a:pt x="5505440" y="0"/>
                </a:lnTo>
                <a:cubicBezTo>
                  <a:pt x="5547530" y="0"/>
                  <a:pt x="5581650" y="34120"/>
                  <a:pt x="5581650" y="76210"/>
                </a:cubicBezTo>
                <a:lnTo>
                  <a:pt x="5581650" y="1924040"/>
                </a:lnTo>
                <a:cubicBezTo>
                  <a:pt x="5581650" y="1966130"/>
                  <a:pt x="5547530" y="2000250"/>
                  <a:pt x="5505440" y="2000250"/>
                </a:cubicBezTo>
                <a:lnTo>
                  <a:pt x="76210" y="2000250"/>
                </a:lnTo>
                <a:cubicBezTo>
                  <a:pt x="34120" y="2000250"/>
                  <a:pt x="0" y="1966130"/>
                  <a:pt x="0" y="192404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5F6B7A">
              <a:alpha val="20000"/>
            </a:srgbClr>
          </a:solidFill>
          <a:ln cap="flat" cmpd="sng" w="25400">
            <a:solidFill>
              <a:srgbClr val="5F6B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6"/>
          <p:cNvSpPr/>
          <p:nvPr/>
        </p:nvSpPr>
        <p:spPr>
          <a:xfrm>
            <a:off x="6457950" y="1494234"/>
            <a:ext cx="533400" cy="533400"/>
          </a:xfrm>
          <a:custGeom>
            <a:rect b="b" l="l" r="r" t="t"/>
            <a:pathLst>
              <a:path extrusionOk="0" h="533400" w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16"/>
          <p:cNvSpPr/>
          <p:nvPr/>
        </p:nvSpPr>
        <p:spPr>
          <a:xfrm>
            <a:off x="6610350" y="1646634"/>
            <a:ext cx="228600" cy="228600"/>
          </a:xfrm>
          <a:custGeom>
            <a:rect b="b" l="l" r="r" t="t"/>
            <a:pathLst>
              <a:path extrusionOk="0" h="228600" w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6"/>
          <p:cNvSpPr/>
          <p:nvPr/>
        </p:nvSpPr>
        <p:spPr>
          <a:xfrm>
            <a:off x="7143750" y="1608534"/>
            <a:ext cx="1990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Threat Intelligence</a:t>
            </a:r>
            <a:endParaRPr b="0" i="0" sz="1600" u="none" cap="none" strike="noStrike"/>
          </a:p>
        </p:txBody>
      </p:sp>
      <p:sp>
        <p:nvSpPr>
          <p:cNvPr id="612" name="Google Shape;612;p16"/>
          <p:cNvSpPr/>
          <p:nvPr/>
        </p:nvSpPr>
        <p:spPr>
          <a:xfrm>
            <a:off x="6457950" y="2180034"/>
            <a:ext cx="51911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of </a:t>
            </a:r>
            <a:r>
              <a:rPr b="1" i="0" lang="en-US" sz="13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threat-intelligence feeds</a:t>
            </a: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enriched alerts, contextual awareness, and proactive threat hunting capabilities.</a:t>
            </a:r>
            <a:endParaRPr b="0" i="0" sz="1600" u="none" cap="none" strike="noStrike"/>
          </a:p>
        </p:txBody>
      </p:sp>
      <p:sp>
        <p:nvSpPr>
          <p:cNvPr id="613" name="Google Shape;613;p16"/>
          <p:cNvSpPr/>
          <p:nvPr/>
        </p:nvSpPr>
        <p:spPr>
          <a:xfrm>
            <a:off x="390525" y="3501628"/>
            <a:ext cx="5581650" cy="1724025"/>
          </a:xfrm>
          <a:custGeom>
            <a:rect b="b" l="l" r="r" t="t"/>
            <a:pathLst>
              <a:path extrusionOk="0" h="1724025" w="5581650">
                <a:moveTo>
                  <a:pt x="76202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1647823"/>
                </a:lnTo>
                <a:cubicBezTo>
                  <a:pt x="5581650" y="1689908"/>
                  <a:pt x="5547533" y="1724025"/>
                  <a:pt x="5505448" y="1724025"/>
                </a:cubicBezTo>
                <a:lnTo>
                  <a:pt x="76202" y="1724025"/>
                </a:lnTo>
                <a:cubicBezTo>
                  <a:pt x="34117" y="1724025"/>
                  <a:pt x="0" y="1689908"/>
                  <a:pt x="0" y="16478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C9A86A">
              <a:alpha val="20000"/>
            </a:srgbClr>
          </a:solidFill>
          <a:ln cap="flat" cmpd="sng" w="25400">
            <a:solidFill>
              <a:srgbClr val="C9A8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6"/>
          <p:cNvSpPr/>
          <p:nvPr/>
        </p:nvSpPr>
        <p:spPr>
          <a:xfrm>
            <a:off x="628650" y="3739753"/>
            <a:ext cx="533400" cy="533400"/>
          </a:xfrm>
          <a:custGeom>
            <a:rect b="b" l="l" r="r" t="t"/>
            <a:pathLst>
              <a:path extrusionOk="0" h="533400" w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9A8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6"/>
          <p:cNvSpPr/>
          <p:nvPr/>
        </p:nvSpPr>
        <p:spPr>
          <a:xfrm>
            <a:off x="781050" y="3892153"/>
            <a:ext cx="228600" cy="228600"/>
          </a:xfrm>
          <a:custGeom>
            <a:rect b="b" l="l" r="r" t="t"/>
            <a:pathLst>
              <a:path extrusionOk="0" h="228600" w="228600">
                <a:moveTo>
                  <a:pt x="163949" y="184175"/>
                </a:moveTo>
                <a:lnTo>
                  <a:pt x="44425" y="64651"/>
                </a:lnTo>
                <a:cubicBezTo>
                  <a:pt x="34424" y="78671"/>
                  <a:pt x="28575" y="95816"/>
                  <a:pt x="28575" y="114300"/>
                </a:cubicBezTo>
                <a:cubicBezTo>
                  <a:pt x="28575" y="161627"/>
                  <a:pt x="66973" y="200025"/>
                  <a:pt x="114300" y="200025"/>
                </a:cubicBezTo>
                <a:cubicBezTo>
                  <a:pt x="132829" y="200025"/>
                  <a:pt x="149974" y="194176"/>
                  <a:pt x="163949" y="184175"/>
                </a:cubicBezTo>
                <a:close/>
                <a:moveTo>
                  <a:pt x="184175" y="163949"/>
                </a:moveTo>
                <a:cubicBezTo>
                  <a:pt x="194176" y="149929"/>
                  <a:pt x="200025" y="132784"/>
                  <a:pt x="200025" y="114300"/>
                </a:cubicBezTo>
                <a:cubicBezTo>
                  <a:pt x="200025" y="66973"/>
                  <a:pt x="161627" y="28575"/>
                  <a:pt x="114300" y="28575"/>
                </a:cubicBezTo>
                <a:cubicBezTo>
                  <a:pt x="95771" y="28575"/>
                  <a:pt x="78626" y="34424"/>
                  <a:pt x="64651" y="44425"/>
                </a:cubicBezTo>
                <a:lnTo>
                  <a:pt x="184175" y="163949"/>
                </a:ln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6"/>
          <p:cNvSpPr/>
          <p:nvPr/>
        </p:nvSpPr>
        <p:spPr>
          <a:xfrm>
            <a:off x="1314450" y="3854053"/>
            <a:ext cx="2162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Automated Blocking</a:t>
            </a:r>
            <a:endParaRPr b="0" i="0" sz="1600" u="none" cap="none" strike="noStrike"/>
          </a:p>
        </p:txBody>
      </p:sp>
      <p:sp>
        <p:nvSpPr>
          <p:cNvPr id="617" name="Google Shape;617;p16"/>
          <p:cNvSpPr/>
          <p:nvPr/>
        </p:nvSpPr>
        <p:spPr>
          <a:xfrm>
            <a:off x="628650" y="4425553"/>
            <a:ext cx="51911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Implementation of </a:t>
            </a:r>
            <a:r>
              <a:rPr b="1" i="0" lang="en-US" sz="13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automated blocking</a:t>
            </a: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at network boundaries based on real-time threat detection and correlation.</a:t>
            </a:r>
            <a:endParaRPr b="0" i="0" sz="1600" u="none" cap="none" strike="noStrike"/>
          </a:p>
        </p:txBody>
      </p:sp>
      <p:sp>
        <p:nvSpPr>
          <p:cNvPr id="618" name="Google Shape;618;p16"/>
          <p:cNvSpPr/>
          <p:nvPr/>
        </p:nvSpPr>
        <p:spPr>
          <a:xfrm>
            <a:off x="6219825" y="3501628"/>
            <a:ext cx="5581650" cy="1724025"/>
          </a:xfrm>
          <a:custGeom>
            <a:rect b="b" l="l" r="r" t="t"/>
            <a:pathLst>
              <a:path extrusionOk="0" h="1724025" w="5581650">
                <a:moveTo>
                  <a:pt x="76202" y="0"/>
                </a:moveTo>
                <a:lnTo>
                  <a:pt x="5505448" y="0"/>
                </a:lnTo>
                <a:cubicBezTo>
                  <a:pt x="5547533" y="0"/>
                  <a:pt x="5581650" y="34117"/>
                  <a:pt x="5581650" y="76202"/>
                </a:cubicBezTo>
                <a:lnTo>
                  <a:pt x="5581650" y="1647823"/>
                </a:lnTo>
                <a:cubicBezTo>
                  <a:pt x="5581650" y="1689908"/>
                  <a:pt x="5547533" y="1724025"/>
                  <a:pt x="5505448" y="1724025"/>
                </a:cubicBezTo>
                <a:lnTo>
                  <a:pt x="76202" y="1724025"/>
                </a:lnTo>
                <a:cubicBezTo>
                  <a:pt x="34117" y="1724025"/>
                  <a:pt x="0" y="1689908"/>
                  <a:pt x="0" y="16478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4A6D8C">
              <a:alpha val="20000"/>
            </a:srgbClr>
          </a:solidFill>
          <a:ln cap="flat" cmpd="sng" w="25400">
            <a:solidFill>
              <a:srgbClr val="4A6D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6"/>
          <p:cNvSpPr/>
          <p:nvPr/>
        </p:nvSpPr>
        <p:spPr>
          <a:xfrm>
            <a:off x="6457950" y="3739753"/>
            <a:ext cx="533400" cy="533400"/>
          </a:xfrm>
          <a:custGeom>
            <a:rect b="b" l="l" r="r" t="t"/>
            <a:pathLst>
              <a:path extrusionOk="0" h="533400" w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6"/>
          <p:cNvSpPr/>
          <p:nvPr/>
        </p:nvSpPr>
        <p:spPr>
          <a:xfrm>
            <a:off x="6610350" y="3892153"/>
            <a:ext cx="228600" cy="228600"/>
          </a:xfrm>
          <a:custGeom>
            <a:rect b="b" l="l" r="r" t="t"/>
            <a:pathLst>
              <a:path extrusionOk="0" h="228600" w="228600">
                <a:moveTo>
                  <a:pt x="177924" y="5447"/>
                </a:moveTo>
                <a:lnTo>
                  <a:pt x="138544" y="44827"/>
                </a:lnTo>
                <a:lnTo>
                  <a:pt x="183773" y="90056"/>
                </a:lnTo>
                <a:lnTo>
                  <a:pt x="223153" y="50676"/>
                </a:lnTo>
                <a:cubicBezTo>
                  <a:pt x="226635" y="47149"/>
                  <a:pt x="228600" y="42416"/>
                  <a:pt x="228600" y="37505"/>
                </a:cubicBezTo>
                <a:cubicBezTo>
                  <a:pt x="228600" y="32593"/>
                  <a:pt x="226635" y="27861"/>
                  <a:pt x="223153" y="24333"/>
                </a:cubicBezTo>
                <a:lnTo>
                  <a:pt x="204267" y="5447"/>
                </a:lnTo>
                <a:cubicBezTo>
                  <a:pt x="200739" y="1965"/>
                  <a:pt x="196007" y="0"/>
                  <a:pt x="191095" y="0"/>
                </a:cubicBezTo>
                <a:cubicBezTo>
                  <a:pt x="186184" y="0"/>
                  <a:pt x="181451" y="1965"/>
                  <a:pt x="177924" y="5447"/>
                </a:cubicBezTo>
                <a:close/>
                <a:moveTo>
                  <a:pt x="123408" y="59963"/>
                </a:moveTo>
                <a:lnTo>
                  <a:pt x="5447" y="177924"/>
                </a:lnTo>
                <a:cubicBezTo>
                  <a:pt x="1965" y="181451"/>
                  <a:pt x="0" y="186184"/>
                  <a:pt x="0" y="191095"/>
                </a:cubicBezTo>
                <a:cubicBezTo>
                  <a:pt x="0" y="196007"/>
                  <a:pt x="1965" y="200739"/>
                  <a:pt x="5447" y="204267"/>
                </a:cubicBezTo>
                <a:lnTo>
                  <a:pt x="24333" y="223153"/>
                </a:lnTo>
                <a:cubicBezTo>
                  <a:pt x="27861" y="226635"/>
                  <a:pt x="32593" y="228600"/>
                  <a:pt x="37505" y="228600"/>
                </a:cubicBezTo>
                <a:cubicBezTo>
                  <a:pt x="42416" y="228600"/>
                  <a:pt x="47149" y="226635"/>
                  <a:pt x="50676" y="223153"/>
                </a:cubicBezTo>
                <a:lnTo>
                  <a:pt x="168637" y="105192"/>
                </a:lnTo>
                <a:lnTo>
                  <a:pt x="123408" y="599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6"/>
          <p:cNvSpPr/>
          <p:nvPr/>
        </p:nvSpPr>
        <p:spPr>
          <a:xfrm>
            <a:off x="7143750" y="3854053"/>
            <a:ext cx="2190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ML-Based Detection</a:t>
            </a:r>
            <a:endParaRPr b="0" i="0" sz="1600" u="none" cap="none" strike="noStrike"/>
          </a:p>
        </p:txBody>
      </p:sp>
      <p:sp>
        <p:nvSpPr>
          <p:cNvPr id="622" name="Google Shape;622;p16"/>
          <p:cNvSpPr/>
          <p:nvPr/>
        </p:nvSpPr>
        <p:spPr>
          <a:xfrm>
            <a:off x="6457950" y="4425553"/>
            <a:ext cx="5191125" cy="561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Machine-learning-based </a:t>
            </a:r>
            <a:r>
              <a:rPr b="1" i="0" lang="en-US" sz="1350" u="none" cap="none" strike="noStrike">
                <a:solidFill>
                  <a:srgbClr val="C9A86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anomaly detection</a:t>
            </a: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complement signature-based IDS and identify zero-day threats.</a:t>
            </a:r>
            <a:endParaRPr b="0" i="0" sz="1600" u="none" cap="none" strike="noStrike"/>
          </a:p>
        </p:txBody>
      </p:sp>
      <p:sp>
        <p:nvSpPr>
          <p:cNvPr id="623" name="Google Shape;623;p16"/>
          <p:cNvSpPr/>
          <p:nvPr/>
        </p:nvSpPr>
        <p:spPr>
          <a:xfrm>
            <a:off x="390525" y="5544741"/>
            <a:ext cx="11410950" cy="1123950"/>
          </a:xfrm>
          <a:custGeom>
            <a:rect b="b" l="l" r="r" t="t"/>
            <a:pathLst>
              <a:path extrusionOk="0" h="1123950" w="11410950">
                <a:moveTo>
                  <a:pt x="76204" y="0"/>
                </a:moveTo>
                <a:lnTo>
                  <a:pt x="11334746" y="0"/>
                </a:lnTo>
                <a:cubicBezTo>
                  <a:pt x="11376832" y="0"/>
                  <a:pt x="11410950" y="34118"/>
                  <a:pt x="11410950" y="76204"/>
                </a:cubicBezTo>
                <a:lnTo>
                  <a:pt x="11410950" y="1047746"/>
                </a:lnTo>
                <a:cubicBezTo>
                  <a:pt x="11410950" y="1089832"/>
                  <a:pt x="11376832" y="1123950"/>
                  <a:pt x="11334746" y="1123950"/>
                </a:cubicBezTo>
                <a:lnTo>
                  <a:pt x="76204" y="1123950"/>
                </a:lnTo>
                <a:cubicBezTo>
                  <a:pt x="34118" y="1123950"/>
                  <a:pt x="0" y="1089832"/>
                  <a:pt x="0" y="10477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C9A86A">
              <a:alpha val="29803"/>
            </a:srgbClr>
          </a:solidFill>
          <a:ln cap="flat" cmpd="sng" w="25400">
            <a:solidFill>
              <a:srgbClr val="C9A8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6"/>
          <p:cNvSpPr/>
          <p:nvPr/>
        </p:nvSpPr>
        <p:spPr>
          <a:xfrm>
            <a:off x="571500" y="5782866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Continuous Evolution</a:t>
            </a:r>
            <a:endParaRPr b="0" i="0" sz="1600" u="none" cap="none" strike="noStrike"/>
          </a:p>
        </p:txBody>
      </p:sp>
      <p:sp>
        <p:nvSpPr>
          <p:cNvPr id="625" name="Google Shape;625;p16"/>
          <p:cNvSpPr/>
          <p:nvPr/>
        </p:nvSpPr>
        <p:spPr>
          <a:xfrm>
            <a:off x="585788" y="6163866"/>
            <a:ext cx="110204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architecture designed for growth, adaptation, and integration with emerging technologies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